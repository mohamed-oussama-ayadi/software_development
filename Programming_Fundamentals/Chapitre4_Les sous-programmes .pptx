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60" r:id="rId2"/>
    <p:sldId id="261" r:id="rId3"/>
    <p:sldId id="263" r:id="rId4"/>
    <p:sldId id="293" r:id="rId5"/>
    <p:sldId id="291" r:id="rId6"/>
    <p:sldId id="313" r:id="rId7"/>
    <p:sldId id="292" r:id="rId8"/>
    <p:sldId id="312" r:id="rId9"/>
    <p:sldId id="314" r:id="rId10"/>
    <p:sldId id="294" r:id="rId11"/>
    <p:sldId id="295" r:id="rId12"/>
    <p:sldId id="315" r:id="rId13"/>
    <p:sldId id="297" r:id="rId14"/>
    <p:sldId id="298" r:id="rId15"/>
    <p:sldId id="316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9" r:id="rId25"/>
    <p:sldId id="308" r:id="rId26"/>
    <p:sldId id="311" r:id="rId27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9847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2525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-375889"/>
              <a:satOff val="-9195"/>
              <a:lumOff val="-14901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left>
          <a:right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right>
          <a:top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top>
          <a:bottom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bottom>
          <a:insideH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insideH>
          <a:insideV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7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9C3BA"/>
              </a:solidFill>
              <a:prstDash val="solid"/>
              <a:miter lim="400000"/>
            </a:ln>
          </a:top>
          <a:bottom>
            <a:ln w="12700" cap="flat">
              <a:solidFill>
                <a:srgbClr val="C9C3BA"/>
              </a:solidFill>
              <a:prstDash val="solid"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39D60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2525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hueOff val="708446"/>
              <a:satOff val="-4821"/>
              <a:lumOff val="-14251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1">
              <a:hueOff val="-113918"/>
              <a:satOff val="19024"/>
              <a:lumOff val="19749"/>
              <a:alpha val="35000"/>
            </a:scheme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38AA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369196"/>
              <a:satOff val="13972"/>
              <a:lumOff val="-24493"/>
            </a:schemeClr>
          </a:solidFill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369194"/>
              <a:satOff val="6343"/>
              <a:lumOff val="-13963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solidFill>
                <a:srgbClr val="C9C3BA"/>
              </a:solidFill>
              <a:prstDash val="solid"/>
              <a:miter lim="400000"/>
            </a:ln>
          </a:left>
          <a:right>
            <a:ln w="12700" cap="flat">
              <a:solidFill>
                <a:srgbClr val="C9C3BA"/>
              </a:solidFill>
              <a:prstDash val="solid"/>
              <a:miter lim="400000"/>
            </a:ln>
          </a:right>
          <a:top>
            <a:ln w="12700" cap="flat">
              <a:solidFill>
                <a:srgbClr val="C9C3BA"/>
              </a:solidFill>
              <a:prstDash val="solid"/>
              <a:miter lim="400000"/>
            </a:ln>
          </a:top>
          <a:bottom>
            <a:ln w="12700" cap="flat">
              <a:solidFill>
                <a:srgbClr val="C9C3BA"/>
              </a:solidFill>
              <a:prstDash val="solid"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solidFill>
                <a:srgbClr val="C9C3B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6635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9847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3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89847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89847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9154" autoAdjust="0"/>
  </p:normalViewPr>
  <p:slideViewPr>
    <p:cSldViewPr snapToGrid="0" snapToObjects="1">
      <p:cViewPr>
        <p:scale>
          <a:sx n="60" d="100"/>
          <a:sy n="60" d="100"/>
        </p:scale>
        <p:origin x="-1368" y="-139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1" name="Shape 14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102484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bs.traduc.org/abs-5.3-fr/ch04s04.html#childre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abs.traduc.org/abs-5.3-fr/ch14.html#forkref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eurs.ens.fr/unix/shell/commande.html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2" name="Shape 18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Chaque script </a:t>
            </a:r>
            <a:r>
              <a:rPr lang="fr-FR" sz="2200" b="0" i="0" dirty="0" err="1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shelle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 en cours d'exécution est un sous-processus (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  <a:hlinkClick r:id="rId3" tooltip="Note"/>
              </a:rPr>
              <a:t>processus enfant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) du </a:t>
            </a:r>
            <a:r>
              <a:rPr lang="fr-FR" sz="2200" b="0" i="0" dirty="0" err="1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shell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parent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r>
              <a:rPr lang="fr-FR" sz="2200" b="0" i="0" dirty="0" err="1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shell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Un script </a:t>
            </a:r>
            <a:r>
              <a:rPr lang="fr-FR" sz="2200" b="0" i="0" dirty="0" err="1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shell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 peut lancer lui-même des sous-processus. Ces </a:t>
            </a:r>
            <a:r>
              <a:rPr lang="fr-FR" sz="2200" b="0" i="1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sous-</a:t>
            </a:r>
            <a:r>
              <a:rPr lang="fr-FR" sz="2200" b="0" i="1" dirty="0" err="1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shells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 permettent au script de faire de l'exécution en parallèle, donc d'exécuter différentes tâches simultanément.</a:t>
            </a:r>
          </a:p>
          <a:p>
            <a:endParaRPr lang="fr-FR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On économise une dizaine de lignes, on gagne en lisibilité, et les risques de bogues diminuent considérablement car s'il y a des corrections à apporter, c'est à un seul endroit du script, et non d'une façon disséminée sur l'ensemble du programme.</a:t>
            </a:r>
          </a:p>
          <a:p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Un détail de la fonction </a:t>
            </a:r>
            <a:r>
              <a:rPr lang="fr-FR" sz="2200" b="0" i="0" dirty="0" err="1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effacer_fichier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 peut vous étonner : nous utilisons l'argument $1. Comme vous le savez sans doute (sinon, lisez la page sur les </a:t>
            </a:r>
            <a:r>
              <a:rPr lang="fr-FR" sz="2200" b="0" i="0" u="none" strike="noStrike" dirty="0" smtClean="0">
                <a:effectLst/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commandes </a:t>
            </a:r>
            <a:r>
              <a:rPr lang="fr-FR" sz="2200" b="0" i="0" u="none" strike="noStrike" dirty="0" err="1" smtClean="0">
                <a:effectLst/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shell</a:t>
            </a:r>
            <a:r>
              <a:rPr lang="fr-FR" sz="2200" b="0" i="0" u="none" strike="noStrike" dirty="0" smtClean="0">
                <a:effectLst/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 et leurs arguments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), $1 désigne le premier argument passé à une commande ; or </a:t>
            </a:r>
            <a:r>
              <a:rPr lang="fr-FR" sz="2200" b="1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les fonctions peuvent recevoir des arguments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, exactement de la même façon que les commandes. C'est même tout à fait normal, car </a:t>
            </a:r>
            <a:r>
              <a:rPr lang="fr-FR" sz="2200" b="1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les fonctions sont en fait des commandes comme les autres, à ceci près qu'elles ne sont valables qu'à l'échelle d'un script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, et non à celle d'un système tout entier.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1742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Syntaxe : </a:t>
            </a:r>
            <a:r>
              <a:rPr lang="fr-FR" sz="2200" b="1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return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r>
              <a:rPr lang="fr-FR" sz="2200" b="0" i="1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[n]</a:t>
            </a:r>
            <a:endParaRPr lang="fr-FR" sz="2200" b="0" i="0" dirty="0" smtClean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  <a:p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La commande interne </a:t>
            </a:r>
            <a:r>
              <a:rPr lang="fr-FR" sz="2200" b="1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return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 permet de sortir d’une fonction avec comme code de retour la valeur </a:t>
            </a:r>
            <a:r>
              <a:rPr lang="fr-FR" sz="2200" b="0" i="1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 (</a:t>
            </a:r>
            <a:r>
              <a:rPr lang="fr-FR" sz="2200" b="1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 à </a:t>
            </a:r>
            <a:r>
              <a:rPr lang="fr-FR" sz="2200" b="1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255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). Celle-ci est mémorisée dans le paramètre spécial </a:t>
            </a:r>
            <a:r>
              <a:rPr lang="fr-FR" sz="2200" b="1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Si </a:t>
            </a:r>
            <a:r>
              <a:rPr lang="fr-FR" sz="2200" b="0" i="1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 n'est pas précisé, le code de retour fourni est celui de la dernière commande exécutée.</a:t>
            </a:r>
          </a:p>
          <a:p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Dans le programme </a:t>
            </a:r>
            <a:r>
              <a:rPr lang="fr-FR" sz="2200" b="0" i="0" dirty="0" err="1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shell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r>
              <a:rPr lang="fr-FR" sz="2200" b="0" i="1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return0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, la fonction </a:t>
            </a:r>
            <a:r>
              <a:rPr lang="fr-FR" sz="2200" b="0" i="1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 retourne le code de retour </a:t>
            </a:r>
            <a:r>
              <a:rPr lang="fr-FR" sz="2200" b="0" i="1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 au corps du programme </a:t>
            </a:r>
            <a:r>
              <a:rPr lang="fr-FR" sz="2200" b="0" i="0" dirty="0" err="1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shell</a:t>
            </a:r>
            <a:r>
              <a:rPr lang="fr-FR" sz="2200" b="0" i="0" dirty="0" smtClean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1105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gne"/>
          <p:cNvSpPr/>
          <p:nvPr/>
        </p:nvSpPr>
        <p:spPr>
          <a:xfrm>
            <a:off x="508000" y="6591300"/>
            <a:ext cx="11999453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4" name="Ligne"/>
          <p:cNvSpPr/>
          <p:nvPr/>
        </p:nvSpPr>
        <p:spPr>
          <a:xfrm>
            <a:off x="508000" y="4089400"/>
            <a:ext cx="12000019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" name="Lorem Ipsum Dolor"/>
          <p:cNvSpPr txBox="1">
            <a:spLocks noGrp="1"/>
          </p:cNvSpPr>
          <p:nvPr>
            <p:ph type="body" sz="quarter" idx="21"/>
          </p:nvPr>
        </p:nvSpPr>
        <p:spPr>
          <a:xfrm>
            <a:off x="508000" y="3505200"/>
            <a:ext cx="7200900" cy="508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sz="2400" i="1"/>
            </a:lvl1pPr>
          </a:lstStyle>
          <a:p>
            <a:r>
              <a:t>Lorem Ipsum Dolor</a:t>
            </a:r>
          </a:p>
        </p:txBody>
      </p:sp>
      <p:sp>
        <p:nvSpPr>
          <p:cNvPr id="16" name="Texte du titre"/>
          <p:cNvSpPr txBox="1">
            <a:spLocks noGrp="1"/>
          </p:cNvSpPr>
          <p:nvPr>
            <p:ph type="title"/>
          </p:nvPr>
        </p:nvSpPr>
        <p:spPr>
          <a:xfrm>
            <a:off x="508000" y="4140200"/>
            <a:ext cx="7200900" cy="2413000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Texte du titre</a:t>
            </a:r>
          </a:p>
        </p:txBody>
      </p:sp>
      <p:sp>
        <p:nvSpPr>
          <p:cNvPr id="17" name="Texte niveau 1…"/>
          <p:cNvSpPr txBox="1">
            <a:spLocks noGrp="1"/>
          </p:cNvSpPr>
          <p:nvPr>
            <p:ph type="body" sz="quarter" idx="1"/>
          </p:nvPr>
        </p:nvSpPr>
        <p:spPr>
          <a:xfrm>
            <a:off x="8280400" y="4140200"/>
            <a:ext cx="4241800" cy="241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2400"/>
            </a:lvl1pPr>
            <a:lvl2pPr marL="0" indent="228600">
              <a:spcBef>
                <a:spcPts val="0"/>
              </a:spcBef>
              <a:buClrTx/>
              <a:buSzTx/>
              <a:buFontTx/>
              <a:buNone/>
              <a:defRPr sz="2400"/>
            </a:lvl2pPr>
            <a:lvl3pPr marL="0" indent="457200">
              <a:spcBef>
                <a:spcPts val="0"/>
              </a:spcBef>
              <a:buClrTx/>
              <a:buSzTx/>
              <a:buFontTx/>
              <a:buNone/>
              <a:defRPr sz="2400"/>
            </a:lvl3pPr>
            <a:lvl4pPr marL="0" indent="685800">
              <a:spcBef>
                <a:spcPts val="0"/>
              </a:spcBef>
              <a:buClrTx/>
              <a:buSzTx/>
              <a:buFontTx/>
              <a:buNone/>
              <a:defRPr sz="2400"/>
            </a:lvl4pPr>
            <a:lvl5pPr marL="0" indent="914400">
              <a:spcBef>
                <a:spcPts val="0"/>
              </a:spcBef>
              <a:buClrTx/>
              <a:buSzTx/>
              <a:buFontTx/>
              <a:buNone/>
              <a:defRPr sz="24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8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gne"/>
          <p:cNvSpPr/>
          <p:nvPr/>
        </p:nvSpPr>
        <p:spPr>
          <a:xfrm flipV="1">
            <a:off x="7994302" y="7053555"/>
            <a:ext cx="1" cy="1642759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6" name="Ligne"/>
          <p:cNvSpPr/>
          <p:nvPr/>
        </p:nvSpPr>
        <p:spPr>
          <a:xfrm>
            <a:off x="508000" y="9131300"/>
            <a:ext cx="11999453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7" name="Ligne"/>
          <p:cNvSpPr/>
          <p:nvPr/>
        </p:nvSpPr>
        <p:spPr>
          <a:xfrm>
            <a:off x="508000" y="6629400"/>
            <a:ext cx="12000019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8" name="Ligne"/>
          <p:cNvSpPr/>
          <p:nvPr/>
        </p:nvSpPr>
        <p:spPr>
          <a:xfrm flipV="1">
            <a:off x="7994302" y="7053555"/>
            <a:ext cx="1" cy="1642759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9" name="Lorem Ipsum Dolor"/>
          <p:cNvSpPr txBox="1">
            <a:spLocks noGrp="1"/>
          </p:cNvSpPr>
          <p:nvPr>
            <p:ph type="body" sz="quarter" idx="21"/>
          </p:nvPr>
        </p:nvSpPr>
        <p:spPr>
          <a:xfrm>
            <a:off x="508000" y="6096000"/>
            <a:ext cx="7200900" cy="508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sz="2400" i="1"/>
            </a:lvl1pPr>
          </a:lstStyle>
          <a:p>
            <a:r>
              <a:t>Lorem Ipsum Dolor</a:t>
            </a:r>
          </a:p>
        </p:txBody>
      </p:sp>
      <p:sp>
        <p:nvSpPr>
          <p:cNvPr id="30" name="Image"/>
          <p:cNvSpPr>
            <a:spLocks noGrp="1"/>
          </p:cNvSpPr>
          <p:nvPr>
            <p:ph type="pic" idx="22"/>
          </p:nvPr>
        </p:nvSpPr>
        <p:spPr>
          <a:xfrm>
            <a:off x="584200" y="558800"/>
            <a:ext cx="11823700" cy="70866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1" name="Texte du titre"/>
          <p:cNvSpPr txBox="1">
            <a:spLocks noGrp="1"/>
          </p:cNvSpPr>
          <p:nvPr>
            <p:ph type="title"/>
          </p:nvPr>
        </p:nvSpPr>
        <p:spPr>
          <a:xfrm>
            <a:off x="508000" y="6680200"/>
            <a:ext cx="7200900" cy="2413000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Texte du titre</a:t>
            </a:r>
          </a:p>
        </p:txBody>
      </p:sp>
      <p:sp>
        <p:nvSpPr>
          <p:cNvPr id="32" name="Texte niveau 1…"/>
          <p:cNvSpPr txBox="1">
            <a:spLocks noGrp="1"/>
          </p:cNvSpPr>
          <p:nvPr>
            <p:ph type="body" sz="quarter" idx="1"/>
          </p:nvPr>
        </p:nvSpPr>
        <p:spPr>
          <a:xfrm>
            <a:off x="8280400" y="6680200"/>
            <a:ext cx="4241800" cy="241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2400"/>
            </a:lvl1pPr>
            <a:lvl2pPr marL="0" indent="228600">
              <a:spcBef>
                <a:spcPts val="0"/>
              </a:spcBef>
              <a:buClrTx/>
              <a:buSzTx/>
              <a:buFontTx/>
              <a:buNone/>
              <a:defRPr sz="2400"/>
            </a:lvl2pPr>
            <a:lvl3pPr marL="0" indent="457200">
              <a:spcBef>
                <a:spcPts val="0"/>
              </a:spcBef>
              <a:buClrTx/>
              <a:buSzTx/>
              <a:buFontTx/>
              <a:buNone/>
              <a:defRPr sz="2400"/>
            </a:lvl3pPr>
            <a:lvl4pPr marL="0" indent="685800">
              <a:spcBef>
                <a:spcPts val="0"/>
              </a:spcBef>
              <a:buClrTx/>
              <a:buSzTx/>
              <a:buFontTx/>
              <a:buNone/>
              <a:defRPr sz="2400"/>
            </a:lvl4pPr>
            <a:lvl5pPr marL="0" indent="914400">
              <a:spcBef>
                <a:spcPts val="0"/>
              </a:spcBef>
              <a:buClrTx/>
              <a:buSzTx/>
              <a:buFontTx/>
              <a:buNone/>
              <a:defRPr sz="24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3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Ligne"/>
          <p:cNvSpPr/>
          <p:nvPr/>
        </p:nvSpPr>
        <p:spPr>
          <a:xfrm>
            <a:off x="508000" y="4876800"/>
            <a:ext cx="5676374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9" name="Ligne"/>
          <p:cNvSpPr/>
          <p:nvPr/>
        </p:nvSpPr>
        <p:spPr>
          <a:xfrm>
            <a:off x="508000" y="2768600"/>
            <a:ext cx="5676316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0" name="Lorem Ipsum Dolor"/>
          <p:cNvSpPr txBox="1">
            <a:spLocks noGrp="1"/>
          </p:cNvSpPr>
          <p:nvPr>
            <p:ph type="body" sz="quarter" idx="21"/>
          </p:nvPr>
        </p:nvSpPr>
        <p:spPr>
          <a:xfrm>
            <a:off x="508000" y="2171700"/>
            <a:ext cx="5676900" cy="508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sz="2400" i="1"/>
            </a:lvl1pPr>
          </a:lstStyle>
          <a:p>
            <a:r>
              <a:t>Lorem Ipsum Dolor</a:t>
            </a:r>
          </a:p>
        </p:txBody>
      </p:sp>
      <p:sp>
        <p:nvSpPr>
          <p:cNvPr id="51" name="Image"/>
          <p:cNvSpPr>
            <a:spLocks noGrp="1"/>
          </p:cNvSpPr>
          <p:nvPr>
            <p:ph type="pic" sz="half" idx="22"/>
          </p:nvPr>
        </p:nvSpPr>
        <p:spPr>
          <a:xfrm>
            <a:off x="6704698" y="590550"/>
            <a:ext cx="5806884" cy="85090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52" name="Texte du titre"/>
          <p:cNvSpPr txBox="1">
            <a:spLocks noGrp="1"/>
          </p:cNvSpPr>
          <p:nvPr>
            <p:ph type="title"/>
          </p:nvPr>
        </p:nvSpPr>
        <p:spPr>
          <a:xfrm>
            <a:off x="508000" y="2806700"/>
            <a:ext cx="5676900" cy="2032000"/>
          </a:xfrm>
          <a:prstGeom prst="rect">
            <a:avLst/>
          </a:prstGeom>
        </p:spPr>
        <p:txBody>
          <a:bodyPr/>
          <a:lstStyle>
            <a:lvl1pPr algn="l">
              <a:defRPr sz="4100">
                <a:solidFill>
                  <a:srgbClr val="008F00"/>
                </a:solidFill>
              </a:defRPr>
            </a:lvl1pPr>
          </a:lstStyle>
          <a:p>
            <a:r>
              <a:t>Texte du titre</a:t>
            </a:r>
          </a:p>
        </p:txBody>
      </p:sp>
      <p:sp>
        <p:nvSpPr>
          <p:cNvPr id="53" name="Texte niveau 1…"/>
          <p:cNvSpPr txBox="1">
            <a:spLocks noGrp="1"/>
          </p:cNvSpPr>
          <p:nvPr>
            <p:ph type="body" sz="quarter" idx="1"/>
          </p:nvPr>
        </p:nvSpPr>
        <p:spPr>
          <a:xfrm>
            <a:off x="508000" y="5029200"/>
            <a:ext cx="5676900" cy="40132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2400"/>
            </a:lvl1pPr>
            <a:lvl2pPr marL="0" indent="228600">
              <a:spcBef>
                <a:spcPts val="0"/>
              </a:spcBef>
              <a:buClrTx/>
              <a:buSzTx/>
              <a:buFontTx/>
              <a:buNone/>
              <a:defRPr sz="2400"/>
            </a:lvl2pPr>
            <a:lvl3pPr marL="0" indent="457200">
              <a:spcBef>
                <a:spcPts val="0"/>
              </a:spcBef>
              <a:buClrTx/>
              <a:buSzTx/>
              <a:buFontTx/>
              <a:buNone/>
              <a:defRPr sz="2400"/>
            </a:lvl3pPr>
            <a:lvl4pPr marL="0" indent="685800">
              <a:spcBef>
                <a:spcPts val="0"/>
              </a:spcBef>
              <a:buClrTx/>
              <a:buSzTx/>
              <a:buFontTx/>
              <a:buNone/>
              <a:defRPr sz="2400"/>
            </a:lvl4pPr>
            <a:lvl5pPr marL="0" indent="914400">
              <a:spcBef>
                <a:spcPts val="0"/>
              </a:spcBef>
              <a:buClrTx/>
              <a:buSzTx/>
              <a:buFontTx/>
              <a:buNone/>
              <a:defRPr sz="24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54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- Ha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e du tit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62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et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e du titre"/>
          <p:cNvSpPr txBox="1">
            <a:spLocks noGrp="1"/>
          </p:cNvSpPr>
          <p:nvPr>
            <p:ph type="title"/>
          </p:nvPr>
        </p:nvSpPr>
        <p:spPr>
          <a:xfrm>
            <a:off x="508000" y="800100"/>
            <a:ext cx="11988800" cy="1219200"/>
          </a:xfrm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70" name="Texte niveau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1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, puces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Image"/>
          <p:cNvSpPr>
            <a:spLocks noGrp="1"/>
          </p:cNvSpPr>
          <p:nvPr>
            <p:ph type="pic" sz="half" idx="21"/>
          </p:nvPr>
        </p:nvSpPr>
        <p:spPr>
          <a:xfrm>
            <a:off x="6819900" y="1739900"/>
            <a:ext cx="5575300" cy="8169655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79" name="Texte du titre"/>
          <p:cNvSpPr txBox="1">
            <a:spLocks noGrp="1"/>
          </p:cNvSpPr>
          <p:nvPr>
            <p:ph type="title"/>
          </p:nvPr>
        </p:nvSpPr>
        <p:spPr>
          <a:xfrm>
            <a:off x="508000" y="800100"/>
            <a:ext cx="11988800" cy="1219200"/>
          </a:xfrm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80" name="Texte niveau 1…"/>
          <p:cNvSpPr txBox="1">
            <a:spLocks noGrp="1"/>
          </p:cNvSpPr>
          <p:nvPr>
            <p:ph type="body" sz="half" idx="1"/>
          </p:nvPr>
        </p:nvSpPr>
        <p:spPr>
          <a:xfrm>
            <a:off x="508000" y="2730500"/>
            <a:ext cx="5816600" cy="6350000"/>
          </a:xfrm>
          <a:prstGeom prst="rect">
            <a:avLst/>
          </a:prstGeom>
        </p:spPr>
        <p:txBody>
          <a:bodyPr/>
          <a:lstStyle>
            <a:lvl1pPr marL="393700" indent="-393700">
              <a:spcBef>
                <a:spcPts val="1800"/>
              </a:spcBef>
              <a:buSzPct val="65000"/>
              <a:defRPr sz="3000"/>
            </a:lvl1pPr>
            <a:lvl2pPr marL="787400" indent="-393700">
              <a:spcBef>
                <a:spcPts val="1800"/>
              </a:spcBef>
              <a:buSzPct val="65000"/>
              <a:defRPr sz="3000"/>
            </a:lvl2pPr>
            <a:lvl3pPr marL="1181100" indent="-393700">
              <a:spcBef>
                <a:spcPts val="1800"/>
              </a:spcBef>
              <a:buSzPct val="65000"/>
              <a:defRPr sz="3000"/>
            </a:lvl3pPr>
            <a:lvl4pPr marL="1574800" indent="-393700">
              <a:spcBef>
                <a:spcPts val="1800"/>
              </a:spcBef>
              <a:buSzPct val="65000"/>
              <a:defRPr sz="3000"/>
            </a:lvl4pPr>
            <a:lvl5pPr marL="1968500" indent="-393700">
              <a:spcBef>
                <a:spcPts val="1800"/>
              </a:spcBef>
              <a:buSzPct val="65000"/>
              <a:defRPr sz="30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81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e niveau 1…"/>
          <p:cNvSpPr txBox="1">
            <a:spLocks noGrp="1"/>
          </p:cNvSpPr>
          <p:nvPr>
            <p:ph type="body" idx="1"/>
          </p:nvPr>
        </p:nvSpPr>
        <p:spPr>
          <a:xfrm>
            <a:off x="508000" y="1270000"/>
            <a:ext cx="11988800" cy="7213600"/>
          </a:xfrm>
          <a:prstGeom prst="rect">
            <a:avLst/>
          </a:prstGeom>
        </p:spPr>
        <p:txBody>
          <a:bodyPr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89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 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Image"/>
          <p:cNvSpPr>
            <a:spLocks noGrp="1"/>
          </p:cNvSpPr>
          <p:nvPr>
            <p:ph type="pic" sz="half" idx="21"/>
          </p:nvPr>
        </p:nvSpPr>
        <p:spPr>
          <a:xfrm>
            <a:off x="6260986" y="4406900"/>
            <a:ext cx="6697779" cy="47117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7" name="Image"/>
          <p:cNvSpPr>
            <a:spLocks noGrp="1"/>
          </p:cNvSpPr>
          <p:nvPr>
            <p:ph type="pic" sz="quarter" idx="22"/>
          </p:nvPr>
        </p:nvSpPr>
        <p:spPr>
          <a:xfrm>
            <a:off x="6680200" y="635000"/>
            <a:ext cx="5829301" cy="35179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8" name="Image"/>
          <p:cNvSpPr>
            <a:spLocks noGrp="1"/>
          </p:cNvSpPr>
          <p:nvPr>
            <p:ph type="pic" sz="half" idx="23"/>
          </p:nvPr>
        </p:nvSpPr>
        <p:spPr>
          <a:xfrm>
            <a:off x="482600" y="609600"/>
            <a:ext cx="5728881" cy="83947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9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-Gilles Allain"/>
          <p:cNvSpPr txBox="1">
            <a:spLocks noGrp="1"/>
          </p:cNvSpPr>
          <p:nvPr>
            <p:ph type="body" sz="quarter" idx="21"/>
          </p:nvPr>
        </p:nvSpPr>
        <p:spPr>
          <a:xfrm>
            <a:off x="533400" y="5969000"/>
            <a:ext cx="11938000" cy="6096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1200"/>
              </a:spcBef>
              <a:buClrTx/>
              <a:buSzTx/>
              <a:buFontTx/>
              <a:buNone/>
              <a:defRPr sz="3000" i="1"/>
            </a:lvl1pPr>
          </a:lstStyle>
          <a:p>
            <a:r>
              <a:t>-Gilles Allain</a:t>
            </a:r>
          </a:p>
        </p:txBody>
      </p:sp>
      <p:sp>
        <p:nvSpPr>
          <p:cNvPr id="107" name="« Saisissez une citation ici. »"/>
          <p:cNvSpPr txBox="1">
            <a:spLocks noGrp="1"/>
          </p:cNvSpPr>
          <p:nvPr>
            <p:ph type="body" sz="quarter" idx="22"/>
          </p:nvPr>
        </p:nvSpPr>
        <p:spPr>
          <a:xfrm>
            <a:off x="1270000" y="4254500"/>
            <a:ext cx="10464800" cy="7112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</a:lvl1pPr>
          </a:lstStyle>
          <a:p>
            <a:r>
              <a:t>« Saisissez une citation ici. » </a:t>
            </a:r>
          </a:p>
        </p:txBody>
      </p:sp>
      <p:sp>
        <p:nvSpPr>
          <p:cNvPr id="108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Image"/>
          <p:cNvSpPr>
            <a:spLocks noGrp="1"/>
          </p:cNvSpPr>
          <p:nvPr>
            <p:ph type="pic" idx="21"/>
          </p:nvPr>
        </p:nvSpPr>
        <p:spPr>
          <a:xfrm>
            <a:off x="-901700" y="-127000"/>
            <a:ext cx="14211300" cy="999725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16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re et puces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Ligne"/>
          <p:cNvSpPr/>
          <p:nvPr/>
        </p:nvSpPr>
        <p:spPr>
          <a:xfrm>
            <a:off x="2006599" y="2847974"/>
            <a:ext cx="8997971" cy="1"/>
          </a:xfrm>
          <a:prstGeom prst="line">
            <a:avLst/>
          </a:prstGeom>
          <a:ln w="3175">
            <a:solidFill>
              <a:srgbClr val="444444">
                <a:alpha val="30000"/>
              </a:srgbClr>
            </a:solidFill>
            <a:miter lim="400000"/>
          </a:ln>
        </p:spPr>
        <p:txBody>
          <a:bodyPr lIns="38100" tIns="38100" rIns="38100" bIns="38100" anchor="ctr"/>
          <a:lstStyle/>
          <a:p>
            <a:pPr algn="l" defTabSz="457200">
              <a:defRPr sz="11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1" name="Ligne"/>
          <p:cNvSpPr/>
          <p:nvPr/>
        </p:nvSpPr>
        <p:spPr>
          <a:xfrm>
            <a:off x="2006599" y="1695449"/>
            <a:ext cx="8997971" cy="1"/>
          </a:xfrm>
          <a:prstGeom prst="line">
            <a:avLst/>
          </a:prstGeom>
          <a:ln w="3175">
            <a:solidFill>
              <a:srgbClr val="444444">
                <a:alpha val="30000"/>
              </a:srgbClr>
            </a:solidFill>
            <a:miter lim="400000"/>
          </a:ln>
        </p:spPr>
        <p:txBody>
          <a:bodyPr lIns="38100" tIns="38100" rIns="38100" bIns="38100" anchor="ctr"/>
          <a:lstStyle/>
          <a:p>
            <a:pPr algn="l" defTabSz="457200">
              <a:defRPr sz="11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2" name="Texte du titre"/>
          <p:cNvSpPr txBox="1">
            <a:spLocks noGrp="1"/>
          </p:cNvSpPr>
          <p:nvPr>
            <p:ph type="title"/>
          </p:nvPr>
        </p:nvSpPr>
        <p:spPr>
          <a:xfrm>
            <a:off x="2006599" y="1819274"/>
            <a:ext cx="8991602" cy="914401"/>
          </a:xfrm>
          <a:prstGeom prst="rect">
            <a:avLst/>
          </a:prstGeom>
        </p:spPr>
        <p:txBody>
          <a:bodyPr lIns="38100" tIns="38100" rIns="38100" bIns="38100"/>
          <a:lstStyle>
            <a:lvl1pPr>
              <a:defRPr sz="6800"/>
            </a:lvl1pPr>
          </a:lstStyle>
          <a:p>
            <a:r>
              <a:t>Texte du titre</a:t>
            </a:r>
          </a:p>
        </p:txBody>
      </p:sp>
      <p:sp>
        <p:nvSpPr>
          <p:cNvPr id="133" name="Texte niveau 1…"/>
          <p:cNvSpPr txBox="1">
            <a:spLocks noGrp="1"/>
          </p:cNvSpPr>
          <p:nvPr>
            <p:ph type="body" sz="half" idx="1"/>
          </p:nvPr>
        </p:nvSpPr>
        <p:spPr>
          <a:xfrm>
            <a:off x="2006599" y="3190875"/>
            <a:ext cx="8991602" cy="4572001"/>
          </a:xfrm>
          <a:prstGeom prst="rect">
            <a:avLst/>
          </a:prstGeom>
        </p:spPr>
        <p:txBody>
          <a:bodyPr lIns="38100" tIns="38100" rIns="38100" bIns="38100"/>
          <a:lstStyle>
            <a:lvl1pPr marL="443794" indent="-443794">
              <a:defRPr sz="3400"/>
            </a:lvl1pPr>
            <a:lvl2pPr marL="913694" indent="-443794">
              <a:defRPr sz="3400"/>
            </a:lvl2pPr>
            <a:lvl3pPr marL="1383594" indent="-443794">
              <a:defRPr sz="3400"/>
            </a:lvl3pPr>
            <a:lvl4pPr marL="1853494" indent="-443794">
              <a:defRPr sz="3400"/>
            </a:lvl4pPr>
            <a:lvl5pPr marL="2323394" indent="-443794">
              <a:defRPr sz="34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34" name="Numéro de diapositive"/>
          <p:cNvSpPr txBox="1">
            <a:spLocks noGrp="1"/>
          </p:cNvSpPr>
          <p:nvPr>
            <p:ph type="sldNum" sz="quarter" idx="2"/>
          </p:nvPr>
        </p:nvSpPr>
        <p:spPr>
          <a:xfrm>
            <a:off x="6351587" y="8162925"/>
            <a:ext cx="292101" cy="330200"/>
          </a:xfrm>
          <a:prstGeom prst="rect">
            <a:avLst/>
          </a:prstGeom>
        </p:spPr>
        <p:txBody>
          <a:bodyPr lIns="38100" tIns="38100" rIns="38100" bIns="38100"/>
          <a:lstStyle>
            <a:lvl1pPr>
              <a:defRPr sz="1600"/>
            </a:lvl1pPr>
          </a:lstStyle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gne"/>
          <p:cNvSpPr/>
          <p:nvPr/>
        </p:nvSpPr>
        <p:spPr>
          <a:xfrm>
            <a:off x="508000" y="2171700"/>
            <a:ext cx="1199729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Ligne"/>
          <p:cNvSpPr/>
          <p:nvPr/>
        </p:nvSpPr>
        <p:spPr>
          <a:xfrm>
            <a:off x="508000" y="635000"/>
            <a:ext cx="1199729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" name="Texte du titre"/>
          <p:cNvSpPr txBox="1">
            <a:spLocks noGrp="1"/>
          </p:cNvSpPr>
          <p:nvPr>
            <p:ph type="title"/>
          </p:nvPr>
        </p:nvSpPr>
        <p:spPr>
          <a:xfrm>
            <a:off x="508000" y="3276600"/>
            <a:ext cx="11988800" cy="121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Texte du titre</a:t>
            </a:r>
          </a:p>
        </p:txBody>
      </p:sp>
      <p:sp>
        <p:nvSpPr>
          <p:cNvPr id="5" name="Texte niveau 1…"/>
          <p:cNvSpPr txBox="1">
            <a:spLocks noGrp="1"/>
          </p:cNvSpPr>
          <p:nvPr>
            <p:ph type="body" idx="1"/>
          </p:nvPr>
        </p:nvSpPr>
        <p:spPr>
          <a:xfrm>
            <a:off x="508000" y="2628900"/>
            <a:ext cx="11988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6" name="Numéro de diapositive"/>
          <p:cNvSpPr txBox="1">
            <a:spLocks noGrp="1"/>
          </p:cNvSpPr>
          <p:nvPr>
            <p:ph type="sldNum" sz="quarter" idx="2"/>
          </p:nvPr>
        </p:nvSpPr>
        <p:spPr>
          <a:xfrm>
            <a:off x="6324599" y="9258300"/>
            <a:ext cx="342901" cy="4064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>
                <a:solidFill>
                  <a:srgbClr val="4C4946"/>
                </a:solidFill>
              </a:defRPr>
            </a:lvl1pPr>
          </a:lstStyle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ransition spd="med"/>
  <p:txStyles>
    <p:titleStyle>
      <a:lvl1pPr marL="0" marR="0" indent="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1pPr>
      <a:lvl2pPr marL="0" marR="0" indent="2286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2pPr>
      <a:lvl3pPr marL="0" marR="0" indent="4572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3pPr>
      <a:lvl4pPr marL="0" marR="0" indent="6858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4pPr>
      <a:lvl5pPr marL="0" marR="0" indent="9144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5pPr>
      <a:lvl6pPr marL="0" marR="0" indent="11430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6pPr>
      <a:lvl7pPr marL="0" marR="0" indent="13716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7pPr>
      <a:lvl8pPr marL="0" marR="0" indent="16002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8pPr>
      <a:lvl9pPr marL="0" marR="0" indent="18288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9pPr>
    </p:titleStyle>
    <p:bodyStyle>
      <a:lvl1pPr marL="4699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1pPr>
      <a:lvl2pPr marL="9398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2pPr>
      <a:lvl3pPr marL="14097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3pPr>
      <a:lvl4pPr marL="18796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4pPr>
      <a:lvl5pPr marL="23495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5pPr>
      <a:lvl6pPr marL="28194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6pPr>
      <a:lvl7pPr marL="32893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7pPr>
      <a:lvl8pPr marL="37592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8pPr>
      <a:lvl9pPr marL="42291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bs.traduc.org/abs-5.3-fr/ch23s02.html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ystème &amp; Scripting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Système &amp; Scripting</a:t>
            </a:r>
          </a:p>
        </p:txBody>
      </p:sp>
      <p:sp>
        <p:nvSpPr>
          <p:cNvPr id="159" name="Chapitre I : Introduction &amp; Commandes de base"/>
          <p:cNvSpPr txBox="1">
            <a:spLocks noGrp="1"/>
          </p:cNvSpPr>
          <p:nvPr>
            <p:ph type="ctrTitle"/>
          </p:nvPr>
        </p:nvSpPr>
        <p:spPr>
          <a:xfrm>
            <a:off x="508000" y="4140200"/>
            <a:ext cx="11845075" cy="24130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/>
          </a:lstStyle>
          <a:p>
            <a:r>
              <a:rPr/>
              <a:t>Chapitre </a:t>
            </a:r>
            <a:r>
              <a:rPr lang="fr-FR" dirty="0" smtClean="0"/>
              <a:t>IV</a:t>
            </a:r>
            <a:r>
              <a:rPr smtClean="0"/>
              <a:t> </a:t>
            </a:r>
            <a:r>
              <a:rPr/>
              <a:t>: 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Les sous-programmes et les arguments</a:t>
            </a: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Plan</a:t>
            </a:r>
          </a:p>
        </p:txBody>
      </p:sp>
      <p:sp>
        <p:nvSpPr>
          <p:cNvPr id="162" name="Shell : Définition &amp; Rôle…"/>
          <p:cNvSpPr txBox="1">
            <a:spLocks noGrp="1"/>
          </p:cNvSpPr>
          <p:nvPr>
            <p:ph type="body" idx="1"/>
          </p:nvPr>
        </p:nvSpPr>
        <p:spPr>
          <a:xfrm>
            <a:off x="508000" y="2628900"/>
            <a:ext cx="11988800" cy="649637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fr-FR" dirty="0" smtClean="0"/>
              <a:t>Sous-</a:t>
            </a:r>
            <a:r>
              <a:rPr lang="fr-FR" dirty="0" err="1" smtClean="0"/>
              <a:t>shells</a:t>
            </a:r>
            <a:endParaRPr lang="fr-FR" dirty="0" smtClean="0"/>
          </a:p>
          <a:p>
            <a:pPr marL="514350" lvl="0" indent="-514350">
              <a:buSzPct val="74000"/>
              <a:buFont typeface="+mj-lt"/>
              <a:buAutoNum type="arabicPeriod"/>
            </a:pPr>
            <a:r>
              <a:rPr lang="fr-FR" dirty="0" smtClean="0"/>
              <a:t>Sous-programme sous forme de fonction</a:t>
            </a:r>
          </a:p>
          <a:p>
            <a:pPr marL="514350" lvl="0" indent="-514350">
              <a:buSzPct val="74000"/>
              <a:buFont typeface="+mj-lt"/>
              <a:buAutoNum type="arabicPeriod"/>
            </a:pPr>
            <a:r>
              <a:rPr lang="fr-FR" dirty="0" smtClean="0"/>
              <a:t>Les instructions exit et return. </a:t>
            </a:r>
          </a:p>
          <a:p>
            <a:pPr marL="514350" lvl="0" indent="-514350">
              <a:buSzPct val="74000"/>
              <a:buFont typeface="+mj-lt"/>
              <a:buAutoNum type="arabicPeriod"/>
            </a:pPr>
            <a:r>
              <a:rPr lang="fr-FR" dirty="0" smtClean="0"/>
              <a:t>Appel de fonctions</a:t>
            </a:r>
          </a:p>
          <a:p>
            <a:pPr marL="514350" lvl="0" indent="-514350">
              <a:buSzPct val="74000"/>
              <a:buFont typeface="+mj-lt"/>
              <a:buAutoNum type="arabicPeriod"/>
            </a:pPr>
            <a:r>
              <a:rPr lang="fr-FR" dirty="0" smtClean="0"/>
              <a:t>Gestion des menus avec Select</a:t>
            </a:r>
          </a:p>
          <a:p>
            <a:pPr marL="514350" indent="-514350">
              <a:buSzPct val="74000"/>
              <a:buFont typeface="+mj-lt"/>
              <a:buAutoNum type="arabicPeriod"/>
            </a:pPr>
            <a:r>
              <a:rPr lang="fr-FR" dirty="0" smtClean="0"/>
              <a:t>Récupération des arguments avec </a:t>
            </a:r>
            <a:r>
              <a:rPr lang="fr-FR" dirty="0" err="1" smtClean="0"/>
              <a:t>getopts</a:t>
            </a:r>
            <a:endParaRPr lang="fr-FR" dirty="0" smtClean="0"/>
          </a:p>
          <a:p>
            <a:pPr marL="514350" lvl="0" indent="-514350">
              <a:buSzPct val="74000"/>
              <a:buFont typeface="+mj-lt"/>
              <a:buAutoNum type="arabicPeriod"/>
            </a:pPr>
            <a:endParaRPr lang="fr-FR" dirty="0" smtClean="0"/>
          </a:p>
          <a:p>
            <a:pPr marL="521716" indent="-521716" defTabSz="461518">
              <a:spcBef>
                <a:spcPts val="1800"/>
              </a:spcBef>
              <a:buClrTx/>
              <a:buSzPct val="100000"/>
              <a:buNone/>
              <a:defRPr sz="2844"/>
            </a:pPr>
            <a:r>
              <a:rPr smtClean="0"/>
              <a:t/>
            </a:r>
            <a:br>
              <a:rPr smtClean="0"/>
            </a:b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Unix Vs Linux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Sous-</a:t>
            </a:r>
            <a:r>
              <a:rPr lang="fr-FR" dirty="0" err="1" smtClean="0"/>
              <a:t>shells</a:t>
            </a:r>
            <a:r>
              <a:rPr lang="fr-FR" dirty="0" smtClean="0"/>
              <a:t/>
            </a:r>
            <a:br>
              <a:rPr lang="fr-FR" dirty="0" smtClean="0"/>
            </a:br>
            <a:endParaRPr/>
          </a:p>
        </p:txBody>
      </p:sp>
      <p:sp>
        <p:nvSpPr>
          <p:cNvPr id="180" name="UNIX est un nom protégé par le droit d’auteur (Payant).…"/>
          <p:cNvSpPr txBox="1">
            <a:spLocks noGrp="1"/>
          </p:cNvSpPr>
          <p:nvPr>
            <p:ph type="body" idx="1"/>
          </p:nvPr>
        </p:nvSpPr>
        <p:spPr>
          <a:xfrm>
            <a:off x="508000" y="2454171"/>
            <a:ext cx="12243631" cy="7083986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just">
              <a:defRPr sz="3400"/>
            </a:pPr>
            <a:endParaRPr dirty="0"/>
          </a:p>
          <a:p>
            <a:pPr algn="just">
              <a:defRPr sz="3400"/>
            </a:pPr>
            <a:r>
              <a:rPr lang="fr-FR" sz="3400" dirty="0" smtClean="0"/>
              <a:t>Exécuter un </a:t>
            </a:r>
            <a:r>
              <a:rPr lang="fr-FR" sz="3400" b="1" dirty="0" smtClean="0"/>
              <a:t>script </a:t>
            </a:r>
            <a:r>
              <a:rPr lang="fr-FR" sz="3400" b="1" dirty="0" err="1" smtClean="0"/>
              <a:t>shell</a:t>
            </a:r>
            <a:r>
              <a:rPr lang="fr-FR" sz="3400" b="1" dirty="0" smtClean="0"/>
              <a:t> </a:t>
            </a:r>
            <a:r>
              <a:rPr lang="fr-FR" sz="3400" dirty="0" smtClean="0"/>
              <a:t>lance un nouveau processus, un </a:t>
            </a:r>
            <a:r>
              <a:rPr lang="fr-FR" sz="3400" b="1" i="1" dirty="0" smtClean="0"/>
              <a:t>sous-</a:t>
            </a:r>
            <a:r>
              <a:rPr lang="fr-FR" sz="3400" b="1" i="1" dirty="0" err="1" smtClean="0"/>
              <a:t>shell</a:t>
            </a:r>
            <a:r>
              <a:rPr lang="fr-FR" sz="3400" dirty="0" smtClean="0"/>
              <a:t>.</a:t>
            </a:r>
            <a:r>
              <a:rPr dirty="0" smtClean="0"/>
              <a:t> </a:t>
            </a:r>
            <a:endParaRPr dirty="0"/>
          </a:p>
          <a:p>
            <a:pPr algn="just">
              <a:defRPr sz="3400"/>
            </a:pPr>
            <a:r>
              <a:rPr lang="fr-FR" sz="3400" b="1" dirty="0" smtClean="0">
                <a:solidFill>
                  <a:srgbClr val="FF0000"/>
                </a:solidFill>
              </a:rPr>
              <a:t>Définition</a:t>
            </a:r>
            <a:r>
              <a:rPr lang="fr-FR" sz="3400" dirty="0" smtClean="0"/>
              <a:t> : un </a:t>
            </a:r>
            <a:r>
              <a:rPr lang="fr-FR" sz="3400" i="1" dirty="0" smtClean="0"/>
              <a:t>sous-</a:t>
            </a:r>
            <a:r>
              <a:rPr lang="fr-FR" sz="3400" i="1" dirty="0" err="1" smtClean="0"/>
              <a:t>shell</a:t>
            </a:r>
            <a:r>
              <a:rPr lang="fr-FR" sz="3400" dirty="0" smtClean="0"/>
              <a:t> est un processus lancé par un </a:t>
            </a:r>
            <a:r>
              <a:rPr lang="fr-FR" sz="3400" dirty="0" err="1" smtClean="0"/>
              <a:t>shell</a:t>
            </a:r>
            <a:r>
              <a:rPr lang="fr-FR" sz="3400" dirty="0" smtClean="0"/>
              <a:t> (ou </a:t>
            </a:r>
            <a:r>
              <a:rPr lang="fr-FR" sz="3400" b="1" i="1" dirty="0" smtClean="0">
                <a:solidFill>
                  <a:srgbClr val="002060"/>
                </a:solidFill>
              </a:rPr>
              <a:t>script </a:t>
            </a:r>
            <a:r>
              <a:rPr lang="fr-FR" sz="3400" b="1" i="1" dirty="0" err="1" smtClean="0">
                <a:solidFill>
                  <a:srgbClr val="002060"/>
                </a:solidFill>
              </a:rPr>
              <a:t>shell</a:t>
            </a:r>
            <a:r>
              <a:rPr lang="fr-FR" sz="3400" dirty="0" smtClean="0"/>
              <a:t>).</a:t>
            </a:r>
            <a:r>
              <a:rPr dirty="0" smtClean="0"/>
              <a:t>.</a:t>
            </a:r>
            <a:endParaRPr lang="fr-FR" dirty="0" smtClean="0"/>
          </a:p>
          <a:p>
            <a:pPr>
              <a:defRPr sz="3400"/>
            </a:pPr>
            <a:r>
              <a:rPr lang="fr-FR" sz="3400" dirty="0" smtClean="0"/>
              <a:t>Ces </a:t>
            </a:r>
            <a:r>
              <a:rPr lang="fr-FR" sz="3400" b="1" i="1" dirty="0" smtClean="0">
                <a:solidFill>
                  <a:srgbClr val="002060"/>
                </a:solidFill>
              </a:rPr>
              <a:t>sous-</a:t>
            </a:r>
            <a:r>
              <a:rPr lang="fr-FR" sz="3400" b="1" i="1" dirty="0" err="1" smtClean="0">
                <a:solidFill>
                  <a:srgbClr val="002060"/>
                </a:solidFill>
              </a:rPr>
              <a:t>shells</a:t>
            </a:r>
            <a:r>
              <a:rPr lang="fr-FR" sz="3400" dirty="0" smtClean="0"/>
              <a:t> permettent au script de faire de l'exécution</a:t>
            </a:r>
          </a:p>
          <a:p>
            <a:pPr marL="0" indent="0">
              <a:buNone/>
              <a:defRPr sz="3400"/>
            </a:pPr>
            <a:r>
              <a:rPr lang="fr-FR" sz="3400" dirty="0" smtClean="0"/>
              <a:t> en parallèle, donc d'exécuter </a:t>
            </a:r>
            <a:r>
              <a:rPr lang="fr-FR" sz="3400" dirty="0" smtClean="0">
                <a:solidFill>
                  <a:srgbClr val="002060"/>
                </a:solidFill>
              </a:rPr>
              <a:t>différentes tâches simultanément</a:t>
            </a:r>
          </a:p>
          <a:p>
            <a:pPr>
              <a:defRPr sz="3400"/>
            </a:pPr>
            <a:r>
              <a:rPr lang="fr-FR" sz="3400" dirty="0"/>
              <a:t>Quand le programme en exécution est un script Shell, </a:t>
            </a:r>
            <a:r>
              <a:rPr lang="fr-FR" sz="3400" dirty="0" err="1"/>
              <a:t>Bash</a:t>
            </a:r>
            <a:r>
              <a:rPr lang="fr-FR" sz="3400" dirty="0"/>
              <a:t> créera un nouveau processus </a:t>
            </a:r>
            <a:r>
              <a:rPr lang="fr-FR" sz="3400" dirty="0" err="1"/>
              <a:t>Bash</a:t>
            </a:r>
            <a:r>
              <a:rPr lang="fr-FR" sz="3400" dirty="0"/>
              <a:t> en activant un </a:t>
            </a:r>
            <a:r>
              <a:rPr lang="fr-FR" sz="3400" i="1" dirty="0" err="1"/>
              <a:t>fork</a:t>
            </a:r>
            <a:r>
              <a:rPr lang="fr-FR" sz="3400" dirty="0"/>
              <a:t>. Ce sous-Shell lit les lignes du script une par une. </a:t>
            </a:r>
            <a:endParaRPr lang="fr-FR" sz="3400" dirty="0" smtClean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Sous-</a:t>
            </a:r>
            <a:r>
              <a:rPr lang="fr-FR" dirty="0" err="1" smtClean="0"/>
              <a:t>shells</a:t>
            </a:r>
            <a:r>
              <a:rPr lang="fr-FR" dirty="0" smtClean="0"/>
              <a:t>(exemple)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2019300"/>
            <a:ext cx="11988800" cy="60960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r-FR" sz="2800" b="1" dirty="0" smtClean="0">
                <a:solidFill>
                  <a:srgbClr val="002060"/>
                </a:solidFill>
              </a:rPr>
              <a:t>#!/</a:t>
            </a:r>
            <a:r>
              <a:rPr lang="fr-FR" sz="2800" b="1" dirty="0" err="1" smtClean="0">
                <a:solidFill>
                  <a:srgbClr val="002060"/>
                </a:solidFill>
              </a:rPr>
              <a:t>bin</a:t>
            </a:r>
            <a:r>
              <a:rPr lang="fr-FR" sz="2800" b="1" dirty="0" smtClean="0">
                <a:solidFill>
                  <a:srgbClr val="002060"/>
                </a:solidFill>
              </a:rPr>
              <a:t>/</a:t>
            </a:r>
            <a:r>
              <a:rPr lang="fr-FR" sz="2800" b="1" dirty="0" err="1" smtClean="0">
                <a:solidFill>
                  <a:srgbClr val="002060"/>
                </a:solidFill>
              </a:rPr>
              <a:t>bash</a:t>
            </a:r>
            <a:endParaRPr lang="fr-FR" sz="2800" b="1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fr-FR" sz="2800" b="1" dirty="0" smtClean="0">
                <a:solidFill>
                  <a:srgbClr val="002060"/>
                </a:solidFill>
              </a:rPr>
              <a:t># subshell-test.sh</a:t>
            </a:r>
          </a:p>
          <a:p>
            <a:pPr>
              <a:spcBef>
                <a:spcPts val="0"/>
              </a:spcBef>
              <a:buNone/>
            </a:pPr>
            <a:r>
              <a:rPr lang="fr-FR" sz="2800" b="1" dirty="0" smtClean="0">
                <a:solidFill>
                  <a:srgbClr val="002060"/>
                </a:solidFill>
              </a:rPr>
              <a:t>(</a:t>
            </a:r>
          </a:p>
          <a:p>
            <a:pPr>
              <a:spcBef>
                <a:spcPts val="0"/>
              </a:spcBef>
              <a:buNone/>
            </a:pPr>
            <a:r>
              <a:rPr lang="fr-FR" sz="2800" b="1" dirty="0" smtClean="0">
                <a:solidFill>
                  <a:srgbClr val="002060"/>
                </a:solidFill>
              </a:rPr>
              <a:t># </a:t>
            </a:r>
            <a:r>
              <a:rPr lang="fr-FR" sz="2800" b="1" dirty="0" smtClean="0">
                <a:solidFill>
                  <a:srgbClr val="FF0000"/>
                </a:solidFill>
              </a:rPr>
              <a:t>Parenthèses à l'intérieur, donc un sous-</a:t>
            </a:r>
            <a:r>
              <a:rPr lang="fr-FR" sz="2800" b="1" dirty="0" err="1" smtClean="0">
                <a:solidFill>
                  <a:srgbClr val="FF0000"/>
                </a:solidFill>
              </a:rPr>
              <a:t>shell</a:t>
            </a:r>
            <a:r>
              <a:rPr lang="fr-FR" sz="2800" b="1" dirty="0" smtClean="0">
                <a:solidFill>
                  <a:srgbClr val="FF0000"/>
                </a:solidFill>
              </a:rPr>
              <a:t>.</a:t>
            </a:r>
            <a:r>
              <a:rPr lang="fr-FR" sz="2800" b="1" dirty="0" smtClean="0">
                <a:solidFill>
                  <a:srgbClr val="002060"/>
                </a:solidFill>
              </a:rPr>
              <a:t>..</a:t>
            </a:r>
          </a:p>
          <a:p>
            <a:pPr>
              <a:spcBef>
                <a:spcPts val="0"/>
              </a:spcBef>
              <a:buNone/>
            </a:pPr>
            <a:r>
              <a:rPr lang="fr-FR" sz="2800" b="1" dirty="0" err="1" smtClean="0">
                <a:solidFill>
                  <a:srgbClr val="002060"/>
                </a:solidFill>
              </a:rPr>
              <a:t>while</a:t>
            </a:r>
            <a:r>
              <a:rPr lang="fr-FR" sz="2800" b="1" dirty="0" smtClean="0">
                <a:solidFill>
                  <a:srgbClr val="002060"/>
                </a:solidFill>
              </a:rPr>
              <a:t> [ 1 ]   # Boucle sans fin.</a:t>
            </a:r>
          </a:p>
          <a:p>
            <a:pPr>
              <a:spcBef>
                <a:spcPts val="0"/>
              </a:spcBef>
              <a:buNone/>
            </a:pPr>
            <a:r>
              <a:rPr lang="fr-FR" sz="2800" b="1" dirty="0" smtClean="0">
                <a:solidFill>
                  <a:srgbClr val="002060"/>
                </a:solidFill>
              </a:rPr>
              <a:t>do</a:t>
            </a:r>
          </a:p>
          <a:p>
            <a:pPr>
              <a:spcBef>
                <a:spcPts val="0"/>
              </a:spcBef>
              <a:buNone/>
            </a:pPr>
            <a:r>
              <a:rPr lang="fr-FR" sz="2800" b="1" dirty="0" smtClean="0">
                <a:solidFill>
                  <a:srgbClr val="002060"/>
                </a:solidFill>
              </a:rPr>
              <a:t>  </a:t>
            </a:r>
            <a:r>
              <a:rPr lang="fr-FR" sz="2800" b="1" dirty="0" err="1" smtClean="0">
                <a:solidFill>
                  <a:srgbClr val="002060"/>
                </a:solidFill>
              </a:rPr>
              <a:t>echo</a:t>
            </a:r>
            <a:r>
              <a:rPr lang="fr-FR" sz="2800" b="1" dirty="0" smtClean="0">
                <a:solidFill>
                  <a:srgbClr val="002060"/>
                </a:solidFill>
              </a:rPr>
              <a:t> "Sous-</a:t>
            </a:r>
            <a:r>
              <a:rPr lang="fr-FR" sz="2800" b="1" dirty="0" err="1" smtClean="0">
                <a:solidFill>
                  <a:srgbClr val="002060"/>
                </a:solidFill>
              </a:rPr>
              <a:t>shell</a:t>
            </a:r>
            <a:r>
              <a:rPr lang="fr-FR" sz="2800" b="1" dirty="0" smtClean="0">
                <a:solidFill>
                  <a:srgbClr val="002060"/>
                </a:solidFill>
              </a:rPr>
              <a:t> en cours d'exécution..."</a:t>
            </a:r>
          </a:p>
          <a:p>
            <a:pPr>
              <a:spcBef>
                <a:spcPts val="0"/>
              </a:spcBef>
              <a:buNone/>
            </a:pPr>
            <a:r>
              <a:rPr lang="fr-FR" sz="2800" b="1" dirty="0" err="1" smtClean="0">
                <a:solidFill>
                  <a:srgbClr val="002060"/>
                </a:solidFill>
              </a:rPr>
              <a:t>done</a:t>
            </a:r>
            <a:endParaRPr lang="fr-FR" sz="2800" b="1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fr-FR" sz="2800" b="1" dirty="0" smtClean="0">
                <a:solidFill>
                  <a:srgbClr val="002060"/>
                </a:solidFill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fr-FR" sz="2800" b="1" dirty="0" smtClean="0">
                <a:solidFill>
                  <a:srgbClr val="002060"/>
                </a:solidFill>
              </a:rPr>
              <a:t>#  Le script s'exécutera sans jamais s'</a:t>
            </a:r>
            <a:r>
              <a:rPr lang="fr-FR" sz="2800" b="1" dirty="0" err="1" smtClean="0">
                <a:solidFill>
                  <a:srgbClr val="002060"/>
                </a:solidFill>
              </a:rPr>
              <a:t>arrêter,au</a:t>
            </a:r>
            <a:r>
              <a:rPr lang="fr-FR" sz="2800" b="1" dirty="0" smtClean="0">
                <a:solidFill>
                  <a:srgbClr val="002060"/>
                </a:solidFill>
              </a:rPr>
              <a:t> moins tant que vous ne ferez pas </a:t>
            </a:r>
            <a:r>
              <a:rPr lang="fr-FR" sz="2800" b="1" dirty="0" err="1" smtClean="0">
                <a:solidFill>
                  <a:srgbClr val="002060"/>
                </a:solidFill>
              </a:rPr>
              <a:t>Ctl</a:t>
            </a:r>
            <a:r>
              <a:rPr lang="fr-FR" sz="2800" b="1" dirty="0" smtClean="0">
                <a:solidFill>
                  <a:srgbClr val="002060"/>
                </a:solidFill>
              </a:rPr>
              <a:t>-C.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Sous-</a:t>
            </a:r>
            <a:r>
              <a:rPr lang="fr-FR" dirty="0" err="1" smtClean="0"/>
              <a:t>shells</a:t>
            </a:r>
            <a:r>
              <a:rPr lang="fr-FR" dirty="0" smtClean="0"/>
              <a:t>(suite)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2019300"/>
            <a:ext cx="11988800" cy="60960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r-FR" sz="3200" b="1" dirty="0" smtClean="0"/>
              <a:t>     Liste de commandes entre parenthèses</a:t>
            </a:r>
          </a:p>
          <a:p>
            <a:pPr>
              <a:spcBef>
                <a:spcPts val="0"/>
              </a:spcBef>
              <a:buNone/>
            </a:pPr>
            <a:endParaRPr lang="fr-FR" sz="3200" b="1" dirty="0" smtClean="0"/>
          </a:p>
          <a:p>
            <a:pPr>
              <a:spcBef>
                <a:spcPts val="0"/>
              </a:spcBef>
              <a:buNone/>
            </a:pPr>
            <a:r>
              <a:rPr lang="fr-FR" sz="3200" dirty="0" smtClean="0"/>
              <a:t>     ( commande1; commande2; commande3; ... </a:t>
            </a:r>
            <a:r>
              <a:rPr lang="fr-FR" sz="3200" dirty="0" err="1" smtClean="0"/>
              <a:t>commandeN</a:t>
            </a:r>
            <a:r>
              <a:rPr lang="fr-FR" sz="3200" dirty="0" smtClean="0"/>
              <a:t>; )</a:t>
            </a:r>
          </a:p>
          <a:p>
            <a:pPr>
              <a:spcBef>
                <a:spcPts val="0"/>
              </a:spcBef>
              <a:buNone/>
            </a:pPr>
            <a:endParaRPr lang="fr-FR" sz="3200" dirty="0" smtClean="0"/>
          </a:p>
          <a:p>
            <a:pPr>
              <a:spcBef>
                <a:spcPts val="0"/>
              </a:spcBef>
              <a:buNone/>
            </a:pPr>
            <a:endParaRPr lang="fr-FR" sz="3200" dirty="0" smtClean="0"/>
          </a:p>
          <a:p>
            <a:pPr>
              <a:spcBef>
                <a:spcPts val="0"/>
              </a:spcBef>
              <a:buNone/>
            </a:pPr>
            <a:r>
              <a:rPr lang="fr-FR" sz="3200" dirty="0" smtClean="0"/>
              <a:t>     Une liste de commandes placées entre </a:t>
            </a:r>
            <a:r>
              <a:rPr lang="fr-FR" sz="3200" i="1" dirty="0" smtClean="0"/>
              <a:t>parenthèses</a:t>
            </a:r>
            <a:r>
              <a:rPr lang="fr-FR" sz="3200" dirty="0" smtClean="0"/>
              <a:t> est exécutée sous forme de sous-</a:t>
            </a:r>
            <a:r>
              <a:rPr lang="fr-FR" sz="3200" dirty="0" err="1" smtClean="0"/>
              <a:t>shells</a:t>
            </a:r>
            <a:endParaRPr lang="fr-FR" sz="3200" dirty="0" smtClean="0"/>
          </a:p>
          <a:p>
            <a:pPr>
              <a:spcBef>
                <a:spcPts val="0"/>
              </a:spcBef>
              <a:buNone/>
            </a:pPr>
            <a:endParaRPr lang="fr-FR" sz="32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Sous Shell (Suite)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>
          <a:xfrm>
            <a:off x="508000" y="2019300"/>
            <a:ext cx="11988800" cy="964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v"/>
            </a:pPr>
            <a:r>
              <a:rPr lang="fr-FR" sz="2800" b="1" dirty="0" smtClean="0">
                <a:solidFill>
                  <a:srgbClr val="002060"/>
                </a:solidFill>
              </a:rPr>
              <a:t>Un sous-</a:t>
            </a:r>
            <a:r>
              <a:rPr lang="fr-FR" sz="2800" b="1" dirty="0" err="1" smtClean="0">
                <a:solidFill>
                  <a:srgbClr val="002060"/>
                </a:solidFill>
              </a:rPr>
              <a:t>shell</a:t>
            </a:r>
            <a:r>
              <a:rPr lang="fr-FR" sz="2800" b="1" dirty="0" smtClean="0">
                <a:solidFill>
                  <a:srgbClr val="002060"/>
                </a:solidFill>
              </a:rPr>
              <a:t> peut être utilisé pour mettre en place un « environnement dédié » à un groupe de commandes.</a:t>
            </a:r>
            <a:endParaRPr lang="fr-FR" sz="2800" b="1" dirty="0">
              <a:solidFill>
                <a:srgbClr val="00206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8000" y="3419061"/>
            <a:ext cx="6502400" cy="4708981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l"/>
            <a:r>
              <a:rPr lang="fr-FR" sz="2000" b="1" dirty="0" smtClean="0"/>
              <a:t>COMMANDE1</a:t>
            </a:r>
          </a:p>
          <a:p>
            <a:pPr algn="l"/>
            <a:r>
              <a:rPr lang="fr-FR" sz="2000" b="1" dirty="0" smtClean="0"/>
              <a:t>COMMANDE2</a:t>
            </a:r>
          </a:p>
          <a:p>
            <a:pPr algn="l"/>
            <a:r>
              <a:rPr lang="fr-FR" sz="2000" b="1" dirty="0" smtClean="0"/>
              <a:t>COMMANDE3</a:t>
            </a:r>
          </a:p>
          <a:p>
            <a:pPr algn="l"/>
            <a:r>
              <a:rPr lang="fr-FR" sz="2000" b="1" dirty="0" smtClean="0"/>
              <a:t>(</a:t>
            </a:r>
          </a:p>
          <a:p>
            <a:pPr algn="l"/>
            <a:r>
              <a:rPr lang="fr-FR" sz="2000" b="1" dirty="0" smtClean="0"/>
              <a:t>  </a:t>
            </a:r>
          </a:p>
          <a:p>
            <a:pPr algn="l"/>
            <a:r>
              <a:rPr lang="fr-FR" sz="2000" b="1" dirty="0" smtClean="0"/>
              <a:t>  PATH=/</a:t>
            </a:r>
            <a:r>
              <a:rPr lang="fr-FR" sz="2000" b="1" dirty="0" err="1" smtClean="0"/>
              <a:t>bin</a:t>
            </a:r>
            <a:endParaRPr lang="fr-FR" sz="2000" b="1" dirty="0" smtClean="0"/>
          </a:p>
          <a:p>
            <a:pPr algn="l"/>
            <a:r>
              <a:rPr lang="fr-FR" sz="2000" b="1" dirty="0" smtClean="0"/>
              <a:t>COMMANDE4</a:t>
            </a:r>
          </a:p>
          <a:p>
            <a:pPr algn="l"/>
            <a:r>
              <a:rPr lang="fr-FR" sz="2000" b="1" dirty="0" smtClean="0"/>
              <a:t>COMMANDE5</a:t>
            </a:r>
          </a:p>
          <a:p>
            <a:pPr algn="l"/>
            <a:r>
              <a:rPr lang="fr-FR" sz="2000" b="1" dirty="0" smtClean="0"/>
              <a:t>  exit  # Sortie du seul sous-</a:t>
            </a:r>
            <a:r>
              <a:rPr lang="fr-FR" sz="2000" b="1" dirty="0" err="1" smtClean="0"/>
              <a:t>shell</a:t>
            </a:r>
            <a:r>
              <a:rPr lang="fr-FR" sz="2000" b="1" dirty="0" smtClean="0"/>
              <a:t> !</a:t>
            </a:r>
          </a:p>
          <a:p>
            <a:pPr algn="l"/>
            <a:r>
              <a:rPr lang="fr-FR" sz="2000" b="1" dirty="0" smtClean="0"/>
              <a:t>)</a:t>
            </a:r>
          </a:p>
          <a:p>
            <a:pPr algn="l"/>
            <a:r>
              <a:rPr lang="fr-FR" sz="2000" b="1" dirty="0" smtClean="0"/>
              <a:t>#  Le </a:t>
            </a:r>
            <a:r>
              <a:rPr lang="fr-FR" sz="2000" b="1" dirty="0" err="1" smtClean="0"/>
              <a:t>shell</a:t>
            </a:r>
            <a:r>
              <a:rPr lang="fr-FR" sz="2000" b="1" dirty="0" smtClean="0"/>
              <a:t> parent n'a pas été affecté et son environnement est préservé (ex :</a:t>
            </a:r>
          </a:p>
          <a:p>
            <a:pPr algn="l"/>
            <a:r>
              <a:rPr lang="fr-FR" sz="2000" b="1" dirty="0" smtClean="0"/>
              <a:t>#+ pas de modification de $PATH).</a:t>
            </a:r>
          </a:p>
          <a:p>
            <a:pPr algn="l"/>
            <a:r>
              <a:rPr lang="fr-FR" sz="2000" b="1" dirty="0" smtClean="0"/>
              <a:t>COMMANDE6</a:t>
            </a:r>
          </a:p>
          <a:p>
            <a:pPr algn="l"/>
            <a:r>
              <a:rPr lang="fr-FR" sz="2000" b="1" dirty="0" smtClean="0"/>
              <a:t>COMMANDE7</a:t>
            </a:r>
            <a:endParaRPr lang="fr-FR" sz="20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8004313" y="7082242"/>
            <a:ext cx="4492487" cy="1949252"/>
          </a:xfrm>
          <a:prstGeom prst="rect">
            <a:avLst/>
          </a:prstGeom>
          <a:noFill/>
          <a:ln w="12700" cap="flat" cmpd="dbl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fr-FR" b="1" dirty="0" smtClean="0">
                <a:solidFill>
                  <a:srgbClr val="002060"/>
                </a:solidFill>
              </a:rPr>
              <a:t>La commande exit termine seulement le sous-</a:t>
            </a:r>
            <a:r>
              <a:rPr lang="fr-FR" b="1" dirty="0" err="1" smtClean="0">
                <a:solidFill>
                  <a:srgbClr val="002060"/>
                </a:solidFill>
              </a:rPr>
              <a:t>shell</a:t>
            </a:r>
            <a:r>
              <a:rPr lang="fr-FR" b="1" dirty="0" smtClean="0">
                <a:solidFill>
                  <a:srgbClr val="002060"/>
                </a:solidFill>
              </a:rPr>
              <a:t> dans lequel il s'</a:t>
            </a:r>
            <a:r>
              <a:rPr lang="fr-FR" b="1" dirty="0" err="1" smtClean="0">
                <a:solidFill>
                  <a:srgbClr val="002060"/>
                </a:solidFill>
              </a:rPr>
              <a:t>exécute,mais</a:t>
            </a:r>
            <a:r>
              <a:rPr lang="fr-FR" b="1" dirty="0" smtClean="0">
                <a:solidFill>
                  <a:srgbClr val="002060"/>
                </a:solidFill>
              </a:rPr>
              <a:t> il ne termine pas le </a:t>
            </a:r>
            <a:r>
              <a:rPr lang="fr-FR" b="1" dirty="0" err="1" smtClean="0">
                <a:solidFill>
                  <a:srgbClr val="002060"/>
                </a:solidFill>
              </a:rPr>
              <a:t>shell</a:t>
            </a:r>
            <a:r>
              <a:rPr lang="fr-FR" b="1" dirty="0" smtClean="0">
                <a:solidFill>
                  <a:srgbClr val="002060"/>
                </a:solidFill>
              </a:rPr>
              <a:t> ou le script parent.</a:t>
            </a:r>
            <a:endParaRPr kumimoji="0" lang="fr-FR" sz="2400" b="1" i="0" u="none" strike="noStrike" cap="none" spc="0" normalizeH="0" baseline="0" dirty="0">
              <a:ln>
                <a:noFill/>
              </a:ln>
              <a:solidFill>
                <a:srgbClr val="002060"/>
              </a:solidFill>
              <a:effectLst/>
              <a:uFillTx/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6000" dirty="0" smtClean="0"/>
              <a:t>Étendue des variables dans un sous-</a:t>
            </a:r>
            <a:r>
              <a:rPr lang="fr-FR" sz="6000" dirty="0" err="1" smtClean="0"/>
              <a:t>shell</a:t>
            </a:r>
            <a:endParaRPr lang="fr-FR" sz="600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fr-FR" dirty="0" smtClean="0"/>
              <a:t>Les variables utilisées dans un sous </a:t>
            </a:r>
            <a:r>
              <a:rPr lang="fr-FR" dirty="0" err="1" smtClean="0"/>
              <a:t>shell</a:t>
            </a:r>
            <a:r>
              <a:rPr lang="fr-FR" dirty="0" smtClean="0"/>
              <a:t> </a:t>
            </a:r>
            <a:r>
              <a:rPr lang="fr-FR" i="1" dirty="0" smtClean="0"/>
              <a:t>ne sont pas</a:t>
            </a:r>
            <a:r>
              <a:rPr lang="fr-FR" dirty="0" smtClean="0"/>
              <a:t> visibles en dehors du code du sous-</a:t>
            </a:r>
            <a:r>
              <a:rPr lang="fr-FR" dirty="0" err="1" smtClean="0"/>
              <a:t>shell</a:t>
            </a:r>
            <a:r>
              <a:rPr lang="fr-FR" dirty="0" smtClean="0"/>
              <a:t>. Elles ne sont pas utilisables par le </a:t>
            </a:r>
            <a:r>
              <a:rPr lang="fr-FR" b="1" dirty="0" smtClean="0">
                <a:solidFill>
                  <a:srgbClr val="002060"/>
                </a:solidFill>
              </a:rPr>
              <a:t>processus parent</a:t>
            </a:r>
            <a:r>
              <a:rPr lang="fr-FR" dirty="0" smtClean="0"/>
              <a:t>, le </a:t>
            </a:r>
            <a:r>
              <a:rPr lang="fr-FR" dirty="0" err="1" smtClean="0"/>
              <a:t>shell</a:t>
            </a:r>
            <a:r>
              <a:rPr lang="fr-FR" dirty="0" smtClean="0"/>
              <a:t> qui a lancé le sous-</a:t>
            </a:r>
            <a:r>
              <a:rPr lang="fr-FR" dirty="0" err="1" smtClean="0"/>
              <a:t>shell</a:t>
            </a:r>
            <a:r>
              <a:rPr lang="fr-FR" dirty="0" smtClean="0"/>
              <a:t>. Elles sont en réalité des</a:t>
            </a:r>
            <a:r>
              <a:rPr lang="fr-FR" b="1" dirty="0" smtClean="0"/>
              <a:t> </a:t>
            </a:r>
            <a:r>
              <a:rPr lang="fr-FR" b="1" dirty="0" smtClean="0">
                <a:solidFill>
                  <a:srgbClr val="002060"/>
                </a:solidFill>
                <a:hlinkClick r:id="rId2" tooltip="Que fait une variable locale ?"/>
              </a:rPr>
              <a:t>variables locales</a:t>
            </a:r>
            <a:r>
              <a:rPr lang="fr-FR" dirty="0" smtClean="0"/>
              <a:t>.</a:t>
            </a:r>
            <a:endParaRPr lang="fr-FR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190500"/>
            <a:ext cx="11988800" cy="1219200"/>
          </a:xfrm>
        </p:spPr>
        <p:txBody>
          <a:bodyPr>
            <a:normAutofit/>
          </a:bodyPr>
          <a:lstStyle/>
          <a:p>
            <a:r>
              <a:rPr lang="fr-FR" sz="4000" dirty="0" smtClean="0"/>
              <a:t>Exemple</a:t>
            </a:r>
            <a:endParaRPr lang="fr-FR" sz="4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8000" y="1012135"/>
            <a:ext cx="6787322" cy="7224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13927" y="6871666"/>
            <a:ext cx="6957812" cy="2570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3187" y="986588"/>
            <a:ext cx="11988800" cy="1219200"/>
          </a:xfrm>
        </p:spPr>
        <p:txBody>
          <a:bodyPr>
            <a:normAutofit fontScale="90000"/>
          </a:bodyPr>
          <a:lstStyle/>
          <a:p>
            <a:pPr algn="l"/>
            <a:r>
              <a:rPr lang="fr-FR" b="1" dirty="0"/>
              <a:t>Pou</a:t>
            </a:r>
            <a:r>
              <a:rPr lang="fr-FR" sz="6700" dirty="0"/>
              <a:t>rquo</a:t>
            </a:r>
            <a:r>
              <a:rPr lang="fr-FR" b="1" dirty="0"/>
              <a:t>i des fonctions ?</a:t>
            </a:r>
            <a:br>
              <a:rPr lang="fr-FR" b="1" dirty="0"/>
            </a:b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sz="4000" dirty="0" smtClean="0">
                <a:solidFill>
                  <a:srgbClr val="000000"/>
                </a:solidFill>
                <a:latin typeface="Palatino" pitchFamily="18" charset="0"/>
              </a:rPr>
              <a:t>On veut </a:t>
            </a:r>
            <a:r>
              <a:rPr lang="fr-FR" sz="4000" dirty="0">
                <a:solidFill>
                  <a:srgbClr val="000000"/>
                </a:solidFill>
                <a:latin typeface="Palatino" pitchFamily="18" charset="0"/>
              </a:rPr>
              <a:t>e</a:t>
            </a:r>
            <a:r>
              <a:rPr lang="fr-FR" sz="4000" dirty="0" smtClean="0">
                <a:solidFill>
                  <a:srgbClr val="000000"/>
                </a:solidFill>
                <a:latin typeface="Palatino" pitchFamily="18" charset="0"/>
              </a:rPr>
              <a:t>ffacer </a:t>
            </a:r>
            <a:r>
              <a:rPr lang="fr-FR" sz="4000" dirty="0">
                <a:solidFill>
                  <a:srgbClr val="000000"/>
                </a:solidFill>
                <a:latin typeface="Palatino" pitchFamily="18" charset="0"/>
              </a:rPr>
              <a:t>régulièrement tous les fichiers </a:t>
            </a:r>
            <a:r>
              <a:rPr lang="fr-FR" sz="4000" dirty="0">
                <a:latin typeface="Palatino" pitchFamily="18" charset="0"/>
              </a:rPr>
              <a:t>.aux</a:t>
            </a:r>
            <a:r>
              <a:rPr lang="fr-FR" sz="4000" dirty="0">
                <a:solidFill>
                  <a:srgbClr val="000000"/>
                </a:solidFill>
                <a:latin typeface="Palatino" pitchFamily="18" charset="0"/>
              </a:rPr>
              <a:t> et </a:t>
            </a:r>
            <a:r>
              <a:rPr lang="fr-FR" sz="4000" dirty="0">
                <a:latin typeface="Palatino" pitchFamily="18" charset="0"/>
              </a:rPr>
              <a:t>.log</a:t>
            </a:r>
            <a:r>
              <a:rPr lang="fr-FR" sz="4000" dirty="0">
                <a:solidFill>
                  <a:srgbClr val="000000"/>
                </a:solidFill>
                <a:latin typeface="Palatino" pitchFamily="18" charset="0"/>
              </a:rPr>
              <a:t> qui polluent vos répertoires</a:t>
            </a:r>
            <a:r>
              <a:rPr lang="fr-FR" sz="4400" dirty="0">
                <a:solidFill>
                  <a:srgbClr val="000000"/>
                </a:solidFill>
                <a:latin typeface="Times New Roman"/>
              </a:rPr>
              <a:t>.</a:t>
            </a:r>
            <a:endParaRPr lang="fr-FR" sz="440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   </a:t>
            </a:r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044" y="3090111"/>
            <a:ext cx="6124575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6894094" y="3634904"/>
            <a:ext cx="5870074" cy="65043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fr-FR" sz="2800" b="1" dirty="0">
                <a:latin typeface="Palatino" pitchFamily="18" charset="0"/>
              </a:rPr>
              <a:t>Problèmes des programmes sans fonction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fr-FR" sz="2800" dirty="0" smtClean="0">
                <a:latin typeface="Palatino" pitchFamily="18" charset="0"/>
              </a:rPr>
              <a:t>il </a:t>
            </a:r>
            <a:r>
              <a:rPr lang="fr-FR" sz="2800" dirty="0">
                <a:latin typeface="Palatino" pitchFamily="18" charset="0"/>
              </a:rPr>
              <a:t>n'est pas très lisible ;</a:t>
            </a:r>
          </a:p>
          <a:p>
            <a:pPr algn="l"/>
            <a:r>
              <a:rPr lang="fr-FR" sz="2800" dirty="0">
                <a:latin typeface="Palatino" pitchFamily="18" charset="0"/>
              </a:rPr>
              <a:t>il comporte des répétitions relativement longues </a:t>
            </a:r>
            <a:endParaRPr lang="fr-FR" sz="2800" dirty="0" smtClean="0">
              <a:latin typeface="Palatino" pitchFamily="18" charset="0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fr-FR" sz="2800" dirty="0" smtClean="0">
                <a:latin typeface="Palatino" pitchFamily="18" charset="0"/>
              </a:rPr>
              <a:t>si </a:t>
            </a:r>
            <a:r>
              <a:rPr lang="fr-FR" sz="2800" dirty="0">
                <a:latin typeface="Palatino" pitchFamily="18" charset="0"/>
              </a:rPr>
              <a:t>vous voulez changer le moindre détail, vous devrez rechercher </a:t>
            </a:r>
            <a:r>
              <a:rPr lang="fr-FR" sz="2800" i="1" dirty="0">
                <a:latin typeface="Palatino" pitchFamily="18" charset="0"/>
              </a:rPr>
              <a:t>à la main</a:t>
            </a:r>
            <a:r>
              <a:rPr lang="fr-FR" sz="2800" dirty="0">
                <a:latin typeface="Palatino" pitchFamily="18" charset="0"/>
              </a:rPr>
              <a:t> toutes les occurrences de ce que vous voulez </a:t>
            </a:r>
            <a:r>
              <a:rPr lang="fr-FR" sz="2800" dirty="0" smtClean="0">
                <a:latin typeface="Palatino" pitchFamily="18" charset="0"/>
              </a:rPr>
              <a:t>changer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fr-FR" sz="2800" dirty="0">
                <a:latin typeface="Palatino" pitchFamily="18" charset="0"/>
              </a:rPr>
              <a:t> </a:t>
            </a:r>
            <a:r>
              <a:rPr lang="fr-FR" sz="2800" b="1" dirty="0">
                <a:latin typeface="Palatino" pitchFamily="18" charset="0"/>
              </a:rPr>
              <a:t>très peu fiable</a:t>
            </a:r>
            <a:r>
              <a:rPr lang="fr-FR" sz="2800" dirty="0">
                <a:latin typeface="Palatino" pitchFamily="18" charset="0"/>
              </a:rPr>
              <a:t> : si vous oubliez une occurrence ou que vous modifiez un endroit alors qu'il ne le fallait pas, les conséquences peuvent être graves.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414141"/>
              </a:solidFill>
              <a:effectLst/>
              <a:uFillTx/>
              <a:latin typeface="Palatino"/>
              <a:ea typeface="Palatino"/>
              <a:cs typeface="Palatino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274682552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/>
              <a:t>Fonctions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2019300"/>
            <a:ext cx="11988800" cy="7275444"/>
          </a:xfrm>
        </p:spPr>
        <p:txBody>
          <a:bodyPr>
            <a:normAutofit fontScale="55000" lnSpcReduction="20000"/>
          </a:bodyPr>
          <a:lstStyle/>
          <a:p>
            <a:r>
              <a:rPr lang="fr-FR" sz="4600" dirty="0" smtClean="0"/>
              <a:t> </a:t>
            </a:r>
            <a:r>
              <a:rPr lang="fr-FR" sz="4600" dirty="0" err="1" smtClean="0"/>
              <a:t>Bash</a:t>
            </a:r>
            <a:r>
              <a:rPr lang="fr-FR" sz="4600" dirty="0" smtClean="0"/>
              <a:t> supporte les fonctions</a:t>
            </a:r>
          </a:p>
          <a:p>
            <a:r>
              <a:rPr lang="fr-FR" sz="4600" dirty="0" smtClean="0"/>
              <a:t> Une fonction </a:t>
            </a:r>
            <a:r>
              <a:rPr lang="fr-FR" sz="4600" dirty="0" err="1" smtClean="0"/>
              <a:t>shell</a:t>
            </a:r>
            <a:r>
              <a:rPr lang="fr-FR" sz="4600" dirty="0" smtClean="0"/>
              <a:t> est </a:t>
            </a:r>
            <a:r>
              <a:rPr lang="fr-FR" sz="4600" dirty="0"/>
              <a:t>un moyen de grouper des commandes pour une exécution ultérieure par l'appel d'un nom pour le groupe</a:t>
            </a:r>
            <a:endParaRPr lang="fr-FR" dirty="0" smtClean="0"/>
          </a:p>
          <a:p>
            <a:pPr>
              <a:buNone/>
            </a:pPr>
            <a:r>
              <a:rPr lang="fr-FR" sz="5100" b="1" dirty="0" err="1" smtClean="0">
                <a:solidFill>
                  <a:srgbClr val="002060"/>
                </a:solidFill>
              </a:rPr>
              <a:t>function</a:t>
            </a:r>
            <a:r>
              <a:rPr lang="fr-FR" sz="5100" b="1" dirty="0" smtClean="0">
                <a:solidFill>
                  <a:srgbClr val="002060"/>
                </a:solidFill>
              </a:rPr>
              <a:t> </a:t>
            </a:r>
            <a:r>
              <a:rPr lang="fr-FR" sz="5100" b="1" dirty="0" err="1" smtClean="0">
                <a:solidFill>
                  <a:srgbClr val="002060"/>
                </a:solidFill>
              </a:rPr>
              <a:t>nom_fonction</a:t>
            </a:r>
            <a:r>
              <a:rPr lang="fr-FR" sz="5100" b="1" dirty="0" smtClean="0">
                <a:solidFill>
                  <a:srgbClr val="002060"/>
                </a:solidFill>
              </a:rPr>
              <a:t> {</a:t>
            </a:r>
          </a:p>
          <a:p>
            <a:pPr>
              <a:buNone/>
            </a:pPr>
            <a:r>
              <a:rPr lang="fr-FR" sz="5100" b="1" dirty="0" smtClean="0">
                <a:solidFill>
                  <a:srgbClr val="002060"/>
                </a:solidFill>
              </a:rPr>
              <a:t>commande...</a:t>
            </a:r>
          </a:p>
          <a:p>
            <a:pPr>
              <a:buNone/>
            </a:pPr>
            <a:r>
              <a:rPr lang="fr-FR" sz="5100" b="1" dirty="0" smtClean="0">
                <a:solidFill>
                  <a:srgbClr val="002060"/>
                </a:solidFill>
              </a:rPr>
              <a:t>}</a:t>
            </a:r>
          </a:p>
          <a:p>
            <a:pPr>
              <a:buNone/>
            </a:pPr>
            <a:r>
              <a:rPr lang="fr-FR" sz="5100" b="1" dirty="0" smtClean="0">
                <a:solidFill>
                  <a:srgbClr val="002060"/>
                </a:solidFill>
              </a:rPr>
              <a:t>Ou</a:t>
            </a:r>
          </a:p>
          <a:p>
            <a:pPr>
              <a:buNone/>
            </a:pPr>
            <a:r>
              <a:rPr lang="fr-FR" sz="5100" b="1" dirty="0" err="1" smtClean="0">
                <a:solidFill>
                  <a:srgbClr val="002060"/>
                </a:solidFill>
              </a:rPr>
              <a:t>nom_fonction</a:t>
            </a:r>
            <a:r>
              <a:rPr lang="fr-FR" sz="5100" b="1" dirty="0" smtClean="0">
                <a:solidFill>
                  <a:srgbClr val="002060"/>
                </a:solidFill>
              </a:rPr>
              <a:t> () {</a:t>
            </a:r>
          </a:p>
          <a:p>
            <a:pPr>
              <a:buNone/>
            </a:pPr>
            <a:r>
              <a:rPr lang="fr-FR" sz="5100" b="1" dirty="0" smtClean="0">
                <a:solidFill>
                  <a:srgbClr val="002060"/>
                </a:solidFill>
              </a:rPr>
              <a:t>commande...</a:t>
            </a:r>
          </a:p>
          <a:p>
            <a:pPr>
              <a:buNone/>
            </a:pPr>
            <a:r>
              <a:rPr lang="fr-FR" sz="5100" b="1" dirty="0" smtClean="0">
                <a:solidFill>
                  <a:srgbClr val="002060"/>
                </a:solidFill>
              </a:rPr>
              <a:t>}</a:t>
            </a:r>
          </a:p>
          <a:p>
            <a:r>
              <a:rPr lang="fr-FR" sz="4400" b="1" dirty="0" smtClean="0">
                <a:solidFill>
                  <a:srgbClr val="C00000"/>
                </a:solidFill>
              </a:rPr>
              <a:t>Les fonctions sont appelées, </a:t>
            </a:r>
            <a:r>
              <a:rPr lang="fr-FR" sz="4400" b="1" i="1" dirty="0" smtClean="0">
                <a:solidFill>
                  <a:srgbClr val="C00000"/>
                </a:solidFill>
              </a:rPr>
              <a:t>lancées</a:t>
            </a:r>
            <a:r>
              <a:rPr lang="fr-FR" sz="4400" b="1" dirty="0" smtClean="0">
                <a:solidFill>
                  <a:srgbClr val="C00000"/>
                </a:solidFill>
              </a:rPr>
              <a:t>, simplement en invoquant leur noms</a:t>
            </a:r>
            <a:r>
              <a:rPr lang="fr-FR" sz="4400" dirty="0" smtClean="0"/>
              <a:t>.</a:t>
            </a:r>
          </a:p>
          <a:p>
            <a:r>
              <a:rPr lang="fr-FR" sz="4400" b="1" dirty="0" smtClean="0">
                <a:solidFill>
                  <a:srgbClr val="C00000"/>
                </a:solidFill>
              </a:rPr>
              <a:t>La définition de la fonction doit précéder son premier appel.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/>
              <a:t>Fonctions(2)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2019300"/>
            <a:ext cx="11988800" cy="6096000"/>
          </a:xfrm>
        </p:spPr>
        <p:txBody>
          <a:bodyPr/>
          <a:lstStyle/>
          <a:p>
            <a:r>
              <a:rPr lang="fr-FR" sz="3200" dirty="0" smtClean="0"/>
              <a:t>Les fonctions peuvent récupérer des arguments qui leur sont passés et renvoyer un </a:t>
            </a:r>
            <a:r>
              <a:rPr lang="fr-FR" sz="3200" dirty="0" smtClean="0">
                <a:solidFill>
                  <a:srgbClr val="C00000"/>
                </a:solidFill>
              </a:rPr>
              <a:t>code de sortie</a:t>
            </a:r>
            <a:r>
              <a:rPr lang="fr-FR" sz="3200" dirty="0" smtClean="0"/>
              <a:t> au script pour utilisation ultérieure.</a:t>
            </a:r>
          </a:p>
          <a:p>
            <a:pPr algn="r">
              <a:buNone/>
            </a:pPr>
            <a:r>
              <a:rPr lang="fr-FR" b="1" dirty="0" err="1" smtClean="0">
                <a:solidFill>
                  <a:srgbClr val="002060"/>
                </a:solidFill>
              </a:rPr>
              <a:t>nom_fonction</a:t>
            </a:r>
            <a:r>
              <a:rPr lang="fr-FR" b="1" dirty="0" smtClean="0">
                <a:solidFill>
                  <a:srgbClr val="002060"/>
                </a:solidFill>
              </a:rPr>
              <a:t> $arg1 $arg2    : appel d’une fonction avec des argument</a:t>
            </a:r>
          </a:p>
          <a:p>
            <a:r>
              <a:rPr lang="fr-FR" sz="3200" dirty="0" smtClean="0"/>
              <a:t>  La fonction se réfère aux arguments passés par leur position (comme s'ils étaient des </a:t>
            </a:r>
            <a:r>
              <a:rPr lang="fr-FR" sz="3200" b="1" dirty="0" smtClean="0">
                <a:solidFill>
                  <a:srgbClr val="002060"/>
                </a:solidFill>
              </a:rPr>
              <a:t>paramètres positionnels</a:t>
            </a:r>
            <a:r>
              <a:rPr lang="fr-FR" sz="3200" dirty="0" smtClean="0"/>
              <a:t>), c'est-à-dire $1, $2 et ainsi de suite.</a:t>
            </a:r>
            <a:endParaRPr lang="fr-FR" sz="32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   </a:t>
            </a:r>
          </a:p>
          <a:p>
            <a:endParaRPr lang="fr-F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998" y="1827798"/>
            <a:ext cx="7077549" cy="429627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531" y="6124074"/>
            <a:ext cx="6682774" cy="2756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Accolade fermante 5"/>
          <p:cNvSpPr/>
          <p:nvPr/>
        </p:nvSpPr>
        <p:spPr>
          <a:xfrm>
            <a:off x="6285857" y="3332747"/>
            <a:ext cx="1438442" cy="2346159"/>
          </a:xfrm>
          <a:prstGeom prst="rightBrace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7585547" y="4269864"/>
            <a:ext cx="382604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Définition d’une fonction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414141"/>
              </a:solidFill>
              <a:effectLst/>
              <a:uFillTx/>
              <a:latin typeface="Palatino"/>
              <a:ea typeface="Palatino"/>
              <a:cs typeface="Palatino"/>
              <a:sym typeface="Palatino"/>
            </a:endParaRPr>
          </a:p>
        </p:txBody>
      </p:sp>
      <p:cxnSp>
        <p:nvCxnSpPr>
          <p:cNvPr id="10" name="Connecteur droit 9"/>
          <p:cNvCxnSpPr/>
          <p:nvPr/>
        </p:nvCxnSpPr>
        <p:spPr>
          <a:xfrm>
            <a:off x="6388768" y="8590549"/>
            <a:ext cx="2538663" cy="12032"/>
          </a:xfrm>
          <a:prstGeom prst="line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Connecteur droit avec flèche 11"/>
          <p:cNvCxnSpPr/>
          <p:nvPr/>
        </p:nvCxnSpPr>
        <p:spPr>
          <a:xfrm flipV="1">
            <a:off x="4644189" y="7098635"/>
            <a:ext cx="1455458" cy="637670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Connecteur droit avec flèche 14"/>
          <p:cNvCxnSpPr/>
          <p:nvPr/>
        </p:nvCxnSpPr>
        <p:spPr>
          <a:xfrm>
            <a:off x="4644189" y="7736305"/>
            <a:ext cx="1673850" cy="669760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ZoneTexte 13"/>
          <p:cNvSpPr txBox="1"/>
          <p:nvPr/>
        </p:nvSpPr>
        <p:spPr>
          <a:xfrm>
            <a:off x="507999" y="7323699"/>
            <a:ext cx="4256524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 smtClean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Appel d’une fonction</a:t>
            </a:r>
          </a:p>
          <a:p>
            <a:r>
              <a:rPr lang="fr-FR" b="1" dirty="0" err="1" smtClean="0"/>
              <a:t>Nom_fonction</a:t>
            </a:r>
            <a:r>
              <a:rPr lang="fr-FR" b="1" dirty="0" smtClean="0"/>
              <a:t> paramétre1 </a:t>
            </a:r>
            <a:endParaRPr kumimoji="0" lang="fr-FR" sz="2400" b="1" i="0" u="none" strike="noStrike" cap="none" spc="0" normalizeH="0" baseline="0" dirty="0">
              <a:ln>
                <a:noFill/>
              </a:ln>
              <a:solidFill>
                <a:srgbClr val="414141"/>
              </a:solidFill>
              <a:effectLst/>
              <a:uFillTx/>
              <a:sym typeface="Palatino"/>
            </a:endParaRPr>
          </a:p>
        </p:txBody>
      </p:sp>
      <p:cxnSp>
        <p:nvCxnSpPr>
          <p:cNvPr id="18" name="Connecteur droit 17"/>
          <p:cNvCxnSpPr/>
          <p:nvPr/>
        </p:nvCxnSpPr>
        <p:spPr>
          <a:xfrm>
            <a:off x="6454967" y="7198852"/>
            <a:ext cx="2538663" cy="12032"/>
          </a:xfrm>
          <a:prstGeom prst="line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04218933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b="1" dirty="0" smtClean="0"/>
              <a:t>Sortie et retour d’une fonction</a:t>
            </a:r>
            <a:endParaRPr lang="fr-FR" sz="540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2019300"/>
            <a:ext cx="11988800" cy="6096000"/>
          </a:xfrm>
        </p:spPr>
        <p:txBody>
          <a:bodyPr>
            <a:normAutofit/>
          </a:bodyPr>
          <a:lstStyle/>
          <a:p>
            <a:r>
              <a:rPr lang="fr-FR" sz="3200" b="1" dirty="0" smtClean="0"/>
              <a:t>code de sortie: </a:t>
            </a:r>
            <a:r>
              <a:rPr lang="fr-FR" sz="3200" dirty="0" smtClean="0"/>
              <a:t>Les fonctions renvoient une valeur, appelée un </a:t>
            </a:r>
            <a:r>
              <a:rPr lang="fr-FR" sz="3200" i="1" dirty="0" smtClean="0"/>
              <a:t>code (ou état) de sortie</a:t>
            </a:r>
            <a:r>
              <a:rPr lang="fr-FR" sz="3200" dirty="0" smtClean="0"/>
              <a:t>. Le code de sortie peut être explicitement spécifié par une instruction </a:t>
            </a:r>
            <a:r>
              <a:rPr lang="fr-FR" sz="3200" b="1" dirty="0" smtClean="0"/>
              <a:t>return</a:t>
            </a:r>
            <a:r>
              <a:rPr lang="fr-FR" sz="3200" dirty="0" smtClean="0"/>
              <a:t>, sinon, il s'agit du code de sortie de la dernière commande de la fonction (0 en cas de succès et une valeur non nulle sinon).</a:t>
            </a:r>
          </a:p>
          <a:p>
            <a:endParaRPr lang="fr-FR" sz="3200" dirty="0" smtClean="0"/>
          </a:p>
          <a:p>
            <a:endParaRPr lang="fr-FR" sz="32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b="1" dirty="0" smtClean="0"/>
              <a:t>Terminaisons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2628900"/>
            <a:ext cx="11988800" cy="5684921"/>
          </a:xfrm>
        </p:spPr>
        <p:txBody>
          <a:bodyPr/>
          <a:lstStyle/>
          <a:p>
            <a:r>
              <a:rPr lang="fr-FR" dirty="0" smtClean="0"/>
              <a:t>un script : </a:t>
            </a:r>
            <a:r>
              <a:rPr lang="fr-FR" b="1" dirty="0" smtClean="0">
                <a:solidFill>
                  <a:srgbClr val="002060"/>
                </a:solidFill>
              </a:rPr>
              <a:t>exit n</a:t>
            </a:r>
            <a:r>
              <a:rPr lang="fr-FR" dirty="0" smtClean="0"/>
              <a:t> (n = code de retour indiquant succès ou échec).</a:t>
            </a:r>
          </a:p>
          <a:p>
            <a:r>
              <a:rPr lang="fr-FR" dirty="0" smtClean="0"/>
              <a:t>une fonction : </a:t>
            </a:r>
            <a:r>
              <a:rPr lang="fr-FR" b="1" dirty="0" smtClean="0">
                <a:solidFill>
                  <a:srgbClr val="002060"/>
                </a:solidFill>
              </a:rPr>
              <a:t>return n</a:t>
            </a:r>
            <a:r>
              <a:rPr lang="fr-FR" dirty="0" smtClean="0">
                <a:solidFill>
                  <a:srgbClr val="002060"/>
                </a:solidFill>
              </a:rPr>
              <a:t> </a:t>
            </a:r>
            <a:r>
              <a:rPr lang="fr-FR" dirty="0" smtClean="0"/>
              <a:t>(n = code de retour indiquant succès ou échec).</a:t>
            </a:r>
          </a:p>
          <a:p>
            <a:r>
              <a:rPr lang="fr-FR" dirty="0" smtClean="0"/>
              <a:t>une boucle </a:t>
            </a:r>
            <a:r>
              <a:rPr lang="fr-FR" b="1" dirty="0" smtClean="0"/>
              <a:t>: </a:t>
            </a:r>
            <a:r>
              <a:rPr lang="fr-FR" b="1" dirty="0" smtClean="0">
                <a:solidFill>
                  <a:srgbClr val="002060"/>
                </a:solidFill>
              </a:rPr>
              <a:t>break n</a:t>
            </a:r>
            <a:r>
              <a:rPr lang="fr-FR" dirty="0" smtClean="0"/>
              <a:t> (n = </a:t>
            </a:r>
            <a:r>
              <a:rPr lang="fr-FR" sz="4000" dirty="0" smtClean="0"/>
              <a:t>nombre</a:t>
            </a:r>
            <a:r>
              <a:rPr lang="fr-FR" dirty="0" smtClean="0"/>
              <a:t> de boucles imbriquées dont on sort). </a:t>
            </a:r>
          </a:p>
          <a:p>
            <a:endParaRPr lang="fr-FR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    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 </a:t>
            </a:r>
            <a:endParaRPr lang="fr-F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01" y="1624263"/>
            <a:ext cx="5950700" cy="2586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408" y="2219879"/>
            <a:ext cx="4127750" cy="137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768623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 :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2602135"/>
            <a:ext cx="11988800" cy="6614054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#!/</a:t>
            </a:r>
            <a:r>
              <a:rPr lang="fr-FR" sz="8000" b="1" dirty="0" err="1" smtClean="0">
                <a:solidFill>
                  <a:srgbClr val="002060"/>
                </a:solidFill>
              </a:rPr>
              <a:t>bin</a:t>
            </a:r>
            <a:r>
              <a:rPr lang="fr-FR" sz="8000" b="1" dirty="0" smtClean="0">
                <a:solidFill>
                  <a:srgbClr val="002060"/>
                </a:solidFill>
              </a:rPr>
              <a:t>/</a:t>
            </a:r>
            <a:r>
              <a:rPr lang="fr-FR" sz="8000" b="1" dirty="0" err="1" smtClean="0">
                <a:solidFill>
                  <a:srgbClr val="002060"/>
                </a:solidFill>
              </a:rPr>
              <a:t>bash</a:t>
            </a:r>
            <a:endParaRPr lang="fr-FR" sz="8000" b="1" dirty="0" smtClean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# Fonction pour déterminer le Maximum de deux entiers.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fr-FR" sz="8000" b="1" dirty="0" smtClean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FF0000"/>
                </a:solidFill>
              </a:rPr>
              <a:t>ERREUR</a:t>
            </a:r>
            <a:r>
              <a:rPr lang="fr-FR" sz="8000" b="1" dirty="0" smtClean="0">
                <a:solidFill>
                  <a:srgbClr val="002060"/>
                </a:solidFill>
              </a:rPr>
              <a:t>=250    # Si moins de deux paramètres passés à la fonction.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FF0000"/>
                </a:solidFill>
              </a:rPr>
              <a:t>EGAL</a:t>
            </a:r>
            <a:r>
              <a:rPr lang="fr-FR" sz="8000" b="1" dirty="0" smtClean="0">
                <a:solidFill>
                  <a:srgbClr val="002060"/>
                </a:solidFill>
              </a:rPr>
              <a:t>=251           # Code de retour si les deux paramètres sont égaux.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fr-FR" sz="8000" b="1" dirty="0" smtClean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max ()            # Envoie le plus important des deux entiers.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{                 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70C0"/>
                </a:solidFill>
              </a:rPr>
              <a:t>if</a:t>
            </a:r>
            <a:r>
              <a:rPr lang="fr-FR" sz="8000" b="1" dirty="0" smtClean="0">
                <a:solidFill>
                  <a:srgbClr val="002060"/>
                </a:solidFill>
              </a:rPr>
              <a:t> [ -z "$2" ]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err="1" smtClean="0">
                <a:solidFill>
                  <a:srgbClr val="0070C0"/>
                </a:solidFill>
              </a:rPr>
              <a:t>then</a:t>
            </a:r>
            <a:endParaRPr lang="fr-FR" sz="8000" b="1" dirty="0" smtClean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return $</a:t>
            </a:r>
            <a:r>
              <a:rPr lang="fr-FR" sz="8000" b="1" dirty="0" smtClean="0">
                <a:solidFill>
                  <a:srgbClr val="FF0000"/>
                </a:solidFill>
              </a:rPr>
              <a:t>ERREUR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70C0"/>
                </a:solidFill>
              </a:rPr>
              <a:t>fi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fr-FR" sz="8000" b="1" dirty="0" smtClean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70C0"/>
                </a:solidFill>
              </a:rPr>
              <a:t>if</a:t>
            </a:r>
            <a:r>
              <a:rPr lang="fr-FR" sz="8000" b="1" dirty="0" smtClean="0">
                <a:solidFill>
                  <a:srgbClr val="002060"/>
                </a:solidFill>
              </a:rPr>
              <a:t> [ "$1" -</a:t>
            </a:r>
            <a:r>
              <a:rPr lang="fr-FR" sz="8000" b="1" dirty="0" err="1" smtClean="0">
                <a:solidFill>
                  <a:srgbClr val="002060"/>
                </a:solidFill>
              </a:rPr>
              <a:t>eq</a:t>
            </a:r>
            <a:r>
              <a:rPr lang="fr-FR" sz="8000" b="1" dirty="0" smtClean="0">
                <a:solidFill>
                  <a:srgbClr val="002060"/>
                </a:solidFill>
              </a:rPr>
              <a:t> "$2" ]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err="1" smtClean="0">
                <a:solidFill>
                  <a:srgbClr val="0070C0"/>
                </a:solidFill>
              </a:rPr>
              <a:t>then</a:t>
            </a:r>
            <a:endParaRPr lang="fr-FR" sz="8000" b="1" dirty="0" smtClean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return $</a:t>
            </a:r>
            <a:r>
              <a:rPr lang="fr-FR" sz="8000" b="1" dirty="0" smtClean="0">
                <a:solidFill>
                  <a:srgbClr val="FF0000"/>
                </a:solidFill>
              </a:rPr>
              <a:t>EGAL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err="1" smtClean="0">
                <a:solidFill>
                  <a:srgbClr val="0070C0"/>
                </a:solidFill>
              </a:rPr>
              <a:t>else</a:t>
            </a:r>
            <a:endParaRPr lang="fr-FR" sz="8000" b="1" dirty="0" smtClean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</a:t>
            </a:r>
            <a:r>
              <a:rPr lang="fr-FR" sz="8000" b="1" dirty="0" smtClean="0">
                <a:solidFill>
                  <a:srgbClr val="0070C0"/>
                </a:solidFill>
              </a:rPr>
              <a:t>if </a:t>
            </a:r>
            <a:r>
              <a:rPr lang="fr-FR" sz="8000" b="1" dirty="0" smtClean="0">
                <a:solidFill>
                  <a:srgbClr val="002060"/>
                </a:solidFill>
              </a:rPr>
              <a:t>[ "$1" -gt "$2" ]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</a:t>
            </a:r>
            <a:r>
              <a:rPr lang="fr-FR" sz="8000" b="1" dirty="0" err="1" smtClean="0">
                <a:solidFill>
                  <a:srgbClr val="0070C0"/>
                </a:solidFill>
              </a:rPr>
              <a:t>then</a:t>
            </a:r>
            <a:endParaRPr lang="fr-FR" sz="8000" b="1" dirty="0" smtClean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return $1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70C0"/>
                </a:solidFill>
              </a:rPr>
              <a:t>  </a:t>
            </a:r>
            <a:r>
              <a:rPr lang="fr-FR" sz="8000" b="1" dirty="0" err="1" smtClean="0">
                <a:solidFill>
                  <a:srgbClr val="0070C0"/>
                </a:solidFill>
              </a:rPr>
              <a:t>else</a:t>
            </a:r>
            <a:endParaRPr lang="fr-FR" sz="8000" b="1" dirty="0" smtClean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return $2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>
                <a:solidFill>
                  <a:srgbClr val="0070C0"/>
                </a:solidFill>
              </a:rPr>
              <a:t> </a:t>
            </a:r>
            <a:r>
              <a:rPr lang="fr-FR" sz="8000" b="1" dirty="0" smtClean="0">
                <a:solidFill>
                  <a:srgbClr val="0070C0"/>
                </a:solidFill>
              </a:rPr>
              <a:t> fi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>
                <a:solidFill>
                  <a:srgbClr val="0070C0"/>
                </a:solidFill>
              </a:rPr>
              <a:t> </a:t>
            </a:r>
            <a:r>
              <a:rPr lang="fr-FR" sz="8000" b="1" dirty="0" smtClean="0">
                <a:solidFill>
                  <a:srgbClr val="0070C0"/>
                </a:solidFill>
              </a:rPr>
              <a:t>fi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>
                <a:solidFill>
                  <a:srgbClr val="002060"/>
                </a:solidFill>
              </a:rPr>
              <a:t>}</a:t>
            </a:r>
            <a:endParaRPr lang="fr-FR" sz="8000" b="1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fr-FR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 (suite)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Max 33 34  </a:t>
            </a:r>
            <a:r>
              <a:rPr lang="fr-FR" sz="2800" b="1" dirty="0" smtClean="0">
                <a:solidFill>
                  <a:srgbClr val="FF0000"/>
                </a:solidFill>
              </a:rPr>
              <a:t>#appel de la fonction</a:t>
            </a:r>
            <a:r>
              <a:rPr lang="fr-FR" sz="2400" b="1" dirty="0" smtClean="0">
                <a:solidFill>
                  <a:srgbClr val="FF0000"/>
                </a:solidFill>
              </a:rPr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 err="1" smtClean="0">
                <a:solidFill>
                  <a:srgbClr val="002060"/>
                </a:solidFill>
              </a:rPr>
              <a:t>return_val</a:t>
            </a:r>
            <a:r>
              <a:rPr lang="fr-FR" sz="2000" b="1" dirty="0" smtClean="0">
                <a:solidFill>
                  <a:srgbClr val="002060"/>
                </a:solidFill>
              </a:rPr>
              <a:t>=$?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fr-FR" sz="2000" b="1" dirty="0" smtClean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if [ "$</a:t>
            </a:r>
            <a:r>
              <a:rPr lang="fr-FR" sz="2000" b="1" dirty="0" err="1" smtClean="0">
                <a:solidFill>
                  <a:srgbClr val="002060"/>
                </a:solidFill>
              </a:rPr>
              <a:t>return_val</a:t>
            </a:r>
            <a:r>
              <a:rPr lang="fr-FR" sz="2000" b="1" dirty="0" smtClean="0">
                <a:solidFill>
                  <a:srgbClr val="002060"/>
                </a:solidFill>
              </a:rPr>
              <a:t>" -</a:t>
            </a:r>
            <a:r>
              <a:rPr lang="fr-FR" sz="2000" b="1" dirty="0" err="1" smtClean="0">
                <a:solidFill>
                  <a:srgbClr val="002060"/>
                </a:solidFill>
              </a:rPr>
              <a:t>eq</a:t>
            </a:r>
            <a:r>
              <a:rPr lang="fr-FR" sz="2000" b="1" dirty="0" smtClean="0">
                <a:solidFill>
                  <a:srgbClr val="002060"/>
                </a:solidFill>
              </a:rPr>
              <a:t> $E_PARAM_ERR ]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 err="1" smtClean="0">
                <a:solidFill>
                  <a:srgbClr val="002060"/>
                </a:solidFill>
              </a:rPr>
              <a:t>then</a:t>
            </a:r>
            <a:endParaRPr lang="fr-FR" sz="2000" b="1" dirty="0" smtClean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    </a:t>
            </a:r>
            <a:r>
              <a:rPr lang="fr-FR" sz="2000" b="1" dirty="0" err="1" smtClean="0">
                <a:solidFill>
                  <a:srgbClr val="002060"/>
                </a:solidFill>
              </a:rPr>
              <a:t>echo</a:t>
            </a:r>
            <a:r>
              <a:rPr lang="fr-FR" sz="2000" b="1" dirty="0" smtClean="0">
                <a:solidFill>
                  <a:srgbClr val="002060"/>
                </a:solidFill>
              </a:rPr>
              <a:t> "Vous devez donner deux arguments à la fonction."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 err="1" smtClean="0">
                <a:solidFill>
                  <a:srgbClr val="002060"/>
                </a:solidFill>
              </a:rPr>
              <a:t>elif</a:t>
            </a:r>
            <a:r>
              <a:rPr lang="fr-FR" sz="2000" b="1" dirty="0" smtClean="0">
                <a:solidFill>
                  <a:srgbClr val="002060"/>
                </a:solidFill>
              </a:rPr>
              <a:t> [ "$</a:t>
            </a:r>
            <a:r>
              <a:rPr lang="fr-FR" sz="2000" b="1" dirty="0" err="1" smtClean="0">
                <a:solidFill>
                  <a:srgbClr val="002060"/>
                </a:solidFill>
              </a:rPr>
              <a:t>return_val</a:t>
            </a:r>
            <a:r>
              <a:rPr lang="fr-FR" sz="2000" b="1" dirty="0" smtClean="0">
                <a:solidFill>
                  <a:srgbClr val="002060"/>
                </a:solidFill>
              </a:rPr>
              <a:t>" -</a:t>
            </a:r>
            <a:r>
              <a:rPr lang="fr-FR" sz="2000" b="1" dirty="0" err="1" smtClean="0">
                <a:solidFill>
                  <a:srgbClr val="002060"/>
                </a:solidFill>
              </a:rPr>
              <a:t>eq</a:t>
            </a:r>
            <a:r>
              <a:rPr lang="fr-FR" sz="2000" b="1" dirty="0" smtClean="0">
                <a:solidFill>
                  <a:srgbClr val="002060"/>
                </a:solidFill>
              </a:rPr>
              <a:t> $EGAL ]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</a:t>
            </a:r>
            <a:r>
              <a:rPr lang="fr-FR" sz="2000" b="1" dirty="0" err="1" smtClean="0">
                <a:solidFill>
                  <a:srgbClr val="002060"/>
                </a:solidFill>
              </a:rPr>
              <a:t>then</a:t>
            </a:r>
            <a:endParaRPr lang="fr-FR" sz="2000" b="1" dirty="0" smtClean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</a:t>
            </a:r>
            <a:r>
              <a:rPr lang="fr-FR" sz="2000" b="1" dirty="0" err="1" smtClean="0">
                <a:solidFill>
                  <a:srgbClr val="002060"/>
                </a:solidFill>
              </a:rPr>
              <a:t>echo</a:t>
            </a:r>
            <a:r>
              <a:rPr lang="fr-FR" sz="2000" b="1" dirty="0" smtClean="0">
                <a:solidFill>
                  <a:srgbClr val="002060"/>
                </a:solidFill>
              </a:rPr>
              <a:t> "Les deux nombres sont identiques."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 err="1" smtClean="0">
                <a:solidFill>
                  <a:srgbClr val="002060"/>
                </a:solidFill>
              </a:rPr>
              <a:t>else</a:t>
            </a:r>
            <a:endParaRPr lang="fr-FR" sz="2000" b="1" dirty="0" smtClean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</a:t>
            </a:r>
            <a:r>
              <a:rPr lang="fr-FR" sz="2000" b="1" dirty="0" err="1" smtClean="0">
                <a:solidFill>
                  <a:srgbClr val="002060"/>
                </a:solidFill>
              </a:rPr>
              <a:t>echo</a:t>
            </a:r>
            <a:r>
              <a:rPr lang="fr-FR" sz="2000" b="1" dirty="0" smtClean="0">
                <a:solidFill>
                  <a:srgbClr val="002060"/>
                </a:solidFill>
              </a:rPr>
              <a:t> "Le plus grand des deux nombres est $</a:t>
            </a:r>
            <a:r>
              <a:rPr lang="fr-FR" sz="2000" b="1" dirty="0" err="1" smtClean="0">
                <a:solidFill>
                  <a:srgbClr val="002060"/>
                </a:solidFill>
              </a:rPr>
              <a:t>return_val</a:t>
            </a:r>
            <a:r>
              <a:rPr lang="fr-FR" sz="2000" b="1" dirty="0" smtClean="0">
                <a:solidFill>
                  <a:srgbClr val="002060"/>
                </a:solidFill>
              </a:rPr>
              <a:t>."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fi 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fr-FR" sz="2000" b="1" dirty="0" smtClean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exit 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Exercices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Écrire un script calculatrice permettant d’effectuer l’une des opérations arithmétiques suivantes (somme, multiplication ,soustraction, division) selon le choix de l’utilisateur et sur 2 entiers lus au clavier.</a:t>
            </a:r>
          </a:p>
          <a:p>
            <a:pPr marL="0" indent="0">
              <a:buNone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/>
              <a:t>Gestion de menu avec select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3657600"/>
            <a:ext cx="12496800" cy="5685183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fr-FR" sz="4500" b="1" dirty="0" smtClean="0">
                <a:solidFill>
                  <a:srgbClr val="002060"/>
                </a:solidFill>
              </a:rPr>
              <a:t>select </a:t>
            </a:r>
            <a:r>
              <a:rPr lang="fr-FR" sz="4500" b="1" dirty="0" smtClean="0">
                <a:solidFill>
                  <a:srgbClr val="FF0000"/>
                </a:solidFill>
              </a:rPr>
              <a:t>var</a:t>
            </a:r>
            <a:r>
              <a:rPr lang="fr-FR" sz="4500" b="1" dirty="0" smtClean="0">
                <a:solidFill>
                  <a:srgbClr val="002060"/>
                </a:solidFill>
              </a:rPr>
              <a:t> in item1 item2 item3 ..... </a:t>
            </a:r>
            <a:r>
              <a:rPr lang="fr-FR" sz="4500" b="1" dirty="0" err="1" smtClean="0">
                <a:solidFill>
                  <a:srgbClr val="002060"/>
                </a:solidFill>
              </a:rPr>
              <a:t>itemn</a:t>
            </a:r>
            <a:endParaRPr lang="fr-FR" sz="4500" b="1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fr-FR" sz="4500" b="1" dirty="0" smtClean="0">
                <a:solidFill>
                  <a:srgbClr val="002060"/>
                </a:solidFill>
              </a:rPr>
              <a:t>do</a:t>
            </a:r>
          </a:p>
          <a:p>
            <a:pPr>
              <a:buNone/>
            </a:pPr>
            <a:r>
              <a:rPr lang="fr-FR" sz="4500" b="1" dirty="0" smtClean="0">
                <a:solidFill>
                  <a:srgbClr val="002060"/>
                </a:solidFill>
              </a:rPr>
              <a:t>     commandes</a:t>
            </a:r>
          </a:p>
          <a:p>
            <a:pPr>
              <a:buNone/>
            </a:pPr>
            <a:r>
              <a:rPr lang="fr-FR" sz="4500" b="1" dirty="0" err="1" smtClean="0">
                <a:solidFill>
                  <a:srgbClr val="002060"/>
                </a:solidFill>
              </a:rPr>
              <a:t>done</a:t>
            </a:r>
            <a:endParaRPr lang="fr-FR" sz="4500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fr-FR" sz="2800" b="1" dirty="0" smtClean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fr-FR" sz="4000" dirty="0" smtClean="0"/>
              <a:t>      La commande interne </a:t>
            </a:r>
            <a:r>
              <a:rPr lang="fr-FR" sz="4000" b="1" dirty="0" smtClean="0"/>
              <a:t>select </a:t>
            </a:r>
            <a:r>
              <a:rPr lang="fr-FR" sz="4000" dirty="0" smtClean="0"/>
              <a:t>est une structure de contrôle de type boucle qui permet d'afficher de manière cyclique un menu.</a:t>
            </a:r>
            <a:br>
              <a:rPr lang="fr-FR" sz="4000" dirty="0" smtClean="0"/>
            </a:br>
            <a:r>
              <a:rPr lang="fr-FR" sz="4000" dirty="0" smtClean="0"/>
              <a:t>La liste des items sera affichée à l'écran à chaque tour de boucle.</a:t>
            </a:r>
            <a:br>
              <a:rPr lang="fr-FR" sz="4000" dirty="0" smtClean="0"/>
            </a:br>
            <a:r>
              <a:rPr lang="fr-FR" sz="4000" dirty="0" smtClean="0"/>
              <a:t>Les items sont indicés automatiquement.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fr-FR" sz="4000" dirty="0" smtClean="0"/>
              <a:t>      La variable </a:t>
            </a:r>
            <a:r>
              <a:rPr lang="fr-FR" sz="4000" b="1" i="1" dirty="0" smtClean="0"/>
              <a:t>var</a:t>
            </a:r>
            <a:r>
              <a:rPr lang="fr-FR" sz="4000" i="1" dirty="0" smtClean="0"/>
              <a:t> </a:t>
            </a:r>
            <a:r>
              <a:rPr lang="fr-FR" sz="4000" dirty="0" smtClean="0"/>
              <a:t>sera initialisée avec l'item correspondant au choix de l'utilisateur.</a:t>
            </a:r>
            <a:endParaRPr lang="fr-FR" sz="4000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fr-FR" sz="2800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fr-FR" sz="2800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fr-FR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La commande </a:t>
            </a:r>
            <a:r>
              <a:rPr lang="fr-FR" b="1" dirty="0" smtClean="0"/>
              <a:t>Select</a:t>
            </a:r>
            <a:endParaRPr lang="fr-FR" b="1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fr-FR" sz="2800" dirty="0" smtClean="0"/>
              <a:t>Cette commande utilise également deux variables réservées .</a:t>
            </a:r>
          </a:p>
          <a:p>
            <a:pPr fontAlgn="base"/>
            <a:r>
              <a:rPr lang="fr-FR" sz="2800" dirty="0" smtClean="0"/>
              <a:t>La variable </a:t>
            </a:r>
            <a:r>
              <a:rPr lang="fr-FR" sz="2800" b="1" dirty="0" smtClean="0"/>
              <a:t>PS3 </a:t>
            </a:r>
            <a:r>
              <a:rPr lang="fr-FR" sz="2800" dirty="0" smtClean="0"/>
              <a:t>représente le prompt utilisé pour la saisie du choix de l'utilisateur.</a:t>
            </a:r>
            <a:br>
              <a:rPr lang="fr-FR" sz="2800" dirty="0" smtClean="0"/>
            </a:br>
            <a:endParaRPr lang="fr-FR" sz="2800" dirty="0" smtClean="0"/>
          </a:p>
          <a:p>
            <a:pPr fontAlgn="base"/>
            <a:r>
              <a:rPr lang="fr-FR" sz="2800" dirty="0" smtClean="0"/>
              <a:t>La variable </a:t>
            </a:r>
            <a:r>
              <a:rPr lang="fr-FR" sz="2800" b="1" dirty="0" smtClean="0"/>
              <a:t>REPLY </a:t>
            </a:r>
            <a:r>
              <a:rPr lang="fr-FR" sz="2800" dirty="0" smtClean="0"/>
              <a:t>qui contient l'indice de l'item sélectionné.</a:t>
            </a:r>
          </a:p>
          <a:p>
            <a:endParaRPr lang="fr-FR" sz="28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463215"/>
            <a:ext cx="11988800" cy="1219200"/>
          </a:xfrm>
        </p:spPr>
        <p:txBody>
          <a:bodyPr/>
          <a:lstStyle/>
          <a:p>
            <a:r>
              <a:rPr lang="fr-FR" dirty="0" smtClean="0"/>
              <a:t>Exemple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17500" y="2735410"/>
            <a:ext cx="12496800" cy="6096000"/>
          </a:xfrm>
        </p:spPr>
        <p:txBody>
          <a:bodyPr>
            <a:noAutofit/>
          </a:bodyPr>
          <a:lstStyle/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#!/bin/</a:t>
            </a:r>
            <a:r>
              <a:rPr lang="fr-FR" sz="2000" b="1" dirty="0" err="1" smtClean="0">
                <a:solidFill>
                  <a:srgbClr val="002060"/>
                </a:solidFill>
              </a:rPr>
              <a:t>bash</a:t>
            </a:r>
            <a:endParaRPr lang="fr-FR" sz="2000" b="1" dirty="0" smtClean="0">
              <a:solidFill>
                <a:srgbClr val="002060"/>
              </a:solidFill>
            </a:endParaRPr>
          </a:p>
          <a:p>
            <a:pPr marL="324000" indent="0">
              <a:spcBef>
                <a:spcPts val="0"/>
              </a:spcBef>
              <a:buNone/>
            </a:pPr>
            <a:endParaRPr lang="fr-FR" sz="2400" b="1" dirty="0" smtClean="0">
              <a:solidFill>
                <a:srgbClr val="002060"/>
              </a:solidFill>
            </a:endParaRPr>
          </a:p>
          <a:p>
            <a:pPr marL="324000" indent="0">
              <a:spcBef>
                <a:spcPts val="0"/>
              </a:spcBef>
              <a:buNone/>
            </a:pPr>
            <a:r>
              <a:rPr lang="fr-FR" sz="2400" b="1" dirty="0" smtClean="0">
                <a:solidFill>
                  <a:srgbClr val="002060"/>
                </a:solidFill>
              </a:rPr>
              <a:t> </a:t>
            </a:r>
            <a:r>
              <a:rPr lang="fr-FR" sz="2000" b="1" dirty="0">
                <a:solidFill>
                  <a:srgbClr val="92D050"/>
                </a:solidFill>
              </a:rPr>
              <a:t>#création d’un message </a:t>
            </a:r>
            <a:r>
              <a:rPr lang="fr-FR" sz="2000" b="1" dirty="0" err="1">
                <a:solidFill>
                  <a:srgbClr val="92D050"/>
                </a:solidFill>
              </a:rPr>
              <a:t>Promp</a:t>
            </a:r>
            <a:r>
              <a:rPr lang="fr-FR" sz="2000" b="1" dirty="0">
                <a:solidFill>
                  <a:srgbClr val="92D050"/>
                </a:solidFill>
              </a:rPr>
              <a:t> pour saisir votre choix toujours avant la structure </a:t>
            </a:r>
            <a:r>
              <a:rPr lang="fr-FR" sz="2000" b="1" dirty="0" smtClean="0">
                <a:solidFill>
                  <a:srgbClr val="92D050"/>
                </a:solidFill>
              </a:rPr>
              <a:t>select</a:t>
            </a:r>
            <a:endParaRPr lang="fr-FR" sz="2000" b="1" dirty="0" smtClean="0">
              <a:solidFill>
                <a:srgbClr val="002060"/>
              </a:solidFill>
            </a:endParaRP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FF0000"/>
                </a:solidFill>
              </a:rPr>
              <a:t>   PS3</a:t>
            </a:r>
            <a:r>
              <a:rPr lang="fr-FR" sz="2000" b="1" dirty="0" smtClean="0">
                <a:solidFill>
                  <a:srgbClr val="002060"/>
                </a:solidFill>
              </a:rPr>
              <a:t>="Votre choix :  » </a:t>
            </a:r>
            <a:endParaRPr lang="fr-FR" sz="2000" b="1" dirty="0" smtClean="0">
              <a:solidFill>
                <a:srgbClr val="002060"/>
              </a:solidFill>
            </a:endParaRPr>
          </a:p>
          <a:p>
            <a:pPr marL="324000" indent="0">
              <a:spcBef>
                <a:spcPts val="0"/>
              </a:spcBef>
              <a:buNone/>
            </a:pPr>
            <a:endParaRPr lang="fr-FR" sz="2000" b="1" dirty="0" smtClean="0">
              <a:solidFill>
                <a:srgbClr val="002060"/>
              </a:solidFill>
            </a:endParaRP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>
                <a:solidFill>
                  <a:srgbClr val="92D050"/>
                </a:solidFill>
              </a:rPr>
              <a:t>#création d’un menu avec la </a:t>
            </a:r>
            <a:r>
              <a:rPr lang="fr-FR" sz="2000" b="1" dirty="0" smtClean="0">
                <a:solidFill>
                  <a:srgbClr val="92D050"/>
                </a:solidFill>
              </a:rPr>
              <a:t>structure </a:t>
            </a:r>
            <a:r>
              <a:rPr lang="fr-FR" sz="2000" b="1" u="sng" dirty="0" smtClean="0">
                <a:solidFill>
                  <a:srgbClr val="92D050"/>
                </a:solidFill>
              </a:rPr>
              <a:t>select</a:t>
            </a:r>
            <a:endParaRPr lang="fr-FR" sz="2000" b="1" u="sng" dirty="0" smtClean="0">
              <a:solidFill>
                <a:srgbClr val="002060"/>
              </a:solidFill>
            </a:endParaRP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select </a:t>
            </a:r>
            <a:r>
              <a:rPr lang="fr-FR" sz="2000" b="1" dirty="0" smtClean="0">
                <a:solidFill>
                  <a:srgbClr val="00B050"/>
                </a:solidFill>
              </a:rPr>
              <a:t>item</a:t>
            </a:r>
            <a:r>
              <a:rPr lang="fr-FR" sz="2000" b="1" dirty="0" smtClean="0">
                <a:solidFill>
                  <a:srgbClr val="002060"/>
                </a:solidFill>
              </a:rPr>
              <a:t> in "- Sauvegarde -" "- Restauration -" "- Fin -" </a:t>
            </a:r>
            <a:endParaRPr lang="fr-FR" sz="2000" b="1" dirty="0" smtClean="0">
              <a:solidFill>
                <a:srgbClr val="002060"/>
              </a:solidFill>
            </a:endParaRPr>
          </a:p>
          <a:p>
            <a:pPr marL="324000" indent="0">
              <a:spcBef>
                <a:spcPts val="0"/>
              </a:spcBef>
              <a:buNone/>
            </a:pPr>
            <a:r>
              <a:rPr lang="fr-FR" sz="1800" b="1" dirty="0" smtClean="0">
                <a:solidFill>
                  <a:srgbClr val="92D050"/>
                </a:solidFill>
              </a:rPr>
              <a:t># initialiser </a:t>
            </a:r>
            <a:r>
              <a:rPr lang="fr-FR" sz="1800" b="1" dirty="0" smtClean="0">
                <a:solidFill>
                  <a:srgbClr val="92D050"/>
                </a:solidFill>
              </a:rPr>
              <a:t>la variable </a:t>
            </a:r>
            <a:r>
              <a:rPr lang="fr-FR" sz="1800" b="1" u="sng" dirty="0" smtClean="0">
                <a:solidFill>
                  <a:srgbClr val="92D050"/>
                </a:solidFill>
              </a:rPr>
              <a:t>item</a:t>
            </a:r>
            <a:r>
              <a:rPr lang="fr-FR" sz="1800" b="1" dirty="0" smtClean="0">
                <a:solidFill>
                  <a:srgbClr val="92D050"/>
                </a:solidFill>
              </a:rPr>
              <a:t> avec la liste </a:t>
            </a:r>
            <a:r>
              <a:rPr lang="fr-FR" sz="1800" b="1" dirty="0" smtClean="0">
                <a:solidFill>
                  <a:srgbClr val="92D050"/>
                </a:solidFill>
              </a:rPr>
              <a:t>des items « sauvegarde, </a:t>
            </a:r>
            <a:r>
              <a:rPr lang="fr-FR" sz="1800" b="1" dirty="0" err="1" smtClean="0">
                <a:solidFill>
                  <a:srgbClr val="92D050"/>
                </a:solidFill>
              </a:rPr>
              <a:t>restoration</a:t>
            </a:r>
            <a:r>
              <a:rPr lang="fr-FR" sz="1800" b="1" dirty="0" smtClean="0">
                <a:solidFill>
                  <a:srgbClr val="92D050"/>
                </a:solidFill>
              </a:rPr>
              <a:t>, fin »</a:t>
            </a:r>
            <a:endParaRPr lang="fr-FR" sz="1800" b="1" dirty="0" smtClean="0">
              <a:solidFill>
                <a:srgbClr val="92D050"/>
              </a:solidFill>
            </a:endParaRP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  </a:t>
            </a:r>
            <a:r>
              <a:rPr lang="fr-FR" sz="2000" b="1" dirty="0" smtClean="0">
                <a:solidFill>
                  <a:srgbClr val="002060"/>
                </a:solidFill>
              </a:rPr>
              <a:t>do</a:t>
            </a: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>
                <a:solidFill>
                  <a:srgbClr val="92D050"/>
                </a:solidFill>
              </a:rPr>
              <a:t>#afficher l'indice de l'item sélectionné avec la variable réservé REPLY</a:t>
            </a:r>
            <a:r>
              <a:rPr lang="fr-FR" sz="2000" b="1" dirty="0" smtClean="0">
                <a:solidFill>
                  <a:srgbClr val="92D050"/>
                </a:solidFill>
              </a:rPr>
              <a:t>.</a:t>
            </a:r>
            <a:endParaRPr lang="fr-FR" sz="2000" b="1" dirty="0" smtClean="0">
              <a:solidFill>
                <a:srgbClr val="002060"/>
              </a:solidFill>
            </a:endParaRP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      </a:t>
            </a:r>
            <a:r>
              <a:rPr lang="fr-FR" sz="2000" b="1" dirty="0" err="1">
                <a:solidFill>
                  <a:srgbClr val="002060"/>
                </a:solidFill>
              </a:rPr>
              <a:t>echo</a:t>
            </a:r>
            <a:r>
              <a:rPr lang="fr-FR" sz="2000" b="1" dirty="0">
                <a:solidFill>
                  <a:srgbClr val="002060"/>
                </a:solidFill>
              </a:rPr>
              <a:t> "Vous avez choisi l'item </a:t>
            </a:r>
            <a:r>
              <a:rPr lang="fr-FR" sz="2000" b="1" dirty="0">
                <a:solidFill>
                  <a:srgbClr val="FF0000"/>
                </a:solidFill>
              </a:rPr>
              <a:t>$REPLY </a:t>
            </a:r>
            <a:r>
              <a:rPr lang="fr-FR" sz="2000" b="1" dirty="0">
                <a:solidFill>
                  <a:srgbClr val="002060"/>
                </a:solidFill>
              </a:rPr>
              <a:t>: </a:t>
            </a:r>
            <a:r>
              <a:rPr lang="fr-FR" sz="2000" b="1" dirty="0">
                <a:solidFill>
                  <a:srgbClr val="00B050"/>
                </a:solidFill>
              </a:rPr>
              <a:t>$</a:t>
            </a:r>
            <a:r>
              <a:rPr lang="fr-FR" sz="2000" b="1" dirty="0" smtClean="0">
                <a:solidFill>
                  <a:srgbClr val="00B050"/>
                </a:solidFill>
              </a:rPr>
              <a:t>item</a:t>
            </a:r>
            <a:r>
              <a:rPr lang="fr-FR" sz="2000" b="1" dirty="0" smtClean="0">
                <a:solidFill>
                  <a:srgbClr val="002060"/>
                </a:solidFill>
              </a:rPr>
              <a:t>« </a:t>
            </a:r>
          </a:p>
          <a:p>
            <a:pPr marL="324000" indent="0">
              <a:spcBef>
                <a:spcPts val="0"/>
              </a:spcBef>
              <a:buNone/>
            </a:pPr>
            <a:endParaRPr lang="fr-FR" sz="2000" b="1" dirty="0" smtClean="0">
              <a:solidFill>
                <a:srgbClr val="002060"/>
              </a:solidFill>
            </a:endParaRP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case </a:t>
            </a:r>
            <a:r>
              <a:rPr lang="fr-FR" sz="2000" b="1" dirty="0" smtClean="0">
                <a:solidFill>
                  <a:srgbClr val="FF0000"/>
                </a:solidFill>
              </a:rPr>
              <a:t>$REPLY </a:t>
            </a:r>
            <a:r>
              <a:rPr lang="fr-FR" sz="2000" b="1" dirty="0" smtClean="0">
                <a:solidFill>
                  <a:srgbClr val="002060"/>
                </a:solidFill>
              </a:rPr>
              <a:t>in                      </a:t>
            </a:r>
            <a:r>
              <a:rPr lang="fr-FR" sz="1800" b="1" dirty="0" smtClean="0">
                <a:solidFill>
                  <a:srgbClr val="92D050"/>
                </a:solidFill>
              </a:rPr>
              <a:t>#vérifier de manière  multiple le contenu de REPLAY</a:t>
            </a: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              1)</a:t>
            </a: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92D050"/>
                </a:solidFill>
              </a:rPr>
              <a:t>                        </a:t>
            </a:r>
            <a:r>
              <a:rPr lang="fr-FR" sz="1800" b="1" dirty="0" smtClean="0">
                <a:solidFill>
                  <a:srgbClr val="92D050"/>
                </a:solidFill>
              </a:rPr>
              <a:t># lancement de la sauvegarde</a:t>
            </a: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                      </a:t>
            </a:r>
            <a:r>
              <a:rPr lang="fr-FR" sz="2000" b="1" dirty="0" err="1" smtClean="0">
                <a:solidFill>
                  <a:srgbClr val="002060"/>
                </a:solidFill>
              </a:rPr>
              <a:t>echo</a:t>
            </a:r>
            <a:r>
              <a:rPr lang="fr-FR" sz="2000" b="1" dirty="0" smtClean="0">
                <a:solidFill>
                  <a:srgbClr val="002060"/>
                </a:solidFill>
              </a:rPr>
              <a:t> "Lancement de la sauvegarde"</a:t>
            </a: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                    ;;</a:t>
            </a: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              2)</a:t>
            </a:r>
          </a:p>
          <a:p>
            <a:pPr marL="324000" indent="0">
              <a:spcBef>
                <a:spcPts val="0"/>
              </a:spcBef>
              <a:buNone/>
            </a:pPr>
            <a:r>
              <a:rPr lang="fr-FR" sz="1800" b="1" dirty="0" smtClean="0">
                <a:solidFill>
                  <a:srgbClr val="92D050"/>
                </a:solidFill>
              </a:rPr>
              <a:t>                          # lancement de la restauration</a:t>
            </a: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                      </a:t>
            </a:r>
            <a:r>
              <a:rPr lang="fr-FR" sz="2000" b="1" dirty="0" err="1" smtClean="0">
                <a:solidFill>
                  <a:srgbClr val="002060"/>
                </a:solidFill>
              </a:rPr>
              <a:t>echo</a:t>
            </a:r>
            <a:r>
              <a:rPr lang="fr-FR" sz="2000" b="1" dirty="0" smtClean="0">
                <a:solidFill>
                  <a:srgbClr val="002060"/>
                </a:solidFill>
              </a:rPr>
              <a:t> "Lancement de la restauration"</a:t>
            </a: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                    ;;</a:t>
            </a: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              3)</a:t>
            </a: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                    </a:t>
            </a:r>
            <a:r>
              <a:rPr lang="fr-FR" sz="2000" b="1" dirty="0" err="1" smtClean="0">
                <a:solidFill>
                  <a:srgbClr val="002060"/>
                </a:solidFill>
              </a:rPr>
              <a:t>echo</a:t>
            </a:r>
            <a:r>
              <a:rPr lang="fr-FR" sz="2000" b="1" dirty="0" smtClean="0">
                <a:solidFill>
                  <a:srgbClr val="002060"/>
                </a:solidFill>
              </a:rPr>
              <a:t> "Fin du script"</a:t>
            </a: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                    exit </a:t>
            </a:r>
            <a:r>
              <a:rPr lang="fr-FR" sz="2000" b="1" dirty="0" smtClean="0">
                <a:solidFill>
                  <a:srgbClr val="002060"/>
                </a:solidFill>
              </a:rPr>
              <a:t>      </a:t>
            </a:r>
            <a:r>
              <a:rPr lang="fr-FR" sz="2000" b="1" dirty="0" smtClean="0">
                <a:solidFill>
                  <a:srgbClr val="92D050"/>
                </a:solidFill>
              </a:rPr>
              <a:t>#sortir du script </a:t>
            </a: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                   ;;</a:t>
            </a: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              *)</a:t>
            </a: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                    </a:t>
            </a:r>
            <a:r>
              <a:rPr lang="fr-FR" sz="2000" b="1" dirty="0" err="1" smtClean="0">
                <a:solidFill>
                  <a:srgbClr val="002060"/>
                </a:solidFill>
              </a:rPr>
              <a:t>echo</a:t>
            </a:r>
            <a:r>
              <a:rPr lang="fr-FR" sz="2000" b="1" dirty="0" smtClean="0">
                <a:solidFill>
                  <a:srgbClr val="002060"/>
                </a:solidFill>
              </a:rPr>
              <a:t> "Choix incorrect"</a:t>
            </a: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                    ;;</a:t>
            </a: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          </a:t>
            </a:r>
            <a:r>
              <a:rPr lang="fr-FR" sz="2000" b="1" dirty="0" err="1" smtClean="0">
                <a:solidFill>
                  <a:srgbClr val="002060"/>
                </a:solidFill>
              </a:rPr>
              <a:t>esac</a:t>
            </a:r>
            <a:endParaRPr lang="fr-FR" sz="2000" b="1" dirty="0" smtClean="0">
              <a:solidFill>
                <a:srgbClr val="002060"/>
              </a:solidFill>
            </a:endParaRPr>
          </a:p>
          <a:p>
            <a:pPr marL="324000" indent="0">
              <a:spcBef>
                <a:spcPts val="0"/>
              </a:spcBef>
              <a:buNone/>
            </a:pPr>
            <a:r>
              <a:rPr lang="fr-FR" sz="2000" b="1" dirty="0" smtClean="0">
                <a:solidFill>
                  <a:srgbClr val="002060"/>
                </a:solidFill>
              </a:rPr>
              <a:t>      </a:t>
            </a:r>
            <a:r>
              <a:rPr lang="fr-FR" sz="2000" b="1" dirty="0" err="1" smtClean="0">
                <a:solidFill>
                  <a:srgbClr val="002060"/>
                </a:solidFill>
              </a:rPr>
              <a:t>done</a:t>
            </a:r>
            <a:endParaRPr lang="fr-FR" sz="2000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fr-FR" sz="2000" b="1" dirty="0">
              <a:solidFill>
                <a:srgbClr val="00206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86353" y="5506278"/>
            <a:ext cx="5918447" cy="3283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fr-FR" sz="4800" dirty="0" smtClean="0"/>
              <a:t>Récupération des arguments avec </a:t>
            </a:r>
            <a:r>
              <a:rPr lang="fr-FR" sz="4800" dirty="0" err="1" smtClean="0"/>
              <a:t>getopts</a:t>
            </a:r>
            <a:r>
              <a:rPr lang="fr-FR" sz="4800" dirty="0" smtClean="0"/>
              <a:t/>
            </a:r>
            <a:br>
              <a:rPr lang="fr-FR" sz="4800" dirty="0" smtClean="0"/>
            </a:br>
            <a:endParaRPr lang="fr-FR" sz="480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u="sng" dirty="0" smtClean="0"/>
              <a:t>Syntaxe :</a:t>
            </a:r>
            <a:endParaRPr lang="fr-FR" dirty="0" smtClean="0"/>
          </a:p>
          <a:p>
            <a:pPr>
              <a:buNone/>
            </a:pPr>
            <a:r>
              <a:rPr lang="fr-FR" b="1" i="1" dirty="0" smtClean="0"/>
              <a:t>         </a:t>
            </a:r>
            <a:r>
              <a:rPr lang="fr-FR" b="1" i="1" dirty="0" err="1" smtClean="0"/>
              <a:t>getopts</a:t>
            </a:r>
            <a:r>
              <a:rPr lang="fr-FR" b="1" i="1" dirty="0" smtClean="0"/>
              <a:t> </a:t>
            </a:r>
            <a:r>
              <a:rPr lang="fr-FR" b="1" i="1" dirty="0" err="1" smtClean="0">
                <a:solidFill>
                  <a:srgbClr val="002060"/>
                </a:solidFill>
              </a:rPr>
              <a:t>listeOptionsAttendues</a:t>
            </a:r>
            <a:r>
              <a:rPr lang="fr-FR" i="1" dirty="0" smtClean="0"/>
              <a:t> </a:t>
            </a:r>
            <a:r>
              <a:rPr lang="fr-FR" b="1" i="1" dirty="0" smtClean="0">
                <a:solidFill>
                  <a:srgbClr val="C00000"/>
                </a:solidFill>
              </a:rPr>
              <a:t>option</a:t>
            </a:r>
            <a:endParaRPr lang="fr-FR" b="1" dirty="0" smtClean="0">
              <a:solidFill>
                <a:srgbClr val="C00000"/>
              </a:solidFill>
            </a:endParaRPr>
          </a:p>
          <a:p>
            <a:r>
              <a:rPr lang="fr-FR" dirty="0" smtClean="0"/>
              <a:t>La commande interne </a:t>
            </a:r>
            <a:r>
              <a:rPr lang="fr-FR" b="1" dirty="0" err="1" smtClean="0"/>
              <a:t>getopts</a:t>
            </a:r>
            <a:r>
              <a:rPr lang="fr-FR" b="1" dirty="0" smtClean="0"/>
              <a:t> </a:t>
            </a:r>
            <a:r>
              <a:rPr lang="fr-FR" dirty="0" smtClean="0"/>
              <a:t>permet à un script d'</a:t>
            </a:r>
            <a:r>
              <a:rPr lang="fr-FR" dirty="0" err="1" smtClean="0"/>
              <a:t>anayser</a:t>
            </a:r>
            <a:r>
              <a:rPr lang="fr-FR" dirty="0" smtClean="0"/>
              <a:t> les options passées en argument.</a:t>
            </a:r>
            <a:br>
              <a:rPr lang="fr-FR" dirty="0" smtClean="0"/>
            </a:br>
            <a:r>
              <a:rPr lang="fr-FR" dirty="0" smtClean="0"/>
              <a:t>Chaque appel à la commande </a:t>
            </a:r>
            <a:r>
              <a:rPr lang="fr-FR" b="1" dirty="0" err="1" smtClean="0"/>
              <a:t>getopts</a:t>
            </a:r>
            <a:r>
              <a:rPr lang="fr-FR" b="1" dirty="0" smtClean="0"/>
              <a:t> </a:t>
            </a:r>
            <a:r>
              <a:rPr lang="fr-FR" dirty="0" smtClean="0"/>
              <a:t>analyse l'option suivante de la ligne de commande.</a:t>
            </a:r>
            <a:br>
              <a:rPr lang="fr-FR" dirty="0" smtClean="0"/>
            </a:br>
            <a:r>
              <a:rPr lang="fr-FR" dirty="0" smtClean="0"/>
              <a:t>Pour vérifier la validité de chacune des options, il faut appeler </a:t>
            </a:r>
            <a:r>
              <a:rPr lang="fr-FR" b="1" dirty="0" err="1" smtClean="0"/>
              <a:t>getopts</a:t>
            </a:r>
            <a:r>
              <a:rPr lang="fr-FR" b="1" dirty="0" smtClean="0"/>
              <a:t> </a:t>
            </a:r>
            <a:r>
              <a:rPr lang="fr-FR" dirty="0" smtClean="0"/>
              <a:t>à partir d'une boucle.</a:t>
            </a:r>
            <a:endParaRPr lang="fr-FR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800" b="1" dirty="0" smtClean="0"/>
              <a:t>Récupération des arguments avec </a:t>
            </a:r>
            <a:r>
              <a:rPr lang="fr-FR" sz="4800" b="1" dirty="0" err="1" smtClean="0"/>
              <a:t>getopts</a:t>
            </a:r>
            <a:r>
              <a:rPr lang="fr-FR" sz="4800" b="1" dirty="0" smtClean="0"/>
              <a:t> (suite)</a:t>
            </a:r>
            <a:endParaRPr lang="fr-FR" sz="4800" b="1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Pour </a:t>
            </a:r>
            <a:r>
              <a:rPr lang="fr-FR" b="1" dirty="0" err="1" smtClean="0"/>
              <a:t>getopts</a:t>
            </a:r>
            <a:r>
              <a:rPr lang="fr-FR" dirty="0" smtClean="0"/>
              <a:t>, une option est composée d'un caractère précédé du signe "-".</a:t>
            </a:r>
          </a:p>
          <a:p>
            <a:r>
              <a:rPr lang="fr-FR" dirty="0" smtClean="0"/>
              <a:t>Exemple : </a:t>
            </a:r>
            <a:r>
              <a:rPr lang="fr-FR" dirty="0" err="1"/>
              <a:t>l</a:t>
            </a:r>
            <a:r>
              <a:rPr lang="fr-FR" dirty="0" err="1" smtClean="0"/>
              <a:t>s</a:t>
            </a:r>
            <a:r>
              <a:rPr lang="fr-FR" dirty="0" smtClean="0"/>
              <a:t> –l </a:t>
            </a:r>
            <a:r>
              <a:rPr lang="fr-FR" dirty="0" smtClean="0"/>
              <a:t>*.sh</a:t>
            </a:r>
          </a:p>
          <a:p>
            <a:r>
              <a:rPr lang="fr-FR" dirty="0" smtClean="0"/>
              <a:t>L'appel à la commande </a:t>
            </a:r>
            <a:r>
              <a:rPr lang="fr-FR" b="1" dirty="0" err="1" smtClean="0"/>
              <a:t>getopts</a:t>
            </a:r>
            <a:r>
              <a:rPr lang="fr-FR" b="1" dirty="0" smtClean="0"/>
              <a:t> </a:t>
            </a:r>
            <a:r>
              <a:rPr lang="fr-FR" dirty="0" smtClean="0"/>
              <a:t>récupère l'option suivante et retourne un code vrai tant qu'il reste des options à </a:t>
            </a:r>
            <a:r>
              <a:rPr lang="fr-FR" dirty="0" smtClean="0"/>
              <a:t>analyser.</a:t>
            </a:r>
          </a:p>
          <a:p>
            <a:endParaRPr lang="fr-FR" dirty="0" smtClean="0"/>
          </a:p>
          <a:p>
            <a:r>
              <a:rPr lang="fr-FR" dirty="0" smtClean="0"/>
              <a:t>La variable réservée </a:t>
            </a:r>
            <a:r>
              <a:rPr lang="fr-FR" b="1" dirty="0" smtClean="0">
                <a:solidFill>
                  <a:srgbClr val="002060"/>
                </a:solidFill>
              </a:rPr>
              <a:t>"$OPTIND</a:t>
            </a:r>
            <a:r>
              <a:rPr lang="fr-FR" dirty="0" smtClean="0"/>
              <a:t>" contient l'indice de la prochaine option à traiter.</a:t>
            </a:r>
          </a:p>
          <a:p>
            <a:r>
              <a:rPr lang="fr-FR" dirty="0" smtClean="0"/>
              <a:t>La </a:t>
            </a:r>
            <a:r>
              <a:rPr lang="fr-FR" dirty="0"/>
              <a:t>variable réservée </a:t>
            </a:r>
            <a:r>
              <a:rPr lang="fr-FR" b="1" dirty="0">
                <a:solidFill>
                  <a:srgbClr val="002060"/>
                </a:solidFill>
              </a:rPr>
              <a:t>"$OPTARG</a:t>
            </a:r>
            <a:r>
              <a:rPr lang="fr-FR" dirty="0"/>
              <a:t>" contient l'argument associé à l'option</a:t>
            </a:r>
          </a:p>
          <a:p>
            <a:endParaRPr lang="fr-FR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2639786"/>
            <a:ext cx="11988800" cy="609600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#!/</a:t>
            </a:r>
            <a:r>
              <a:rPr lang="fr-FR" sz="8000" b="1" dirty="0" err="1" smtClean="0">
                <a:solidFill>
                  <a:srgbClr val="002060"/>
                </a:solidFill>
              </a:rPr>
              <a:t>bin</a:t>
            </a:r>
            <a:r>
              <a:rPr lang="fr-FR" sz="8000" b="1" dirty="0" smtClean="0">
                <a:solidFill>
                  <a:srgbClr val="002060"/>
                </a:solidFill>
              </a:rPr>
              <a:t>/</a:t>
            </a:r>
            <a:r>
              <a:rPr lang="fr-FR" sz="8000" b="1" dirty="0" err="1" smtClean="0">
                <a:solidFill>
                  <a:srgbClr val="002060"/>
                </a:solidFill>
              </a:rPr>
              <a:t>bash</a:t>
            </a:r>
            <a:endParaRPr lang="fr-FR" sz="8000" b="1" dirty="0" smtClean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70C0"/>
                </a:solidFill>
              </a:rPr>
              <a:t>#</a:t>
            </a:r>
            <a:r>
              <a:rPr lang="fr-FR" sz="8000" dirty="0">
                <a:solidFill>
                  <a:srgbClr val="0070C0"/>
                </a:solidFill>
              </a:rPr>
              <a:t> La liste des options utilisables avec ce script sont définies à la ligne (</a:t>
            </a:r>
            <a:r>
              <a:rPr lang="fr-FR" sz="8000" dirty="0" err="1">
                <a:solidFill>
                  <a:srgbClr val="0070C0"/>
                </a:solidFill>
              </a:rPr>
              <a:t>getopts</a:t>
            </a:r>
            <a:r>
              <a:rPr lang="fr-FR" sz="8000" dirty="0">
                <a:solidFill>
                  <a:srgbClr val="0070C0"/>
                </a:solidFill>
              </a:rPr>
              <a:t> "</a:t>
            </a:r>
            <a:r>
              <a:rPr lang="fr-FR" sz="8000" b="1" dirty="0" err="1">
                <a:solidFill>
                  <a:srgbClr val="0070C0"/>
                </a:solidFill>
              </a:rPr>
              <a:t>ab:e</a:t>
            </a:r>
            <a:r>
              <a:rPr lang="fr-FR" sz="8000" b="1" dirty="0">
                <a:solidFill>
                  <a:srgbClr val="0070C0"/>
                </a:solidFill>
              </a:rPr>
              <a:t>:</a:t>
            </a:r>
            <a:r>
              <a:rPr lang="fr-FR" sz="8000" dirty="0">
                <a:solidFill>
                  <a:srgbClr val="0070C0"/>
                </a:solidFill>
              </a:rPr>
              <a:t>" option). Il s'agit des options -a, -b et -e</a:t>
            </a:r>
            <a:endParaRPr lang="fr-FR" sz="8000" b="1" dirty="0" smtClean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 </a:t>
            </a:r>
            <a:r>
              <a:rPr lang="fr-FR" sz="8000" b="1" dirty="0" err="1" smtClean="0">
                <a:solidFill>
                  <a:srgbClr val="002060"/>
                </a:solidFill>
              </a:rPr>
              <a:t>while</a:t>
            </a:r>
            <a:r>
              <a:rPr lang="fr-FR" sz="8000" b="1" dirty="0" smtClean="0">
                <a:solidFill>
                  <a:srgbClr val="002060"/>
                </a:solidFill>
              </a:rPr>
              <a:t> </a:t>
            </a:r>
            <a:r>
              <a:rPr lang="fr-FR" sz="8000" b="1" dirty="0" err="1" smtClean="0">
                <a:solidFill>
                  <a:srgbClr val="FF0000"/>
                </a:solidFill>
              </a:rPr>
              <a:t>getopts</a:t>
            </a:r>
            <a:r>
              <a:rPr lang="fr-FR" sz="8000" b="1" dirty="0" smtClean="0">
                <a:solidFill>
                  <a:srgbClr val="FF0000"/>
                </a:solidFill>
              </a:rPr>
              <a:t> "</a:t>
            </a:r>
            <a:r>
              <a:rPr lang="fr-FR" sz="8000" b="1" dirty="0" err="1" smtClean="0">
                <a:solidFill>
                  <a:srgbClr val="FF0000"/>
                </a:solidFill>
              </a:rPr>
              <a:t>ab:e</a:t>
            </a:r>
            <a:r>
              <a:rPr lang="fr-FR" sz="8000" b="1" dirty="0" smtClean="0">
                <a:solidFill>
                  <a:srgbClr val="FF0000"/>
                </a:solidFill>
              </a:rPr>
              <a:t>:" option     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 </a:t>
            </a:r>
            <a:r>
              <a:rPr lang="fr-FR" sz="8000" b="1" dirty="0" smtClean="0">
                <a:solidFill>
                  <a:srgbClr val="002060"/>
                </a:solidFill>
              </a:rPr>
              <a:t>do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         </a:t>
            </a:r>
            <a:r>
              <a:rPr lang="fr-FR" sz="8000" b="1" dirty="0" err="1" smtClean="0">
                <a:solidFill>
                  <a:srgbClr val="002060"/>
                </a:solidFill>
              </a:rPr>
              <a:t>echo</a:t>
            </a:r>
            <a:r>
              <a:rPr lang="fr-FR" sz="8000" b="1" dirty="0" smtClean="0">
                <a:solidFill>
                  <a:srgbClr val="002060"/>
                </a:solidFill>
              </a:rPr>
              <a:t> "</a:t>
            </a:r>
            <a:r>
              <a:rPr lang="fr-FR" sz="8000" b="1" dirty="0" err="1" smtClean="0">
                <a:solidFill>
                  <a:srgbClr val="002060"/>
                </a:solidFill>
              </a:rPr>
              <a:t>getopts</a:t>
            </a:r>
            <a:r>
              <a:rPr lang="fr-FR" sz="8000" b="1" dirty="0" smtClean="0">
                <a:solidFill>
                  <a:srgbClr val="002060"/>
                </a:solidFill>
              </a:rPr>
              <a:t> a trouvé l'option </a:t>
            </a:r>
            <a:r>
              <a:rPr lang="fr-FR" sz="8000" b="1" dirty="0" smtClean="0">
                <a:solidFill>
                  <a:srgbClr val="FF0000"/>
                </a:solidFill>
              </a:rPr>
              <a:t>$option"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         case </a:t>
            </a:r>
            <a:r>
              <a:rPr lang="fr-FR" sz="8000" b="1" dirty="0" smtClean="0">
                <a:solidFill>
                  <a:srgbClr val="FF0000"/>
                </a:solidFill>
              </a:rPr>
              <a:t>$option</a:t>
            </a:r>
            <a:r>
              <a:rPr lang="fr-FR" sz="8000" b="1" dirty="0" smtClean="0">
                <a:solidFill>
                  <a:srgbClr val="002060"/>
                </a:solidFill>
              </a:rPr>
              <a:t> in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                 a)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                         </a:t>
            </a:r>
            <a:r>
              <a:rPr lang="fr-FR" sz="8000" b="1" dirty="0" err="1" smtClean="0">
                <a:solidFill>
                  <a:srgbClr val="002060"/>
                </a:solidFill>
              </a:rPr>
              <a:t>echo</a:t>
            </a:r>
            <a:r>
              <a:rPr lang="fr-FR" sz="8000" b="1" dirty="0" smtClean="0">
                <a:solidFill>
                  <a:srgbClr val="002060"/>
                </a:solidFill>
              </a:rPr>
              <a:t> "Exécution des commandes de l'option a"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                        </a:t>
            </a:r>
            <a:r>
              <a:rPr lang="fr-FR" sz="8000" b="1" dirty="0" err="1" smtClean="0">
                <a:solidFill>
                  <a:srgbClr val="002060"/>
                </a:solidFill>
              </a:rPr>
              <a:t>echo</a:t>
            </a:r>
            <a:r>
              <a:rPr lang="fr-FR" sz="8000" b="1" dirty="0" smtClean="0">
                <a:solidFill>
                  <a:srgbClr val="002060"/>
                </a:solidFill>
              </a:rPr>
              <a:t> "Indice de la prochaine option à traiter : </a:t>
            </a:r>
            <a:r>
              <a:rPr lang="fr-FR" sz="8000" b="1" dirty="0" smtClean="0">
                <a:solidFill>
                  <a:srgbClr val="FF0000"/>
                </a:solidFill>
              </a:rPr>
              <a:t>$OPTIND</a:t>
            </a:r>
            <a:r>
              <a:rPr lang="fr-FR" sz="8000" b="1" dirty="0" smtClean="0">
                <a:solidFill>
                  <a:srgbClr val="002060"/>
                </a:solidFill>
              </a:rPr>
              <a:t>"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                        ;;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                b)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                        </a:t>
            </a:r>
            <a:r>
              <a:rPr lang="fr-FR" sz="8000" b="1" dirty="0" err="1" smtClean="0">
                <a:solidFill>
                  <a:srgbClr val="002060"/>
                </a:solidFill>
              </a:rPr>
              <a:t>echo</a:t>
            </a:r>
            <a:r>
              <a:rPr lang="fr-FR" sz="8000" b="1" dirty="0" smtClean="0">
                <a:solidFill>
                  <a:srgbClr val="002060"/>
                </a:solidFill>
              </a:rPr>
              <a:t> "Exécution des commandes de l'option </a:t>
            </a:r>
            <a:r>
              <a:rPr lang="fr-FR" sz="8000" b="1" dirty="0">
                <a:solidFill>
                  <a:srgbClr val="002060"/>
                </a:solidFill>
              </a:rPr>
              <a:t>b</a:t>
            </a:r>
            <a:r>
              <a:rPr lang="fr-FR" sz="8000" b="1" dirty="0" smtClean="0">
                <a:solidFill>
                  <a:srgbClr val="002060"/>
                </a:solidFill>
              </a:rPr>
              <a:t>"</a:t>
            </a:r>
            <a:endParaRPr lang="fr-FR" sz="8000" b="1" dirty="0" smtClean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                        </a:t>
            </a:r>
            <a:r>
              <a:rPr lang="fr-FR" sz="8000" b="1" dirty="0" err="1" smtClean="0">
                <a:solidFill>
                  <a:srgbClr val="002060"/>
                </a:solidFill>
              </a:rPr>
              <a:t>echo</a:t>
            </a:r>
            <a:r>
              <a:rPr lang="fr-FR" sz="8000" b="1" dirty="0" smtClean="0">
                <a:solidFill>
                  <a:srgbClr val="002060"/>
                </a:solidFill>
              </a:rPr>
              <a:t> "Liste des arguments à traiter : </a:t>
            </a:r>
            <a:r>
              <a:rPr lang="fr-FR" sz="8000" b="1" dirty="0" smtClean="0">
                <a:solidFill>
                  <a:srgbClr val="FF0000"/>
                </a:solidFill>
              </a:rPr>
              <a:t>$OPTARG</a:t>
            </a:r>
            <a:r>
              <a:rPr lang="fr-FR" sz="8000" b="1" dirty="0" smtClean="0">
                <a:solidFill>
                  <a:srgbClr val="002060"/>
                </a:solidFill>
              </a:rPr>
              <a:t>"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                        </a:t>
            </a:r>
            <a:r>
              <a:rPr lang="fr-FR" sz="8000" b="1" dirty="0" err="1" smtClean="0">
                <a:solidFill>
                  <a:srgbClr val="002060"/>
                </a:solidFill>
              </a:rPr>
              <a:t>echo</a:t>
            </a:r>
            <a:r>
              <a:rPr lang="fr-FR" sz="8000" b="1" dirty="0" smtClean="0">
                <a:solidFill>
                  <a:srgbClr val="002060"/>
                </a:solidFill>
              </a:rPr>
              <a:t> "Indice de la prochaine option à traiter : </a:t>
            </a:r>
            <a:r>
              <a:rPr lang="fr-FR" sz="8000" b="1" dirty="0" smtClean="0">
                <a:solidFill>
                  <a:srgbClr val="FF0000"/>
                </a:solidFill>
              </a:rPr>
              <a:t>$OPTIND</a:t>
            </a:r>
            <a:r>
              <a:rPr lang="fr-FR" sz="8000" b="1" dirty="0" smtClean="0">
                <a:solidFill>
                  <a:srgbClr val="002060"/>
                </a:solidFill>
              </a:rPr>
              <a:t>"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                        ;;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                e)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                        </a:t>
            </a:r>
            <a:r>
              <a:rPr lang="fr-FR" sz="8000" b="1" dirty="0" err="1" smtClean="0">
                <a:solidFill>
                  <a:srgbClr val="002060"/>
                </a:solidFill>
              </a:rPr>
              <a:t>echo</a:t>
            </a:r>
            <a:r>
              <a:rPr lang="fr-FR" sz="8000" b="1" dirty="0" smtClean="0">
                <a:solidFill>
                  <a:srgbClr val="002060"/>
                </a:solidFill>
              </a:rPr>
              <a:t> "Exécution des commandes de l'option e"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                        </a:t>
            </a:r>
            <a:r>
              <a:rPr lang="fr-FR" sz="8000" b="1" dirty="0" err="1" smtClean="0">
                <a:solidFill>
                  <a:srgbClr val="002060"/>
                </a:solidFill>
              </a:rPr>
              <a:t>echo</a:t>
            </a:r>
            <a:r>
              <a:rPr lang="fr-FR" sz="8000" b="1" dirty="0" smtClean="0">
                <a:solidFill>
                  <a:srgbClr val="002060"/>
                </a:solidFill>
              </a:rPr>
              <a:t> "Liste des arguments à traiter : </a:t>
            </a:r>
            <a:r>
              <a:rPr lang="fr-FR" sz="8000" b="1" dirty="0" smtClean="0">
                <a:solidFill>
                  <a:srgbClr val="FF0000"/>
                </a:solidFill>
              </a:rPr>
              <a:t>$OPTARG</a:t>
            </a:r>
            <a:r>
              <a:rPr lang="fr-FR" sz="8000" b="1" dirty="0" smtClean="0">
                <a:solidFill>
                  <a:srgbClr val="002060"/>
                </a:solidFill>
              </a:rPr>
              <a:t>"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                        </a:t>
            </a:r>
            <a:r>
              <a:rPr lang="fr-FR" sz="8000" b="1" dirty="0" err="1" smtClean="0">
                <a:solidFill>
                  <a:srgbClr val="002060"/>
                </a:solidFill>
              </a:rPr>
              <a:t>echo</a:t>
            </a:r>
            <a:r>
              <a:rPr lang="fr-FR" sz="8000" b="1" dirty="0" smtClean="0">
                <a:solidFill>
                  <a:srgbClr val="002060"/>
                </a:solidFill>
              </a:rPr>
              <a:t> "Indice de la prochaine option à traiter : </a:t>
            </a:r>
            <a:r>
              <a:rPr lang="fr-FR" sz="8000" b="1" dirty="0" smtClean="0">
                <a:solidFill>
                  <a:srgbClr val="FF0000"/>
                </a:solidFill>
              </a:rPr>
              <a:t>$OPTIND</a:t>
            </a:r>
            <a:r>
              <a:rPr lang="fr-FR" sz="8000" b="1" dirty="0" smtClean="0">
                <a:solidFill>
                  <a:srgbClr val="002060"/>
                </a:solidFill>
              </a:rPr>
              <a:t>"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                        ;;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        </a:t>
            </a:r>
            <a:r>
              <a:rPr lang="fr-FR" sz="8000" b="1" dirty="0" err="1" smtClean="0">
                <a:solidFill>
                  <a:srgbClr val="002060"/>
                </a:solidFill>
              </a:rPr>
              <a:t>esac</a:t>
            </a:r>
            <a:endParaRPr lang="fr-FR" sz="8000" b="1" dirty="0" smtClean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</a:t>
            </a:r>
            <a:r>
              <a:rPr lang="fr-FR" sz="8000" b="1" dirty="0" err="1" smtClean="0">
                <a:solidFill>
                  <a:srgbClr val="002060"/>
                </a:solidFill>
              </a:rPr>
              <a:t>done</a:t>
            </a:r>
            <a:endParaRPr lang="fr-FR" sz="8000" b="1" dirty="0" smtClean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</a:t>
            </a:r>
            <a:r>
              <a:rPr lang="fr-FR" sz="8000" b="1" dirty="0" err="1" smtClean="0">
                <a:solidFill>
                  <a:srgbClr val="002060"/>
                </a:solidFill>
              </a:rPr>
              <a:t>echo</a:t>
            </a:r>
            <a:r>
              <a:rPr lang="fr-FR" sz="8000" b="1" dirty="0" smtClean="0">
                <a:solidFill>
                  <a:srgbClr val="002060"/>
                </a:solidFill>
              </a:rPr>
              <a:t> "Analyse des options terminée"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8000" b="1" dirty="0" smtClean="0">
                <a:solidFill>
                  <a:srgbClr val="002060"/>
                </a:solidFill>
              </a:rPr>
              <a:t>      exit 0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4622800" y="2558143"/>
            <a:ext cx="8382000" cy="9951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fr-FR" sz="1700" b="1" dirty="0" smtClean="0">
                <a:solidFill>
                  <a:srgbClr val="0070C0"/>
                </a:solidFill>
              </a:rPr>
              <a:t>#Le </a:t>
            </a:r>
            <a:r>
              <a:rPr lang="fr-FR" sz="1700" b="1" dirty="0">
                <a:solidFill>
                  <a:srgbClr val="0070C0"/>
                </a:solidFill>
              </a:rPr>
              <a:t>caractère ":" inscrit après les options " b" et "e" (</a:t>
            </a:r>
            <a:r>
              <a:rPr lang="fr-FR" sz="1700" b="1" dirty="0" err="1">
                <a:solidFill>
                  <a:srgbClr val="0070C0"/>
                </a:solidFill>
              </a:rPr>
              <a:t>getopts</a:t>
            </a:r>
            <a:r>
              <a:rPr lang="fr-FR" sz="1700" b="1" dirty="0">
                <a:solidFill>
                  <a:srgbClr val="0070C0"/>
                </a:solidFill>
              </a:rPr>
              <a:t> "</a:t>
            </a:r>
            <a:r>
              <a:rPr lang="fr-FR" sz="1700" b="1" dirty="0" err="1">
                <a:solidFill>
                  <a:srgbClr val="0070C0"/>
                </a:solidFill>
              </a:rPr>
              <a:t>ab:e</a:t>
            </a:r>
            <a:r>
              <a:rPr lang="fr-FR" sz="1700" b="1" dirty="0">
                <a:solidFill>
                  <a:srgbClr val="0070C0"/>
                </a:solidFill>
              </a:rPr>
              <a:t>:" option) indique que ces options doivent être suivies obligatoirement d'un argument.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414141"/>
              </a:solidFill>
              <a:effectLst/>
              <a:uFillTx/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6578600" y="3220815"/>
            <a:ext cx="6426200" cy="12567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fr-FR" sz="1700" b="1" dirty="0" smtClean="0">
                <a:solidFill>
                  <a:srgbClr val="0070C0"/>
                </a:solidFill>
              </a:rPr>
              <a:t>#La </a:t>
            </a:r>
            <a:r>
              <a:rPr lang="fr-FR" sz="1700" b="1" dirty="0">
                <a:solidFill>
                  <a:srgbClr val="0070C0"/>
                </a:solidFill>
              </a:rPr>
              <a:t>variable "option" (</a:t>
            </a:r>
            <a:r>
              <a:rPr lang="fr-FR" sz="1700" b="1" dirty="0" err="1">
                <a:solidFill>
                  <a:srgbClr val="0070C0"/>
                </a:solidFill>
              </a:rPr>
              <a:t>getopts</a:t>
            </a:r>
            <a:r>
              <a:rPr lang="fr-FR" sz="1700" b="1" dirty="0">
                <a:solidFill>
                  <a:srgbClr val="0070C0"/>
                </a:solidFill>
              </a:rPr>
              <a:t> "</a:t>
            </a:r>
            <a:r>
              <a:rPr lang="fr-FR" sz="1700" b="1" dirty="0" err="1">
                <a:solidFill>
                  <a:srgbClr val="0070C0"/>
                </a:solidFill>
              </a:rPr>
              <a:t>ab:e</a:t>
            </a:r>
            <a:r>
              <a:rPr lang="fr-FR" sz="1700" b="1" dirty="0">
                <a:solidFill>
                  <a:srgbClr val="0070C0"/>
                </a:solidFill>
              </a:rPr>
              <a:t>:" option</a:t>
            </a:r>
            <a:r>
              <a:rPr lang="fr-FR" sz="1700" b="1" dirty="0">
                <a:solidFill>
                  <a:srgbClr val="0070C0"/>
                </a:solidFill>
              </a:rPr>
              <a:t>) permet de récupérer la valeur de l'option en cours de traitement par la boucle </a:t>
            </a:r>
            <a:r>
              <a:rPr lang="fr-FR" sz="1700" b="1" dirty="0" err="1">
                <a:solidFill>
                  <a:srgbClr val="0070C0"/>
                </a:solidFill>
              </a:rPr>
              <a:t>while</a:t>
            </a:r>
            <a:r>
              <a:rPr lang="fr-FR" sz="1700" b="1" dirty="0">
                <a:solidFill>
                  <a:srgbClr val="0070C0"/>
                </a:solidFill>
              </a:rPr>
              <a:t>.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414141"/>
              </a:solidFill>
              <a:effectLst/>
              <a:uFillTx/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Exécution du script avec </a:t>
            </a:r>
            <a:r>
              <a:rPr lang="fr-FR" dirty="0" err="1" smtClean="0"/>
              <a:t>getops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58417" y="3359426"/>
            <a:ext cx="12746383" cy="60960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2800" dirty="0" smtClean="0"/>
              <a:t>     La liste des options utilisables avec ce script sont définies à la ligne (</a:t>
            </a:r>
            <a:r>
              <a:rPr lang="fr-FR" sz="2800" dirty="0" err="1" smtClean="0"/>
              <a:t>getopts</a:t>
            </a:r>
            <a:r>
              <a:rPr lang="fr-FR" sz="2800" dirty="0" smtClean="0"/>
              <a:t> "</a:t>
            </a:r>
            <a:r>
              <a:rPr lang="fr-FR" sz="2800" b="1" dirty="0" err="1" smtClean="0"/>
              <a:t>ab:e</a:t>
            </a:r>
            <a:r>
              <a:rPr lang="fr-FR" sz="2800" b="1" dirty="0" smtClean="0"/>
              <a:t>:</a:t>
            </a:r>
            <a:r>
              <a:rPr lang="fr-FR" sz="2800" dirty="0" smtClean="0"/>
              <a:t>" option). Il s'agit des options -a, -b et -e.</a:t>
            </a:r>
          </a:p>
          <a:p>
            <a:pPr>
              <a:buNone/>
            </a:pPr>
            <a:r>
              <a:rPr lang="fr-FR" sz="2800" dirty="0" smtClean="0"/>
              <a:t/>
            </a:r>
            <a:br>
              <a:rPr lang="fr-FR" sz="2800" dirty="0" smtClean="0"/>
            </a:br>
            <a:r>
              <a:rPr lang="fr-FR" sz="2800" dirty="0" smtClean="0"/>
              <a:t>Le caractère ":" inscrit après les options " b" et "e" (</a:t>
            </a:r>
            <a:r>
              <a:rPr lang="fr-FR" sz="2800" b="1" dirty="0" err="1" smtClean="0">
                <a:solidFill>
                  <a:srgbClr val="002060"/>
                </a:solidFill>
              </a:rPr>
              <a:t>getopts</a:t>
            </a:r>
            <a:r>
              <a:rPr lang="fr-FR" sz="2800" b="1" dirty="0" smtClean="0">
                <a:solidFill>
                  <a:srgbClr val="002060"/>
                </a:solidFill>
              </a:rPr>
              <a:t> "</a:t>
            </a:r>
            <a:r>
              <a:rPr lang="fr-FR" sz="2800" b="1" dirty="0" err="1" smtClean="0">
                <a:solidFill>
                  <a:srgbClr val="002060"/>
                </a:solidFill>
              </a:rPr>
              <a:t>ab:e</a:t>
            </a:r>
            <a:r>
              <a:rPr lang="fr-FR" sz="2800" b="1" dirty="0" smtClean="0">
                <a:solidFill>
                  <a:srgbClr val="002060"/>
                </a:solidFill>
              </a:rPr>
              <a:t>:" option</a:t>
            </a:r>
            <a:r>
              <a:rPr lang="fr-FR" sz="2800" dirty="0" smtClean="0"/>
              <a:t>) indique que ces options doivent être suivies obligatoirement d'un argument.</a:t>
            </a:r>
          </a:p>
          <a:p>
            <a:pPr>
              <a:buNone/>
            </a:pPr>
            <a:r>
              <a:rPr lang="fr-FR" sz="2800" dirty="0" smtClean="0"/>
              <a:t/>
            </a:r>
            <a:br>
              <a:rPr lang="fr-FR" sz="2800" dirty="0" smtClean="0"/>
            </a:br>
            <a:r>
              <a:rPr lang="fr-FR" sz="2800" dirty="0" smtClean="0"/>
              <a:t>La variable "option" (</a:t>
            </a:r>
            <a:r>
              <a:rPr lang="fr-FR" sz="2800" b="1" dirty="0" err="1" smtClean="0">
                <a:solidFill>
                  <a:srgbClr val="002060"/>
                </a:solidFill>
              </a:rPr>
              <a:t>getopts</a:t>
            </a:r>
            <a:r>
              <a:rPr lang="fr-FR" sz="2800" b="1" dirty="0" smtClean="0">
                <a:solidFill>
                  <a:srgbClr val="002060"/>
                </a:solidFill>
              </a:rPr>
              <a:t> "</a:t>
            </a:r>
            <a:r>
              <a:rPr lang="fr-FR" sz="2800" b="1" dirty="0" err="1" smtClean="0">
                <a:solidFill>
                  <a:srgbClr val="002060"/>
                </a:solidFill>
              </a:rPr>
              <a:t>ab:e</a:t>
            </a:r>
            <a:r>
              <a:rPr lang="fr-FR" sz="2800" b="1" dirty="0" smtClean="0">
                <a:solidFill>
                  <a:srgbClr val="002060"/>
                </a:solidFill>
              </a:rPr>
              <a:t>:" option</a:t>
            </a:r>
            <a:r>
              <a:rPr lang="fr-FR" sz="2800" dirty="0" smtClean="0"/>
              <a:t>) permet de récupérer la valeur de l'option en cours de traitement par la boucle </a:t>
            </a:r>
            <a:r>
              <a:rPr lang="fr-FR" sz="2800" b="1" dirty="0" err="1" smtClean="0">
                <a:solidFill>
                  <a:srgbClr val="002060"/>
                </a:solidFill>
              </a:rPr>
              <a:t>while</a:t>
            </a:r>
            <a:r>
              <a:rPr lang="fr-FR" sz="2800" dirty="0" smtClean="0"/>
              <a:t>.</a:t>
            </a:r>
          </a:p>
          <a:p>
            <a:pPr>
              <a:buNone/>
            </a:pPr>
            <a:r>
              <a:rPr lang="fr-FR" sz="2800" dirty="0" smtClean="0"/>
              <a:t/>
            </a:r>
            <a:br>
              <a:rPr lang="fr-FR" sz="2800" dirty="0" smtClean="0"/>
            </a:br>
            <a:r>
              <a:rPr lang="fr-FR" sz="2800" dirty="0" smtClean="0"/>
              <a:t>La variable réservée </a:t>
            </a:r>
            <a:r>
              <a:rPr lang="fr-FR" sz="2800" b="1" dirty="0" smtClean="0">
                <a:solidFill>
                  <a:srgbClr val="002060"/>
                </a:solidFill>
              </a:rPr>
              <a:t>"$OPTIND</a:t>
            </a:r>
            <a:r>
              <a:rPr lang="fr-FR" sz="2800" dirty="0" smtClean="0"/>
              <a:t>" contient l'indice de la prochaine option à traiter.</a:t>
            </a:r>
          </a:p>
          <a:p>
            <a:pPr>
              <a:buNone/>
            </a:pPr>
            <a:r>
              <a:rPr lang="fr-FR" sz="2800" dirty="0" smtClean="0"/>
              <a:t/>
            </a:r>
            <a:br>
              <a:rPr lang="fr-FR" sz="2800" dirty="0" smtClean="0"/>
            </a:br>
            <a:r>
              <a:rPr lang="fr-FR" sz="2800" dirty="0" smtClean="0"/>
              <a:t>La variable réservée </a:t>
            </a:r>
            <a:r>
              <a:rPr lang="fr-FR" sz="2800" b="1" dirty="0" smtClean="0">
                <a:solidFill>
                  <a:srgbClr val="002060"/>
                </a:solidFill>
              </a:rPr>
              <a:t>"$OPTARG</a:t>
            </a:r>
            <a:r>
              <a:rPr lang="fr-FR" sz="2800" dirty="0" smtClean="0"/>
              <a:t>" contient l'argument associé à l'option</a:t>
            </a:r>
            <a:endParaRPr lang="fr-FR" sz="2800" dirty="0"/>
          </a:p>
        </p:txBody>
      </p:sp>
      <p:sp>
        <p:nvSpPr>
          <p:cNvPr id="4" name="Rectangle 3"/>
          <p:cNvSpPr/>
          <p:nvPr/>
        </p:nvSpPr>
        <p:spPr>
          <a:xfrm>
            <a:off x="2734364" y="2019300"/>
            <a:ext cx="764208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u="sng" dirty="0" smtClean="0"/>
              <a:t>:</a:t>
            </a:r>
            <a:endParaRPr lang="fr-FR" dirty="0" smtClean="0"/>
          </a:p>
          <a:p>
            <a:r>
              <a:rPr lang="fr-FR" sz="3200" b="1" dirty="0" smtClean="0">
                <a:solidFill>
                  <a:srgbClr val="FF0000"/>
                </a:solidFill>
              </a:rPr>
              <a:t>$ ./</a:t>
            </a:r>
            <a:r>
              <a:rPr lang="fr-FR" sz="3200" b="1" dirty="0" err="1" smtClean="0">
                <a:solidFill>
                  <a:srgbClr val="FF0000"/>
                </a:solidFill>
              </a:rPr>
              <a:t>test_getopts</a:t>
            </a:r>
            <a:r>
              <a:rPr lang="fr-FR" sz="3200" b="1" dirty="0" smtClean="0">
                <a:solidFill>
                  <a:srgbClr val="FF0000"/>
                </a:solidFill>
              </a:rPr>
              <a:t> -a -b toto -e tata titi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000" dirty="0" smtClean="0"/>
              <a:t>Exécution du script avec </a:t>
            </a:r>
            <a:r>
              <a:rPr lang="fr-FR" sz="6000" dirty="0" err="1" smtClean="0"/>
              <a:t>getops</a:t>
            </a:r>
            <a:r>
              <a:rPr lang="fr-FR" sz="6000" dirty="0" smtClean="0"/>
              <a:t>(2)</a:t>
            </a:r>
            <a:endParaRPr lang="fr-FR" sz="6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8000" y="2425148"/>
            <a:ext cx="8337826" cy="3765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35539" y="6579704"/>
            <a:ext cx="9461261" cy="2314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New_Template4">
  <a:themeElements>
    <a:clrScheme name="New_Template4">
      <a:dk1>
        <a:srgbClr val="414141"/>
      </a:dk1>
      <a:lt1>
        <a:srgbClr val="004141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New_Template4">
      <a:majorFont>
        <a:latin typeface="Bodoni SvtyTwo ITC TT-Book"/>
        <a:ea typeface="Bodoni SvtyTwo ITC TT-Book"/>
        <a:cs typeface="Bodoni SvtyTwo ITC TT-Book"/>
      </a:majorFont>
      <a:minorFont>
        <a:latin typeface="Bodoni SvtyTwo ITC TT-Book"/>
        <a:ea typeface="Bodoni SvtyTwo ITC TT-Book"/>
        <a:cs typeface="Bodoni SvtyTwo ITC TT-Book"/>
      </a:minorFont>
    </a:fontScheme>
    <a:fmtScheme name="New_Template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25400" dist="33948" dir="2700000" rotWithShape="0">
                <a:srgbClr val="3B3936"/>
              </a:outerShdw>
            </a:effectLst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1414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414141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New_Template4">
  <a:themeElements>
    <a:clrScheme name="New_Template4">
      <a:dk1>
        <a:srgbClr val="000000"/>
      </a:dk1>
      <a:lt1>
        <a:srgbClr val="FFFFFF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New_Template4">
      <a:majorFont>
        <a:latin typeface="Bodoni SvtyTwo ITC TT-Book"/>
        <a:ea typeface="Bodoni SvtyTwo ITC TT-Book"/>
        <a:cs typeface="Bodoni SvtyTwo ITC TT-Book"/>
      </a:majorFont>
      <a:minorFont>
        <a:latin typeface="Bodoni SvtyTwo ITC TT-Book"/>
        <a:ea typeface="Bodoni SvtyTwo ITC TT-Book"/>
        <a:cs typeface="Bodoni SvtyTwo ITC TT-Book"/>
      </a:minorFont>
    </a:fontScheme>
    <a:fmtScheme name="New_Template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25400" dist="33948" dir="2700000" rotWithShape="0">
                <a:srgbClr val="3B3936"/>
              </a:outerShdw>
            </a:effectLst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1414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414141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18050</TotalTime>
  <Words>969</Words>
  <Application>Microsoft Office PowerPoint</Application>
  <PresentationFormat>Personnalisé</PresentationFormat>
  <Paragraphs>235</Paragraphs>
  <Slides>26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27" baseType="lpstr">
      <vt:lpstr>New_Template4</vt:lpstr>
      <vt:lpstr>Chapitre IV :  Les sous-programmes et les arguments</vt:lpstr>
      <vt:lpstr>Plan</vt:lpstr>
      <vt:lpstr> Sous-shells </vt:lpstr>
      <vt:lpstr>Sous-shells(exemple)</vt:lpstr>
      <vt:lpstr>Sous-shells(suite)</vt:lpstr>
      <vt:lpstr>Sous Shell (Suite)</vt:lpstr>
      <vt:lpstr>Étendue des variables dans un sous-shell</vt:lpstr>
      <vt:lpstr>Exemple</vt:lpstr>
      <vt:lpstr>Pourquoi des fonctions ?  On veut effacer régulièrement tous les fichiers .aux et .log qui polluent vos répertoires.</vt:lpstr>
      <vt:lpstr>Fonctions </vt:lpstr>
      <vt:lpstr>Fonctions(2) </vt:lpstr>
      <vt:lpstr>  </vt:lpstr>
      <vt:lpstr>Sortie et retour d’une fonction</vt:lpstr>
      <vt:lpstr>Terminaisons</vt:lpstr>
      <vt:lpstr>     </vt:lpstr>
      <vt:lpstr>Exemple :</vt:lpstr>
      <vt:lpstr>Exemple (suite)</vt:lpstr>
      <vt:lpstr>Exercices </vt:lpstr>
      <vt:lpstr>Gestion de menu avec select </vt:lpstr>
      <vt:lpstr>La commande Select</vt:lpstr>
      <vt:lpstr>Exemple</vt:lpstr>
      <vt:lpstr>Récupération des arguments avec getopts </vt:lpstr>
      <vt:lpstr>Récupération des arguments avec getopts (suite)</vt:lpstr>
      <vt:lpstr>Exemple</vt:lpstr>
      <vt:lpstr>Exécution du script avec getops</vt:lpstr>
      <vt:lpstr>Exécution du script avec getops(2)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&amp; Scripting</dc:title>
  <dc:creator>Dell</dc:creator>
  <cp:lastModifiedBy>kalthoum</cp:lastModifiedBy>
  <cp:revision>81</cp:revision>
  <dcterms:modified xsi:type="dcterms:W3CDTF">2022-02-24T08:12:47Z</dcterms:modified>
</cp:coreProperties>
</file>