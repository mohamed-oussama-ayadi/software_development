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theme/themeOverride1.xml" ContentType="application/vnd.openxmlformats-officedocument.themeOverr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slideLayouts/slideLayout10.xml" ContentType="application/vnd.openxmlformats-officedocument.presentationml.slideLayout+xml"/>
  <Default Extension="tiff" ContentType="image/tiff"/>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Default Extension="png" ContentType="image/png"/>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bookmarkIdSeed="4">
  <p:sldMasterIdLst>
    <p:sldMasterId id="2147483648" r:id="rId1"/>
  </p:sldMasterIdLst>
  <p:notesMasterIdLst>
    <p:notesMasterId r:id="rId33"/>
  </p:notesMasterIdLst>
  <p:sldIdLst>
    <p:sldId id="256" r:id="rId2"/>
    <p:sldId id="314" r:id="rId3"/>
    <p:sldId id="257" r:id="rId4"/>
    <p:sldId id="315" r:id="rId5"/>
    <p:sldId id="258" r:id="rId6"/>
    <p:sldId id="259" r:id="rId7"/>
    <p:sldId id="288" r:id="rId8"/>
    <p:sldId id="260" r:id="rId9"/>
    <p:sldId id="261" r:id="rId10"/>
    <p:sldId id="312" r:id="rId11"/>
    <p:sldId id="289" r:id="rId12"/>
    <p:sldId id="290" r:id="rId13"/>
    <p:sldId id="291" r:id="rId14"/>
    <p:sldId id="292" r:id="rId15"/>
    <p:sldId id="293" r:id="rId16"/>
    <p:sldId id="297" r:id="rId17"/>
    <p:sldId id="294" r:id="rId18"/>
    <p:sldId id="295" r:id="rId19"/>
    <p:sldId id="296" r:id="rId20"/>
    <p:sldId id="298" r:id="rId21"/>
    <p:sldId id="299" r:id="rId22"/>
    <p:sldId id="300" r:id="rId23"/>
    <p:sldId id="301" r:id="rId24"/>
    <p:sldId id="302" r:id="rId25"/>
    <p:sldId id="303" r:id="rId26"/>
    <p:sldId id="304" r:id="rId27"/>
    <p:sldId id="305" r:id="rId28"/>
    <p:sldId id="306" r:id="rId29"/>
    <p:sldId id="309" r:id="rId30"/>
    <p:sldId id="310" r:id="rId31"/>
    <p:sldId id="311" r:id="rId32"/>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lvl1pPr>
    <a:lvl2pPr marL="0" marR="0" indent="2286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lvl2pPr>
    <a:lvl3pPr marL="0" marR="0" indent="4572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lvl3pPr>
    <a:lvl4pPr marL="0" marR="0" indent="6858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lvl4pPr>
    <a:lvl5pPr marL="0" marR="0" indent="9144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lvl5pPr>
    <a:lvl6pPr marL="0" marR="0" indent="11430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lvl6pPr>
    <a:lvl7pPr marL="0" marR="0" indent="13716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lvl7pPr>
    <a:lvl8pPr marL="0" marR="0" indent="16002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lvl8pPr>
    <a:lvl9pPr marL="0" marR="0" indent="182880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8F8F8"/>
    <a:srgbClr val="FFFFFF"/>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a:tcStyle>
        <a:tcBdr/>
        <a:fill>
          <a:solidFill>
            <a:srgbClr val="C9C3BA">
              <a:alpha val="50000"/>
            </a:srgb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89847F"/>
          </a:solidFill>
        </a:fill>
      </a:tcStyle>
    </a:firstCol>
    <a:la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25400" cap="flat">
              <a:solidFill>
                <a:srgbClr val="525252"/>
              </a:solidFill>
              <a:prstDash val="solid"/>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no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solidFill>
            <a:schemeClr val="accent5">
              <a:hueOff val="-375889"/>
              <a:satOff val="-9195"/>
              <a:lumOff val="-14901"/>
            </a:schemeClr>
          </a:solidFill>
        </a:fill>
      </a:tcStyle>
    </a:firstRow>
  </a:tblStyle>
  <a:tblStyle styleId="{C7B018BB-80A7-4F77-B60F-C8B233D01FF8}" styleName="">
    <a:tblBg/>
    <a:wholeTbl>
      <a:tcTxStyle b="off" i="off">
        <a:font>
          <a:latin typeface="Palatino"/>
          <a:ea typeface="Palatino"/>
          <a:cs typeface="Palatino"/>
        </a:font>
        <a:srgbClr val="414141"/>
      </a:tcTxStyle>
      <a:tcStyle>
        <a:tcBdr>
          <a:left>
            <a:ln w="25400" cap="rnd">
              <a:solidFill>
                <a:srgbClr val="C9C3BA"/>
              </a:solidFill>
              <a:custDash>
                <a:ds d="100000" sp="200000"/>
              </a:custDash>
              <a:miter lim="400000"/>
            </a:ln>
          </a:left>
          <a:right>
            <a:ln w="25400" cap="rnd">
              <a:solidFill>
                <a:srgbClr val="C9C3BA"/>
              </a:solidFill>
              <a:custDash>
                <a:ds d="100000" sp="200000"/>
              </a:custDash>
              <a:miter lim="400000"/>
            </a:ln>
          </a:right>
          <a:top>
            <a:ln w="25400" cap="rnd">
              <a:solidFill>
                <a:srgbClr val="C9C3BA"/>
              </a:solidFill>
              <a:custDash>
                <a:ds d="100000" sp="200000"/>
              </a:custDash>
              <a:miter lim="400000"/>
            </a:ln>
          </a:top>
          <a:bottom>
            <a:ln w="25400" cap="rnd">
              <a:solidFill>
                <a:srgbClr val="C9C3BA"/>
              </a:solidFill>
              <a:custDash>
                <a:ds d="100000" sp="200000"/>
              </a:custDash>
              <a:miter lim="400000"/>
            </a:ln>
          </a:bottom>
          <a:insideH>
            <a:ln w="25400" cap="rnd">
              <a:solidFill>
                <a:srgbClr val="C9C3BA"/>
              </a:solidFill>
              <a:custDash>
                <a:ds d="100000" sp="200000"/>
              </a:custDash>
              <a:miter lim="400000"/>
            </a:ln>
          </a:insideH>
          <a:insideV>
            <a:ln w="25400" cap="rnd">
              <a:solidFill>
                <a:srgbClr val="C9C3BA"/>
              </a:solidFill>
              <a:custDash>
                <a:ds d="100000" sp="200000"/>
              </a:custDash>
              <a:miter lim="400000"/>
            </a:ln>
          </a:insideV>
        </a:tcBdr>
        <a:fill>
          <a:noFill/>
        </a:fill>
      </a:tcStyle>
    </a:wholeTbl>
    <a:band2H>
      <a:tcTxStyle/>
      <a:tcStyle>
        <a:tcBdr/>
        <a:fill>
          <a:solidFill>
            <a:srgbClr val="C9C3BA">
              <a:alpha val="75000"/>
            </a:srgb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solidFill>
                <a:srgbClr val="FFFFFF">
                  <a:alpha val="50000"/>
                </a:srgbClr>
              </a:solidFill>
              <a:prstDash val="solid"/>
              <a:miter lim="400000"/>
            </a:ln>
          </a:insideV>
        </a:tcBdr>
        <a:fill>
          <a:noFill/>
        </a:fill>
      </a:tcStyle>
    </a:firstCol>
    <a:la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FFFFFF">
                  <a:alpha val="50000"/>
                </a:srgbClr>
              </a:solidFill>
              <a:prstDash val="solid"/>
              <a:miter lim="400000"/>
            </a:ln>
          </a:insideH>
          <a:insideV>
            <a:ln w="12700" cap="flat">
              <a:noFill/>
              <a:miter lim="400000"/>
            </a:ln>
          </a:insideV>
        </a:tcBdr>
        <a:fill>
          <a:noFill/>
        </a:fill>
      </a:tcStyle>
    </a:firstRow>
  </a:tblStyle>
  <a:tblStyle styleId="{EEE7283C-3CF3-47DC-8721-378D4A62B228}" styleName="">
    <a:tblBg/>
    <a:wholeTbl>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solidFill>
                <a:srgbClr val="C9C3BA"/>
              </a:solidFill>
              <a:prstDash val="solid"/>
              <a:miter lim="400000"/>
            </a:ln>
          </a:top>
          <a:bottom>
            <a:ln w="12700" cap="flat">
              <a:solidFill>
                <a:srgbClr val="C9C3BA"/>
              </a:solidFill>
              <a:prstDash val="solid"/>
              <a:miter lim="400000"/>
            </a:ln>
          </a:bottom>
          <a:insideH>
            <a:ln w="12700" cap="flat">
              <a:solidFill>
                <a:srgbClr val="C9C3BA"/>
              </a:solidFill>
              <a:prstDash val="solid"/>
              <a:miter lim="400000"/>
            </a:ln>
          </a:insideH>
          <a:insideV>
            <a:ln w="12700" cap="flat">
              <a:noFill/>
              <a:miter lim="400000"/>
            </a:ln>
          </a:insideV>
        </a:tcBdr>
        <a:fill>
          <a:noFill/>
        </a:fill>
      </a:tcStyle>
    </a:wholeTbl>
    <a:band2H>
      <a:tcTxStyle/>
      <a:tcStyle>
        <a:tcBdr/>
        <a:fill>
          <a:solidFill>
            <a:srgbClr val="C9C3BA">
              <a:alpha val="50000"/>
            </a:srgb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939D60"/>
          </a:solidFill>
        </a:fill>
      </a:tcStyle>
    </a:firstCol>
    <a:la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25400" cap="flat">
              <a:solidFill>
                <a:srgbClr val="525252"/>
              </a:solidFill>
              <a:prstDash val="solid"/>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no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solidFill>
            <a:schemeClr val="accent3">
              <a:hueOff val="708446"/>
              <a:satOff val="-4821"/>
              <a:lumOff val="-14251"/>
            </a:schemeClr>
          </a:solidFill>
        </a:fill>
      </a:tcStyle>
    </a:firstRow>
  </a:tblStyle>
  <a:tblStyle styleId="{CF821DB8-F4EB-4A41-A1BA-3FCAFE7338EE}" styleName="">
    <a:tblBg/>
    <a:wholeTbl>
      <a:tcTxStyle b="off" i="off">
        <a:font>
          <a:latin typeface="Palatino"/>
          <a:ea typeface="Palatino"/>
          <a:cs typeface="Palatino"/>
        </a:font>
        <a:srgbClr val="414141"/>
      </a:tcTxStyle>
      <a:tcStyle>
        <a:tcBdr>
          <a:left>
            <a:ln w="12700" cap="flat">
              <a:solidFill>
                <a:schemeClr val="accent1">
                  <a:hueOff val="-113918"/>
                  <a:satOff val="19024"/>
                  <a:lumOff val="19749"/>
                </a:schemeClr>
              </a:solidFill>
              <a:prstDash val="solid"/>
              <a:miter lim="400000"/>
            </a:ln>
          </a:left>
          <a:right>
            <a:ln w="12700" cap="flat">
              <a:solidFill>
                <a:schemeClr val="accent1">
                  <a:hueOff val="-113918"/>
                  <a:satOff val="19024"/>
                  <a:lumOff val="19749"/>
                </a:schemeClr>
              </a:solidFill>
              <a:prstDash val="solid"/>
              <a:miter lim="400000"/>
            </a:ln>
          </a:right>
          <a:top>
            <a:ln w="12700" cap="flat">
              <a:solidFill>
                <a:schemeClr val="accent1">
                  <a:hueOff val="-113918"/>
                  <a:satOff val="19024"/>
                  <a:lumOff val="19749"/>
                </a:schemeClr>
              </a:solidFill>
              <a:prstDash val="solid"/>
              <a:miter lim="400000"/>
            </a:ln>
          </a:top>
          <a:bottom>
            <a:ln w="12700" cap="flat">
              <a:solidFill>
                <a:schemeClr val="accent1">
                  <a:hueOff val="-113918"/>
                  <a:satOff val="19024"/>
                  <a:lumOff val="19749"/>
                </a:schemeClr>
              </a:solidFill>
              <a:prstDash val="solid"/>
              <a:miter lim="400000"/>
            </a:ln>
          </a:bottom>
          <a:insideH>
            <a:ln w="12700" cap="flat">
              <a:solidFill>
                <a:schemeClr val="accent1">
                  <a:hueOff val="-113918"/>
                  <a:satOff val="19024"/>
                  <a:lumOff val="19749"/>
                </a:schemeClr>
              </a:solidFill>
              <a:prstDash val="solid"/>
              <a:miter lim="400000"/>
            </a:ln>
          </a:insideH>
          <a:insideV>
            <a:ln w="12700" cap="flat">
              <a:solidFill>
                <a:schemeClr val="accent1">
                  <a:hueOff val="-113918"/>
                  <a:satOff val="19024"/>
                  <a:lumOff val="19749"/>
                </a:schemeClr>
              </a:solidFill>
              <a:prstDash val="solid"/>
              <a:miter lim="400000"/>
            </a:ln>
          </a:insideV>
        </a:tcBdr>
        <a:fill>
          <a:noFill/>
        </a:fill>
      </a:tcStyle>
    </a:wholeTbl>
    <a:band2H>
      <a:tcTxStyle/>
      <a:tcStyle>
        <a:tcBdr/>
        <a:fill>
          <a:solidFill>
            <a:schemeClr val="accent1">
              <a:hueOff val="-113918"/>
              <a:satOff val="19024"/>
              <a:lumOff val="19749"/>
              <a:alpha val="35000"/>
            </a:scheme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38AAF"/>
          </a:solidFill>
        </a:fill>
      </a:tcStyle>
    </a:firstCol>
    <a:la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chemeClr val="accent1">
                  <a:hueOff val="-113918"/>
                  <a:satOff val="19024"/>
                  <a:lumOff val="19749"/>
                </a:schemeClr>
              </a:solidFill>
              <a:prstDash val="solid"/>
              <a:miter lim="400000"/>
            </a:ln>
          </a:insideH>
          <a:insideV>
            <a:ln w="12700" cap="flat">
              <a:noFill/>
              <a:miter lim="400000"/>
            </a:ln>
          </a:insideV>
        </a:tcBdr>
        <a:fill>
          <a:solidFill>
            <a:schemeClr val="accent1">
              <a:hueOff val="369196"/>
              <a:satOff val="13972"/>
              <a:lumOff val="-24493"/>
            </a:schemeClr>
          </a:solid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chemeClr val="accent1">
                  <a:hueOff val="-113918"/>
                  <a:satOff val="19024"/>
                  <a:lumOff val="19749"/>
                </a:schemeClr>
              </a:solidFill>
              <a:prstDash val="solid"/>
              <a:miter lim="400000"/>
            </a:ln>
          </a:insideH>
          <a:insideV>
            <a:ln w="12700" cap="flat">
              <a:noFill/>
              <a:miter lim="400000"/>
            </a:ln>
          </a:insideV>
        </a:tcBdr>
        <a:fill>
          <a:solidFill>
            <a:schemeClr val="accent1">
              <a:hueOff val="369194"/>
              <a:satOff val="6343"/>
              <a:lumOff val="-13963"/>
            </a:schemeClr>
          </a:solidFill>
        </a:fill>
      </a:tcStyle>
    </a:firstRow>
  </a:tblStyle>
  <a:tblStyle styleId="{33BA23B1-9221-436E-865A-0063620EA4FD}" styleName="">
    <a:tblBg/>
    <a:wholeTbl>
      <a:tcTxStyle b="off" i="off">
        <a:font>
          <a:latin typeface="Palatino"/>
          <a:ea typeface="Palatino"/>
          <a:cs typeface="Palatino"/>
        </a:font>
        <a:srgbClr val="414141"/>
      </a:tcTxStyle>
      <a:tcStyle>
        <a:tcBdr>
          <a:left>
            <a:ln w="12700" cap="flat">
              <a:solidFill>
                <a:srgbClr val="C9C3BA"/>
              </a:solidFill>
              <a:prstDash val="solid"/>
              <a:miter lim="400000"/>
            </a:ln>
          </a:left>
          <a:right>
            <a:ln w="12700" cap="flat">
              <a:solidFill>
                <a:srgbClr val="C9C3BA"/>
              </a:solidFill>
              <a:prstDash val="solid"/>
              <a:miter lim="400000"/>
            </a:ln>
          </a:right>
          <a:top>
            <a:ln w="12700" cap="flat">
              <a:solidFill>
                <a:srgbClr val="C9C3BA"/>
              </a:solidFill>
              <a:prstDash val="solid"/>
              <a:miter lim="400000"/>
            </a:ln>
          </a:top>
          <a:bottom>
            <a:ln w="12700" cap="flat">
              <a:solidFill>
                <a:srgbClr val="C9C3BA"/>
              </a:solidFill>
              <a:prstDash val="solid"/>
              <a:miter lim="400000"/>
            </a:ln>
          </a:bottom>
          <a:insideH>
            <a:ln w="12700" cap="flat">
              <a:solidFill>
                <a:srgbClr val="C9C3BA"/>
              </a:solidFill>
              <a:prstDash val="solid"/>
              <a:miter lim="400000"/>
            </a:ln>
          </a:insideH>
          <a:insideV>
            <a:ln w="12700" cap="flat">
              <a:solidFill>
                <a:srgbClr val="C9C3BA"/>
              </a:solidFill>
              <a:prstDash val="solid"/>
              <a:miter lim="400000"/>
            </a:ln>
          </a:insideV>
        </a:tcBdr>
        <a:fill>
          <a:noFill/>
        </a:fill>
      </a:tcStyle>
    </a:wholeTbl>
    <a:band2H>
      <a:tcTxStyle/>
      <a:tcStyle>
        <a:tcBdr/>
        <a:fill>
          <a:solidFill>
            <a:srgbClr val="C9C3BA">
              <a:alpha val="50000"/>
            </a:srgb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6635F"/>
          </a:solidFill>
        </a:fill>
      </a:tcStyle>
    </a:firstCol>
    <a:la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solidFill>
                <a:srgbClr val="000000"/>
              </a:solidFill>
              <a:prstDash val="solid"/>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no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solidFill>
            <a:srgbClr val="89847F"/>
          </a:solidFill>
        </a:fill>
      </a:tcStyle>
    </a:firstRow>
  </a:tblStyle>
  <a:tblStyle styleId="{2708684C-4D16-4618-839F-0558EEFCDFE6}" styleName="">
    <a:tblBg/>
    <a:wholeTbl>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solidFill>
                <a:srgbClr val="89847F"/>
              </a:solidFill>
              <a:custDash>
                <a:ds d="200000" sp="200000"/>
              </a:custDash>
              <a:miter lim="400000"/>
            </a:ln>
          </a:top>
          <a:bottom>
            <a:ln w="12700" cap="flat">
              <a:solidFill>
                <a:srgbClr val="89847F"/>
              </a:solidFill>
              <a:custDash>
                <a:ds d="200000" sp="200000"/>
              </a:custDash>
              <a:miter lim="400000"/>
            </a:ln>
          </a:bottom>
          <a:insideH>
            <a:ln w="12700" cap="flat">
              <a:solidFill>
                <a:srgbClr val="89847F"/>
              </a:solidFill>
              <a:custDash>
                <a:ds d="200000" sp="200000"/>
              </a:custDash>
              <a:miter lim="400000"/>
            </a:ln>
          </a:insideH>
          <a:insideV>
            <a:ln w="12700" cap="flat">
              <a:noFill/>
              <a:miter lim="400000"/>
            </a:ln>
          </a:insideV>
        </a:tcBdr>
        <a:fill>
          <a:noFill/>
        </a:fill>
      </a:tcStyle>
    </a:wholeTbl>
    <a:band2H>
      <a:tcTxStyle/>
      <a:tcStyle>
        <a:tcBdr/>
        <a:fill>
          <a:solidFill>
            <a:srgbClr val="C9C3BA">
              <a:alpha val="35000"/>
            </a:srgbClr>
          </a:solidFill>
        </a:fill>
      </a:tcStyle>
    </a:band2H>
    <a:firstCol>
      <a:tcTxStyle b="off" i="off">
        <a:font>
          <a:latin typeface="Palatino"/>
          <a:ea typeface="Palatino"/>
          <a:cs typeface="Palatino"/>
        </a:font>
        <a:srgbClr val="414141"/>
      </a:tcTxStyle>
      <a:tcStyle>
        <a:tcBdr>
          <a:left>
            <a:ln w="12700" cap="flat">
              <a:noFill/>
              <a:miter lim="400000"/>
            </a:ln>
          </a:left>
          <a:right>
            <a:ln w="25400" cap="flat">
              <a:solidFill>
                <a:srgbClr val="000000"/>
              </a:solidFill>
              <a:prstDash val="solid"/>
              <a:miter lim="400000"/>
            </a:ln>
          </a:right>
          <a:top>
            <a:ln w="12700" cap="flat">
              <a:solidFill>
                <a:srgbClr val="89847F"/>
              </a:solidFill>
              <a:custDash>
                <a:ds d="200000" sp="200000"/>
              </a:custDash>
              <a:miter lim="400000"/>
            </a:ln>
          </a:top>
          <a:bottom>
            <a:ln w="12700" cap="flat">
              <a:solidFill>
                <a:srgbClr val="89847F"/>
              </a:solidFill>
              <a:custDash>
                <a:ds d="200000" sp="200000"/>
              </a:custDash>
              <a:miter lim="400000"/>
            </a:ln>
          </a:bottom>
          <a:insideH>
            <a:ln w="12700" cap="flat">
              <a:solidFill>
                <a:srgbClr val="89847F"/>
              </a:solidFill>
              <a:custDash>
                <a:ds d="200000" sp="200000"/>
              </a:custDash>
              <a:miter lim="400000"/>
            </a:ln>
          </a:insideH>
          <a:insideV>
            <a:ln w="12700" cap="flat">
              <a:noFill/>
              <a:miter lim="400000"/>
            </a:ln>
          </a:insideV>
        </a:tcBdr>
        <a:fill>
          <a:noFill/>
        </a:fill>
      </a:tcStyle>
    </a:firstCol>
    <a:la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25400" cap="flat">
              <a:solidFill>
                <a:srgbClr val="000000"/>
              </a:solidFill>
              <a:prstDash val="solid"/>
              <a:miter lim="400000"/>
            </a:ln>
          </a:top>
          <a:bottom>
            <a:ln w="12700" cap="flat">
              <a:noFill/>
              <a:miter lim="400000"/>
            </a:ln>
          </a:bottom>
          <a:insideH>
            <a:ln w="12700" cap="flat">
              <a:solidFill>
                <a:srgbClr val="89847F"/>
              </a:solidFill>
              <a:prstDash val="solid"/>
              <a:miter lim="400000"/>
            </a:ln>
          </a:insideH>
          <a:insideV>
            <a:ln w="12700" cap="flat">
              <a:noFill/>
              <a:miter lim="400000"/>
            </a:ln>
          </a:insideV>
        </a:tcBdr>
        <a:fill>
          <a:noFill/>
        </a:fill>
      </a:tcStyle>
    </a:lastRow>
    <a:fir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noFill/>
              <a:miter lim="400000"/>
            </a:ln>
          </a:top>
          <a:bottom>
            <a:ln w="25400" cap="flat">
              <a:solidFill>
                <a:srgbClr val="000000"/>
              </a:solidFill>
              <a:prstDash val="solid"/>
              <a:miter lim="400000"/>
            </a:ln>
          </a:bottom>
          <a:insideH>
            <a:ln w="12700" cap="flat">
              <a:solidFill>
                <a:srgbClr val="89847F"/>
              </a:solidFill>
              <a:prstDash val="solid"/>
              <a:miter lim="400000"/>
            </a:ln>
          </a:insideH>
          <a:insideV>
            <a:ln w="12700" cap="flat">
              <a:noFill/>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22100" autoAdjust="0"/>
    <p:restoredTop sz="97133" autoAdjust="0"/>
  </p:normalViewPr>
  <p:slideViewPr>
    <p:cSldViewPr snapToGrid="0" snapToObjects="1">
      <p:cViewPr>
        <p:scale>
          <a:sx n="50" d="100"/>
          <a:sy n="50" d="100"/>
        </p:scale>
        <p:origin x="-1080" y="-90"/>
      </p:cViewPr>
      <p:guideLst>
        <p:guide orient="horz" pos="3072"/>
        <p:guide pos="4096"/>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1" name="Shape 141"/>
          <p:cNvSpPr>
            <a:spLocks noGrp="1" noRot="1" noChangeAspect="1"/>
          </p:cNvSpPr>
          <p:nvPr>
            <p:ph type="sldImg"/>
          </p:nvPr>
        </p:nvSpPr>
        <p:spPr>
          <a:xfrm>
            <a:off x="1143000" y="685800"/>
            <a:ext cx="4572000" cy="3429000"/>
          </a:xfrm>
          <a:prstGeom prst="rect">
            <a:avLst/>
          </a:prstGeom>
        </p:spPr>
        <p:txBody>
          <a:bodyPr/>
          <a:lstStyle/>
          <a:p>
            <a:endParaRPr/>
          </a:p>
        </p:txBody>
      </p:sp>
      <p:sp>
        <p:nvSpPr>
          <p:cNvPr id="142" name="Shape 142"/>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 xmlns:p14="http://schemas.microsoft.com/office/powerpoint/2010/main" val="3126914682"/>
      </p:ext>
    </p:extLst>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Shape 157"/>
          <p:cNvSpPr>
            <a:spLocks noGrp="1" noRot="1" noChangeAspect="1"/>
          </p:cNvSpPr>
          <p:nvPr>
            <p:ph type="sldImg"/>
          </p:nvPr>
        </p:nvSpPr>
        <p:spPr>
          <a:prstGeom prst="rect">
            <a:avLst/>
          </a:prstGeom>
        </p:spPr>
        <p:txBody>
          <a:bodyPr/>
          <a:lstStyle/>
          <a:p>
            <a:endParaRPr/>
          </a:p>
        </p:txBody>
      </p:sp>
      <p:sp>
        <p:nvSpPr>
          <p:cNvPr id="158" name="Shape 158"/>
          <p:cNvSpPr>
            <a:spLocks noGrp="1"/>
          </p:cNvSpPr>
          <p:nvPr>
            <p:ph type="body" sz="quarter" idx="1"/>
          </p:nvPr>
        </p:nvSpPr>
        <p:spPr>
          <a:prstGeom prst="rect">
            <a:avLst/>
          </a:prstGeom>
        </p:spPr>
        <p:txBody>
          <a:bodyPr/>
          <a:lstStyle/>
          <a:p>
            <a:endParaRPr dirty="0"/>
          </a:p>
        </p:txBody>
      </p:sp>
    </p:spTree>
    <p:extLst>
      <p:ext uri="{BB962C8B-B14F-4D97-AF65-F5344CB8AC3E}">
        <p14:creationId xmlns="" xmlns:p14="http://schemas.microsoft.com/office/powerpoint/2010/main" val="1664759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2200" b="0" i="0" dirty="0" smtClean="0">
                <a:effectLst/>
                <a:latin typeface="Helvetica Neue"/>
                <a:ea typeface="Helvetica Neue"/>
                <a:cs typeface="Helvetica Neue"/>
                <a:sym typeface="Helvetica Neue"/>
              </a:rPr>
              <a:t>La première chose à faire dans un script </a:t>
            </a:r>
            <a:r>
              <a:rPr lang="fr-FR" sz="2200" b="0" i="0" dirty="0" err="1" smtClean="0">
                <a:effectLst/>
                <a:latin typeface="Helvetica Neue"/>
                <a:ea typeface="Helvetica Neue"/>
                <a:cs typeface="Helvetica Neue"/>
                <a:sym typeface="Helvetica Neue"/>
              </a:rPr>
              <a:t>shell</a:t>
            </a:r>
            <a:r>
              <a:rPr lang="fr-FR" sz="2200" b="0" i="0" dirty="0" smtClean="0">
                <a:effectLst/>
                <a:latin typeface="Helvetica Neue"/>
                <a:ea typeface="Helvetica Neue"/>
                <a:cs typeface="Helvetica Neue"/>
                <a:sym typeface="Helvetica Neue"/>
              </a:rPr>
              <a:t> est d'indiquer… quel </a:t>
            </a:r>
            <a:r>
              <a:rPr lang="fr-FR" sz="2200" b="0" i="0" dirty="0" err="1" smtClean="0">
                <a:effectLst/>
                <a:latin typeface="Helvetica Neue"/>
                <a:ea typeface="Helvetica Neue"/>
                <a:cs typeface="Helvetica Neue"/>
                <a:sym typeface="Helvetica Neue"/>
              </a:rPr>
              <a:t>shell</a:t>
            </a:r>
            <a:r>
              <a:rPr lang="fr-FR" sz="2200" b="0" i="0" dirty="0" smtClean="0">
                <a:effectLst/>
                <a:latin typeface="Helvetica Neue"/>
                <a:ea typeface="Helvetica Neue"/>
                <a:cs typeface="Helvetica Neue"/>
                <a:sym typeface="Helvetica Neue"/>
              </a:rPr>
              <a:t> est utilisé. En effet, comme je vous l'ai dit plus tôt, la syntaxe du langage change un peu selon qu'on utilise sh, </a:t>
            </a:r>
            <a:r>
              <a:rPr lang="fr-FR" sz="2200" b="0" i="0" dirty="0" err="1" smtClean="0">
                <a:effectLst/>
                <a:latin typeface="Helvetica Neue"/>
                <a:ea typeface="Helvetica Neue"/>
                <a:cs typeface="Helvetica Neue"/>
                <a:sym typeface="Helvetica Neue"/>
              </a:rPr>
              <a:t>bash</a:t>
            </a:r>
            <a:r>
              <a:rPr lang="fr-FR" sz="2200" b="0" i="0" dirty="0" smtClean="0">
                <a:effectLst/>
                <a:latin typeface="Helvetica Neue"/>
                <a:ea typeface="Helvetica Neue"/>
                <a:cs typeface="Helvetica Neue"/>
                <a:sym typeface="Helvetica Neue"/>
              </a:rPr>
              <a:t>, </a:t>
            </a:r>
            <a:r>
              <a:rPr lang="fr-FR" sz="2200" b="0" i="0" dirty="0" err="1" smtClean="0">
                <a:effectLst/>
                <a:latin typeface="Helvetica Neue"/>
                <a:ea typeface="Helvetica Neue"/>
                <a:cs typeface="Helvetica Neue"/>
                <a:sym typeface="Helvetica Neue"/>
              </a:rPr>
              <a:t>ksh</a:t>
            </a:r>
            <a:r>
              <a:rPr lang="fr-FR" sz="2200" b="0" i="0" dirty="0" smtClean="0">
                <a:effectLst/>
                <a:latin typeface="Helvetica Neue"/>
                <a:ea typeface="Helvetica Neue"/>
                <a:cs typeface="Helvetica Neue"/>
                <a:sym typeface="Helvetica Neue"/>
              </a:rPr>
              <a:t>, </a:t>
            </a:r>
            <a:r>
              <a:rPr lang="fr-FR" sz="2200" b="0" i="0" dirty="0" err="1" smtClean="0">
                <a:effectLst/>
                <a:latin typeface="Helvetica Neue"/>
                <a:ea typeface="Helvetica Neue"/>
                <a:cs typeface="Helvetica Neue"/>
                <a:sym typeface="Helvetica Neue"/>
              </a:rPr>
              <a:t>etc</a:t>
            </a:r>
            <a:endParaRPr lang="fr-FR" sz="2200" b="0" i="0" dirty="0" smtClean="0">
              <a:effectLst/>
              <a:latin typeface="Helvetica Neue"/>
              <a:ea typeface="Helvetica Neue"/>
              <a:cs typeface="Helvetica Neue"/>
              <a:sym typeface="Helvetica Neue"/>
            </a:endParaRPr>
          </a:p>
          <a:p>
            <a:r>
              <a:rPr lang="fr-FR" sz="2200" b="0" i="0" dirty="0" smtClean="0">
                <a:effectLst/>
                <a:latin typeface="Helvetica Neue"/>
                <a:ea typeface="Helvetica Neue"/>
                <a:cs typeface="Helvetica Neue"/>
                <a:sym typeface="Helvetica Neue"/>
              </a:rPr>
              <a:t>En ce qui nous concerne, nous souhaitons utiliser la syntaxe de </a:t>
            </a:r>
            <a:r>
              <a:rPr lang="fr-FR" sz="2200" b="0" i="0" dirty="0" err="1" smtClean="0">
                <a:effectLst/>
                <a:latin typeface="Helvetica Neue"/>
                <a:ea typeface="Helvetica Neue"/>
                <a:cs typeface="Helvetica Neue"/>
                <a:sym typeface="Helvetica Neue"/>
              </a:rPr>
              <a:t>bash</a:t>
            </a:r>
            <a:r>
              <a:rPr lang="fr-FR" sz="2200" b="0" i="0" dirty="0" smtClean="0">
                <a:effectLst/>
                <a:latin typeface="Helvetica Neue"/>
                <a:ea typeface="Helvetica Neue"/>
                <a:cs typeface="Helvetica Neue"/>
                <a:sym typeface="Helvetica Neue"/>
              </a:rPr>
              <a:t>, plus répandu sous Linux et plus complet que sh. Nous indiquons où se trouve le programme </a:t>
            </a:r>
            <a:r>
              <a:rPr lang="fr-FR" sz="2200" b="0" i="0" dirty="0" err="1" smtClean="0">
                <a:effectLst/>
                <a:latin typeface="Helvetica Neue"/>
                <a:ea typeface="Helvetica Neue"/>
                <a:cs typeface="Helvetica Neue"/>
                <a:sym typeface="Helvetica Neue"/>
              </a:rPr>
              <a:t>bash</a:t>
            </a:r>
            <a:r>
              <a:rPr lang="fr-FR" sz="2200" b="0" i="0" dirty="0" smtClean="0">
                <a:effectLst/>
                <a:latin typeface="Helvetica Neue"/>
                <a:ea typeface="Helvetica Neue"/>
                <a:cs typeface="Helvetica Neue"/>
                <a:sym typeface="Helvetica Neue"/>
              </a:rPr>
              <a:t> :</a:t>
            </a:r>
          </a:p>
          <a:p>
            <a:endParaRPr lang="fr-FR" sz="2200" b="0" i="0" dirty="0" smtClean="0">
              <a:effectLst/>
              <a:latin typeface="Helvetica Neue"/>
              <a:sym typeface="Helvetica Neue"/>
            </a:endParaRPr>
          </a:p>
          <a:p>
            <a:r>
              <a:rPr lang="fr-FR" dirty="0" smtClean="0"/>
              <a:t>/bin/</a:t>
            </a:r>
            <a:r>
              <a:rPr lang="fr-FR" dirty="0" err="1" smtClean="0"/>
              <a:t>bash</a:t>
            </a:r>
            <a:r>
              <a:rPr lang="fr-FR" sz="2200" b="0" i="0" dirty="0" smtClean="0">
                <a:effectLst/>
                <a:latin typeface="Helvetica Neue"/>
                <a:ea typeface="Helvetica Neue"/>
                <a:cs typeface="Helvetica Neue"/>
                <a:sym typeface="Helvetica Neue"/>
              </a:rPr>
              <a:t> peut être remplacé par </a:t>
            </a:r>
            <a:r>
              <a:rPr lang="fr-FR" dirty="0" smtClean="0"/>
              <a:t>/bin/sh</a:t>
            </a:r>
            <a:r>
              <a:rPr lang="fr-FR" sz="2200" b="0" i="0" dirty="0" smtClean="0">
                <a:effectLst/>
                <a:latin typeface="Helvetica Neue"/>
                <a:ea typeface="Helvetica Neue"/>
                <a:cs typeface="Helvetica Neue"/>
                <a:sym typeface="Helvetica Neue"/>
              </a:rPr>
              <a:t> si vous souhaitez coder pour sh, </a:t>
            </a:r>
            <a:r>
              <a:rPr lang="fr-FR" dirty="0" smtClean="0"/>
              <a:t>/bin/</a:t>
            </a:r>
            <a:r>
              <a:rPr lang="fr-FR" dirty="0" err="1" smtClean="0"/>
              <a:t>ksh</a:t>
            </a:r>
            <a:r>
              <a:rPr lang="fr-FR" sz="2200" b="0" i="0" dirty="0" smtClean="0">
                <a:effectLst/>
                <a:latin typeface="Helvetica Neue"/>
                <a:ea typeface="Helvetica Neue"/>
                <a:cs typeface="Helvetica Neue"/>
                <a:sym typeface="Helvetica Neue"/>
              </a:rPr>
              <a:t> pour </a:t>
            </a:r>
            <a:r>
              <a:rPr lang="fr-FR" sz="2200" b="0" i="0" dirty="0" err="1" smtClean="0">
                <a:effectLst/>
                <a:latin typeface="Helvetica Neue"/>
                <a:ea typeface="Helvetica Neue"/>
                <a:cs typeface="Helvetica Neue"/>
                <a:sym typeface="Helvetica Neue"/>
              </a:rPr>
              <a:t>ksh</a:t>
            </a:r>
            <a:r>
              <a:rPr lang="fr-FR" sz="2200" b="0" i="0" dirty="0" smtClean="0">
                <a:effectLst/>
                <a:latin typeface="Helvetica Neue"/>
                <a:ea typeface="Helvetica Neue"/>
                <a:cs typeface="Helvetica Neue"/>
                <a:sym typeface="Helvetica Neue"/>
              </a:rPr>
              <a:t>, etc.</a:t>
            </a:r>
          </a:p>
          <a:p>
            <a:r>
              <a:rPr lang="fr-FR" sz="2200" b="0" i="0" dirty="0" smtClean="0">
                <a:effectLst/>
                <a:latin typeface="Helvetica Neue"/>
                <a:ea typeface="Helvetica Neue"/>
                <a:cs typeface="Helvetica Neue"/>
                <a:sym typeface="Helvetica Neue"/>
              </a:rPr>
              <a:t>La ligne du </a:t>
            </a:r>
            <a:r>
              <a:rPr lang="fr-FR" sz="2200" b="0" i="0" dirty="0" err="1" smtClean="0">
                <a:effectLst/>
                <a:latin typeface="Helvetica Neue"/>
                <a:ea typeface="Helvetica Neue"/>
                <a:cs typeface="Helvetica Neue"/>
                <a:sym typeface="Helvetica Neue"/>
              </a:rPr>
              <a:t>sha</a:t>
            </a:r>
            <a:r>
              <a:rPr lang="fr-FR" sz="2200" b="0" i="0" dirty="0" smtClean="0">
                <a:effectLst/>
                <a:latin typeface="Helvetica Neue"/>
                <a:ea typeface="Helvetica Neue"/>
                <a:cs typeface="Helvetica Neue"/>
                <a:sym typeface="Helvetica Neue"/>
              </a:rPr>
              <a:t>-bang permet donc de « charger » le bon </a:t>
            </a:r>
            <a:r>
              <a:rPr lang="fr-FR" sz="2200" b="0" i="0" dirty="0" err="1" smtClean="0">
                <a:effectLst/>
                <a:latin typeface="Helvetica Neue"/>
                <a:ea typeface="Helvetica Neue"/>
                <a:cs typeface="Helvetica Neue"/>
                <a:sym typeface="Helvetica Neue"/>
              </a:rPr>
              <a:t>shell</a:t>
            </a:r>
            <a:r>
              <a:rPr lang="fr-FR" sz="2200" b="0" i="0" dirty="0" smtClean="0">
                <a:effectLst/>
                <a:latin typeface="Helvetica Neue"/>
                <a:ea typeface="Helvetica Neue"/>
                <a:cs typeface="Helvetica Neue"/>
                <a:sym typeface="Helvetica Neue"/>
              </a:rPr>
              <a:t> avant l'exécution du script. À partir de maintenant, vous devrez la mettre au tout début de chacun de vos scripts.</a:t>
            </a:r>
          </a:p>
        </p:txBody>
      </p:sp>
    </p:spTree>
    <p:extLst>
      <p:ext uri="{BB962C8B-B14F-4D97-AF65-F5344CB8AC3E}">
        <p14:creationId xmlns="" xmlns:p14="http://schemas.microsoft.com/office/powerpoint/2010/main" val="2107132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pPr marL="0" marR="0" indent="0" defTabSz="457200" eaLnBrk="1" fontAlgn="auto" latinLnBrk="0" hangingPunct="1">
              <a:lnSpc>
                <a:spcPct val="117999"/>
              </a:lnSpc>
              <a:spcBef>
                <a:spcPts val="0"/>
              </a:spcBef>
              <a:spcAft>
                <a:spcPts val="0"/>
              </a:spcAft>
              <a:buClrTx/>
              <a:buSzTx/>
              <a:buFontTx/>
              <a:buNone/>
              <a:tabLst/>
              <a:defRPr/>
            </a:pPr>
            <a:r>
              <a:rPr lang="fr-FR" sz="2200" b="0" i="0" dirty="0" smtClean="0">
                <a:effectLst/>
                <a:latin typeface="Helvetica Neue"/>
                <a:ea typeface="Helvetica Neue"/>
                <a:cs typeface="Helvetica Neue"/>
                <a:sym typeface="Helvetica Neue"/>
              </a:rPr>
              <a:t>Le script s'exécute maintenant comme n'importe quel programme, en tapant « ./ » devant le nom du script :</a:t>
            </a:r>
            <a:endParaRPr lang="fr-FR" dirty="0" smtClean="0"/>
          </a:p>
          <a:p>
            <a:endParaRPr lang="fr-FR" dirty="0"/>
          </a:p>
        </p:txBody>
      </p:sp>
    </p:spTree>
    <p:extLst>
      <p:ext uri="{BB962C8B-B14F-4D97-AF65-F5344CB8AC3E}">
        <p14:creationId xmlns="" xmlns:p14="http://schemas.microsoft.com/office/powerpoint/2010/main" val="15571828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Shape 174"/>
          <p:cNvSpPr>
            <a:spLocks noGrp="1" noRot="1" noChangeAspect="1"/>
          </p:cNvSpPr>
          <p:nvPr>
            <p:ph type="sldImg"/>
          </p:nvPr>
        </p:nvSpPr>
        <p:spPr>
          <a:prstGeom prst="rect">
            <a:avLst/>
          </a:prstGeom>
        </p:spPr>
        <p:txBody>
          <a:bodyPr/>
          <a:lstStyle/>
          <a:p>
            <a:endParaRPr/>
          </a:p>
        </p:txBody>
      </p:sp>
      <p:sp>
        <p:nvSpPr>
          <p:cNvPr id="175" name="Shape 175"/>
          <p:cNvSpPr>
            <a:spLocks noGrp="1"/>
          </p:cNvSpPr>
          <p:nvPr>
            <p:ph type="body" sz="quarter" idx="1"/>
          </p:nvPr>
        </p:nvSpPr>
        <p:spPr>
          <a:prstGeom prst="rect">
            <a:avLst/>
          </a:prstGeom>
        </p:spPr>
        <p:txBody>
          <a:bodyPr/>
          <a:lstStyle/>
          <a:p>
            <a:r>
              <a:t>Chaque Os se comporte les composants suivante</a:t>
            </a:r>
          </a:p>
        </p:txBody>
      </p:sp>
    </p:spTree>
    <p:extLst>
      <p:ext uri="{BB962C8B-B14F-4D97-AF65-F5344CB8AC3E}">
        <p14:creationId xmlns="" xmlns:p14="http://schemas.microsoft.com/office/powerpoint/2010/main" val="9537148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Shape 174"/>
          <p:cNvSpPr>
            <a:spLocks noGrp="1" noRot="1" noChangeAspect="1"/>
          </p:cNvSpPr>
          <p:nvPr>
            <p:ph type="sldImg"/>
          </p:nvPr>
        </p:nvSpPr>
        <p:spPr>
          <a:prstGeom prst="rect">
            <a:avLst/>
          </a:prstGeom>
        </p:spPr>
        <p:txBody>
          <a:bodyPr/>
          <a:lstStyle/>
          <a:p>
            <a:endParaRPr/>
          </a:p>
        </p:txBody>
      </p:sp>
      <p:sp>
        <p:nvSpPr>
          <p:cNvPr id="175" name="Shape 175"/>
          <p:cNvSpPr>
            <a:spLocks noGrp="1"/>
          </p:cNvSpPr>
          <p:nvPr>
            <p:ph type="body" sz="quarter" idx="1"/>
          </p:nvPr>
        </p:nvSpPr>
        <p:spPr>
          <a:prstGeom prst="rect">
            <a:avLst/>
          </a:prstGeom>
        </p:spPr>
        <p:txBody>
          <a:bodyPr/>
          <a:lstStyle/>
          <a:p>
            <a:r>
              <a:t>Chaque Os se comporte les composants suivante</a:t>
            </a:r>
          </a:p>
        </p:txBody>
      </p:sp>
    </p:spTree>
    <p:extLst>
      <p:ext uri="{BB962C8B-B14F-4D97-AF65-F5344CB8AC3E}">
        <p14:creationId xmlns="" xmlns:p14="http://schemas.microsoft.com/office/powerpoint/2010/main" val="2845688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Shape 208"/>
          <p:cNvSpPr>
            <a:spLocks noGrp="1" noRot="1" noChangeAspect="1"/>
          </p:cNvSpPr>
          <p:nvPr>
            <p:ph type="sldImg"/>
          </p:nvPr>
        </p:nvSpPr>
        <p:spPr>
          <a:prstGeom prst="rect">
            <a:avLst/>
          </a:prstGeom>
        </p:spPr>
        <p:txBody>
          <a:bodyPr/>
          <a:lstStyle/>
          <a:p>
            <a:endParaRPr/>
          </a:p>
        </p:txBody>
      </p:sp>
      <p:sp>
        <p:nvSpPr>
          <p:cNvPr id="209" name="Shape 209"/>
          <p:cNvSpPr>
            <a:spLocks noGrp="1"/>
          </p:cNvSpPr>
          <p:nvPr>
            <p:ph type="body" sz="quarter" idx="1"/>
          </p:nvPr>
        </p:nvSpPr>
        <p:spPr>
          <a:prstGeom prst="rect">
            <a:avLst/>
          </a:prstGeom>
        </p:spPr>
        <p:txBody>
          <a:bodyPr/>
          <a:lstStyle/>
          <a:p>
            <a:pPr marL="0" marR="0" indent="0" defTabSz="457200" eaLnBrk="1" fontAlgn="auto" latinLnBrk="0" hangingPunct="1">
              <a:lnSpc>
                <a:spcPct val="117999"/>
              </a:lnSpc>
              <a:spcBef>
                <a:spcPts val="0"/>
              </a:spcBef>
              <a:spcAft>
                <a:spcPts val="0"/>
              </a:spcAft>
              <a:buClrTx/>
              <a:buSzTx/>
              <a:buFontTx/>
              <a:buNone/>
              <a:tabLst/>
              <a:defRPr/>
            </a:pPr>
            <a:r>
              <a:rPr lang="fr-FR" sz="2200" b="0" i="0" dirty="0" smtClean="0">
                <a:effectLst/>
                <a:latin typeface="Helvetica Neue"/>
                <a:ea typeface="Helvetica Neue"/>
                <a:cs typeface="Helvetica Neue"/>
                <a:sym typeface="Helvetica Neue"/>
              </a:rPr>
              <a:t>Comme dans tous les langages de programmation, on trouve en </a:t>
            </a:r>
            <a:r>
              <a:rPr lang="fr-FR" sz="2200" b="0" i="0" dirty="0" err="1" smtClean="0">
                <a:effectLst/>
                <a:latin typeface="Helvetica Neue"/>
                <a:ea typeface="Helvetica Neue"/>
                <a:cs typeface="Helvetica Neue"/>
                <a:sym typeface="Helvetica Neue"/>
              </a:rPr>
              <a:t>bash</a:t>
            </a:r>
            <a:r>
              <a:rPr lang="fr-FR" sz="2200" b="0" i="0" dirty="0" smtClean="0">
                <a:effectLst/>
                <a:latin typeface="Helvetica Neue"/>
                <a:ea typeface="Helvetica Neue"/>
                <a:cs typeface="Helvetica Neue"/>
                <a:sym typeface="Helvetica Neue"/>
              </a:rPr>
              <a:t> ce que l'on appelle des </a:t>
            </a:r>
            <a:r>
              <a:rPr lang="fr-FR" sz="2200" b="1" i="0" dirty="0" smtClean="0">
                <a:effectLst/>
                <a:latin typeface="Helvetica Neue"/>
                <a:ea typeface="Helvetica Neue"/>
                <a:cs typeface="Helvetica Neue"/>
                <a:sym typeface="Helvetica Neue"/>
              </a:rPr>
              <a:t>variables</a:t>
            </a:r>
            <a:r>
              <a:rPr lang="fr-FR" sz="2200" b="0" i="0" dirty="0" smtClean="0">
                <a:effectLst/>
                <a:latin typeface="Helvetica Neue"/>
                <a:ea typeface="Helvetica Neue"/>
                <a:cs typeface="Helvetica Neue"/>
                <a:sym typeface="Helvetica Neue"/>
              </a:rPr>
              <a:t>. Elles nous permettent de stocker temporairement des informations en mémoire. C'est en fait la base de la programmation.</a:t>
            </a:r>
            <a:endParaRPr lang="fr-FR" dirty="0" smtClean="0"/>
          </a:p>
          <a:p>
            <a:endParaRPr dirty="0"/>
          </a:p>
        </p:txBody>
      </p:sp>
    </p:spTree>
    <p:extLst>
      <p:ext uri="{BB962C8B-B14F-4D97-AF65-F5344CB8AC3E}">
        <p14:creationId xmlns="" xmlns:p14="http://schemas.microsoft.com/office/powerpoint/2010/main" val="27299651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Tree>
    <p:extLst>
      <p:ext uri="{BB962C8B-B14F-4D97-AF65-F5344CB8AC3E}">
        <p14:creationId xmlns="" xmlns:p14="http://schemas.microsoft.com/office/powerpoint/2010/main" val="30747347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457200" eaLnBrk="1" fontAlgn="auto" latinLnBrk="0" hangingPunct="1">
              <a:lnSpc>
                <a:spcPct val="117999"/>
              </a:lnSpc>
              <a:spcBef>
                <a:spcPts val="0"/>
              </a:spcBef>
              <a:spcAft>
                <a:spcPts val="0"/>
              </a:spcAft>
              <a:buClrTx/>
              <a:buSzTx/>
              <a:buFontTx/>
              <a:buNone/>
              <a:tabLst/>
              <a:defRPr/>
            </a:pPr>
            <a:r>
              <a:rPr lang="fr-FR" sz="2000" dirty="0" smtClean="0"/>
              <a:t>Pour bien comprendre ce qui se passe, intéressons-nous au fonctionnement de ce que l'on appelle les « </a:t>
            </a:r>
            <a:r>
              <a:rPr lang="fr-FR" sz="2000" dirty="0" err="1" smtClean="0"/>
              <a:t>quotes</a:t>
            </a:r>
            <a:r>
              <a:rPr lang="fr-FR" sz="2000" dirty="0" smtClean="0"/>
              <a:t> ».</a:t>
            </a:r>
            <a:endParaRPr lang="fr-FR" sz="2000" dirty="0" smtClean="0">
              <a:solidFill>
                <a:schemeClr val="tx1"/>
              </a:solidFill>
              <a:latin typeface="Montserrat"/>
            </a:endParaRPr>
          </a:p>
          <a:p>
            <a:r>
              <a:rPr lang="fr-FR" sz="2200" b="0" i="0" dirty="0" smtClean="0">
                <a:effectLst/>
                <a:latin typeface="Helvetica Neue"/>
                <a:ea typeface="Helvetica Neue"/>
                <a:cs typeface="Helvetica Neue"/>
                <a:sym typeface="Helvetica Neue"/>
              </a:rPr>
              <a:t>En fait, les doubles </a:t>
            </a:r>
            <a:r>
              <a:rPr lang="fr-FR" sz="2200" b="0" i="0" dirty="0" err="1" smtClean="0">
                <a:effectLst/>
                <a:latin typeface="Helvetica Neue"/>
                <a:ea typeface="Helvetica Neue"/>
                <a:cs typeface="Helvetica Neue"/>
                <a:sym typeface="Helvetica Neue"/>
              </a:rPr>
              <a:t>quotes</a:t>
            </a:r>
            <a:r>
              <a:rPr lang="fr-FR" sz="2200" b="0" i="0" dirty="0" smtClean="0">
                <a:effectLst/>
                <a:latin typeface="Helvetica Neue"/>
                <a:ea typeface="Helvetica Neue"/>
                <a:cs typeface="Helvetica Neue"/>
                <a:sym typeface="Helvetica Neue"/>
              </a:rPr>
              <a:t> demandent à </a:t>
            </a:r>
            <a:r>
              <a:rPr lang="fr-FR" sz="2200" b="0" i="0" dirty="0" err="1" smtClean="0">
                <a:effectLst/>
                <a:latin typeface="Helvetica Neue"/>
                <a:ea typeface="Helvetica Neue"/>
                <a:cs typeface="Helvetica Neue"/>
                <a:sym typeface="Helvetica Neue"/>
              </a:rPr>
              <a:t>bash</a:t>
            </a:r>
            <a:r>
              <a:rPr lang="fr-FR" sz="2200" b="0" i="0" dirty="0" smtClean="0">
                <a:effectLst/>
                <a:latin typeface="Helvetica Neue"/>
                <a:ea typeface="Helvetica Neue"/>
                <a:cs typeface="Helvetica Neue"/>
                <a:sym typeface="Helvetica Neue"/>
              </a:rPr>
              <a:t> d'analyser le contenu du message. S'il trouve des symboles spéciaux (comme des variables), il les interprète.</a:t>
            </a:r>
            <a:r>
              <a:rPr lang="fr-FR" dirty="0" smtClean="0"/>
              <a:t/>
            </a:r>
            <a:br>
              <a:rPr lang="fr-FR" dirty="0" smtClean="0"/>
            </a:br>
            <a:r>
              <a:rPr lang="fr-FR" sz="2200" b="0" i="0" dirty="0" smtClean="0">
                <a:effectLst/>
                <a:latin typeface="Helvetica Neue"/>
                <a:ea typeface="Helvetica Neue"/>
                <a:cs typeface="Helvetica Neue"/>
                <a:sym typeface="Helvetica Neue"/>
              </a:rPr>
              <a:t>Avec de simples </a:t>
            </a:r>
            <a:r>
              <a:rPr lang="fr-FR" sz="2200" b="0" i="0" dirty="0" err="1" smtClean="0">
                <a:effectLst/>
                <a:latin typeface="Helvetica Neue"/>
                <a:ea typeface="Helvetica Neue"/>
                <a:cs typeface="Helvetica Neue"/>
                <a:sym typeface="Helvetica Neue"/>
              </a:rPr>
              <a:t>quotes</a:t>
            </a:r>
            <a:r>
              <a:rPr lang="fr-FR" sz="2200" b="0" i="0" dirty="0" smtClean="0">
                <a:effectLst/>
                <a:latin typeface="Helvetica Neue"/>
                <a:ea typeface="Helvetica Neue"/>
                <a:cs typeface="Helvetica Neue"/>
                <a:sym typeface="Helvetica Neue"/>
              </a:rPr>
              <a:t>, le contenu était affiché tel quel</a:t>
            </a:r>
          </a:p>
          <a:p>
            <a:r>
              <a:rPr lang="fr-FR" sz="2200" b="0" i="0" dirty="0" smtClean="0">
                <a:effectLst/>
                <a:latin typeface="Helvetica Neue"/>
                <a:ea typeface="Helvetica Neue"/>
                <a:cs typeface="Helvetica Neue"/>
                <a:sym typeface="Helvetica Neue"/>
              </a:rPr>
              <a:t>Un peu particulières, les back </a:t>
            </a:r>
            <a:r>
              <a:rPr lang="fr-FR" sz="2200" b="0" i="0" dirty="0" err="1" smtClean="0">
                <a:effectLst/>
                <a:latin typeface="Helvetica Neue"/>
                <a:ea typeface="Helvetica Neue"/>
                <a:cs typeface="Helvetica Neue"/>
                <a:sym typeface="Helvetica Neue"/>
              </a:rPr>
              <a:t>quotes</a:t>
            </a:r>
            <a:r>
              <a:rPr lang="fr-FR" sz="2200" b="0" i="0" dirty="0" smtClean="0">
                <a:effectLst/>
                <a:latin typeface="Helvetica Neue"/>
                <a:ea typeface="Helvetica Neue"/>
                <a:cs typeface="Helvetica Neue"/>
                <a:sym typeface="Helvetica Neue"/>
              </a:rPr>
              <a:t> demandent à </a:t>
            </a:r>
            <a:r>
              <a:rPr lang="fr-FR" sz="2200" b="0" i="0" dirty="0" err="1" smtClean="0">
                <a:effectLst/>
                <a:latin typeface="Helvetica Neue"/>
                <a:ea typeface="Helvetica Neue"/>
                <a:cs typeface="Helvetica Neue"/>
                <a:sym typeface="Helvetica Neue"/>
              </a:rPr>
              <a:t>bash</a:t>
            </a:r>
            <a:r>
              <a:rPr lang="fr-FR" sz="2200" b="0" i="0" dirty="0" smtClean="0">
                <a:effectLst/>
                <a:latin typeface="Helvetica Neue"/>
                <a:ea typeface="Helvetica Neue"/>
                <a:cs typeface="Helvetica Neue"/>
                <a:sym typeface="Helvetica Neue"/>
              </a:rPr>
              <a:t> d'</a:t>
            </a:r>
            <a:r>
              <a:rPr lang="fr-FR" sz="2200" b="1" i="0" dirty="0" smtClean="0">
                <a:effectLst/>
                <a:latin typeface="Helvetica Neue"/>
                <a:ea typeface="Helvetica Neue"/>
                <a:cs typeface="Helvetica Neue"/>
                <a:sym typeface="Helvetica Neue"/>
              </a:rPr>
              <a:t>exécuter</a:t>
            </a:r>
            <a:r>
              <a:rPr lang="fr-FR" sz="2200" b="0" i="0" dirty="0" smtClean="0">
                <a:effectLst/>
                <a:latin typeface="Helvetica Neue"/>
                <a:ea typeface="Helvetica Neue"/>
                <a:cs typeface="Helvetica Neue"/>
                <a:sym typeface="Helvetica Neue"/>
              </a:rPr>
              <a:t> ce qui se trouve à l'intérieur.</a:t>
            </a:r>
            <a:endParaRPr lang="fr-FR" dirty="0"/>
          </a:p>
        </p:txBody>
      </p:sp>
    </p:spTree>
    <p:extLst>
      <p:ext uri="{BB962C8B-B14F-4D97-AF65-F5344CB8AC3E}">
        <p14:creationId xmlns="" xmlns:p14="http://schemas.microsoft.com/office/powerpoint/2010/main" val="26074456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2200" b="0" i="0" dirty="0" smtClean="0">
                <a:effectLst/>
                <a:latin typeface="Helvetica Neue"/>
                <a:ea typeface="Helvetica Neue"/>
                <a:cs typeface="Helvetica Neue"/>
                <a:sym typeface="Helvetica Neue"/>
              </a:rPr>
              <a:t>On peut demander de saisir autant de variables d'affilée que l'on souhaite. Voici un exemple de ce qu'il est possible de faire :</a:t>
            </a:r>
          </a:p>
          <a:p>
            <a:r>
              <a:rPr lang="fr-FR" dirty="0" smtClean="0"/>
              <a:t>Read </a:t>
            </a:r>
            <a:r>
              <a:rPr lang="fr-FR" sz="2200" b="0" i="0" dirty="0" smtClean="0">
                <a:effectLst/>
                <a:latin typeface="Helvetica Neue"/>
                <a:ea typeface="Helvetica Neue"/>
                <a:cs typeface="Helvetica Neue"/>
                <a:sym typeface="Helvetica Neue"/>
              </a:rPr>
              <a:t>lit ce que vous tapez mot par mot (en considérant que les mots sont séparés par des espaces). Il assigne chaque mot à une variable différente, d'où le fait que le nom et le prénom ont été correctement et respectivement assignés à </a:t>
            </a:r>
            <a:r>
              <a:rPr lang="fr-FR" dirty="0" smtClean="0"/>
              <a:t>$nom </a:t>
            </a:r>
            <a:r>
              <a:rPr lang="fr-FR" sz="2200" b="0" i="0" dirty="0" smtClean="0">
                <a:effectLst/>
                <a:latin typeface="Helvetica Neue"/>
                <a:ea typeface="Helvetica Neue"/>
                <a:cs typeface="Helvetica Neue"/>
                <a:sym typeface="Helvetica Neue"/>
              </a:rPr>
              <a:t>et </a:t>
            </a:r>
            <a:r>
              <a:rPr lang="fr-FR" dirty="0" smtClean="0"/>
              <a:t>$</a:t>
            </a:r>
            <a:r>
              <a:rPr lang="fr-FR" dirty="0" err="1" smtClean="0"/>
              <a:t>prenom</a:t>
            </a:r>
            <a:r>
              <a:rPr lang="fr-FR" sz="2200" b="0" i="0" dirty="0" smtClean="0">
                <a:effectLst/>
                <a:latin typeface="Helvetica Neue"/>
                <a:ea typeface="Helvetica Neue"/>
                <a:cs typeface="Helvetica Neue"/>
                <a:sym typeface="Helvetica Neue"/>
              </a:rPr>
              <a:t>.</a:t>
            </a:r>
          </a:p>
          <a:p>
            <a:r>
              <a:rPr lang="fr-FR" sz="2200" b="0" i="0" dirty="0" smtClean="0">
                <a:effectLst/>
                <a:latin typeface="Helvetica Neue"/>
                <a:ea typeface="Helvetica Neue"/>
                <a:cs typeface="Helvetica Neue"/>
                <a:sym typeface="Helvetica Neue"/>
              </a:rPr>
              <a:t>Bon : notre programme n'est pas très clair et nous devrions afficher un message pour que l'utilisateur sache quoi faire. Avec l'option</a:t>
            </a:r>
            <a:r>
              <a:rPr lang="fr-FR" dirty="0" smtClean="0"/>
              <a:t>-p </a:t>
            </a:r>
            <a:r>
              <a:rPr lang="fr-FR" sz="2200" b="0" i="0" dirty="0" smtClean="0">
                <a:effectLst/>
                <a:latin typeface="Helvetica Neue"/>
                <a:ea typeface="Helvetica Neue"/>
                <a:cs typeface="Helvetica Neue"/>
                <a:sym typeface="Helvetica Neue"/>
              </a:rPr>
              <a:t>de </a:t>
            </a:r>
            <a:r>
              <a:rPr lang="fr-FR" dirty="0" err="1" smtClean="0"/>
              <a:t>read</a:t>
            </a:r>
            <a:r>
              <a:rPr lang="fr-FR" sz="2200" b="0" i="0" dirty="0" smtClean="0">
                <a:effectLst/>
                <a:latin typeface="Helvetica Neue"/>
                <a:ea typeface="Helvetica Neue"/>
                <a:cs typeface="Helvetica Neue"/>
                <a:sym typeface="Helvetica Neue"/>
              </a:rPr>
              <a:t>, vous pouvez faire cela :</a:t>
            </a:r>
            <a:endParaRPr lang="fr-FR" dirty="0"/>
          </a:p>
        </p:txBody>
      </p:sp>
    </p:spTree>
    <p:extLst>
      <p:ext uri="{BB962C8B-B14F-4D97-AF65-F5344CB8AC3E}">
        <p14:creationId xmlns="" xmlns:p14="http://schemas.microsoft.com/office/powerpoint/2010/main" val="31605208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Tree>
    <p:extLst>
      <p:ext uri="{BB962C8B-B14F-4D97-AF65-F5344CB8AC3E}">
        <p14:creationId xmlns="" xmlns:p14="http://schemas.microsoft.com/office/powerpoint/2010/main" val="15538355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2200" b="0" i="0" dirty="0" smtClean="0">
                <a:effectLst/>
                <a:latin typeface="Helvetica Neue"/>
                <a:ea typeface="Helvetica Neue"/>
                <a:cs typeface="Helvetica Neue"/>
                <a:sym typeface="Helvetica Neue"/>
              </a:rPr>
              <a:t>Les cases sont numérotées à partir de 0 ! La première case a donc le numéro 0.</a:t>
            </a:r>
            <a:r>
              <a:rPr lang="fr-FR" dirty="0" smtClean="0"/>
              <a:t/>
            </a:r>
            <a:br>
              <a:rPr lang="fr-FR" dirty="0" smtClean="0"/>
            </a:br>
            <a:r>
              <a:rPr lang="fr-FR" sz="2200" b="0" i="0" dirty="0" smtClean="0">
                <a:effectLst/>
                <a:latin typeface="Helvetica Neue"/>
                <a:ea typeface="Helvetica Neue"/>
                <a:cs typeface="Helvetica Neue"/>
                <a:sym typeface="Helvetica Neue"/>
              </a:rPr>
              <a:t>pour afficher le contenu d'une case du tableau, vous devez entourer votre variable d'accolades comme je l'ai fait pour </a:t>
            </a:r>
            <a:r>
              <a:rPr lang="fr-FR" dirty="0" smtClean="0"/>
              <a:t>${tableau[2]}</a:t>
            </a:r>
            <a:r>
              <a:rPr lang="fr-FR" sz="2200" b="0" i="0" dirty="0" smtClean="0">
                <a:effectLst/>
                <a:latin typeface="Helvetica Neue"/>
                <a:ea typeface="Helvetica Neue"/>
                <a:cs typeface="Helvetica Neue"/>
                <a:sym typeface="Helvetica Neue"/>
              </a:rPr>
              <a:t>.</a:t>
            </a:r>
            <a:endParaRPr lang="fr-FR" dirty="0"/>
          </a:p>
        </p:txBody>
      </p:sp>
    </p:spTree>
    <p:extLst>
      <p:ext uri="{BB962C8B-B14F-4D97-AF65-F5344CB8AC3E}">
        <p14:creationId xmlns="" xmlns:p14="http://schemas.microsoft.com/office/powerpoint/2010/main" val="19086497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r>
              <a:rPr lang="fr-FR" sz="2200" b="0" i="0" dirty="0" smtClean="0">
                <a:effectLst/>
                <a:latin typeface="Helvetica Neue"/>
                <a:ea typeface="Helvetica Neue"/>
                <a:cs typeface="Helvetica Neue"/>
                <a:sym typeface="Helvetica Neue"/>
              </a:rPr>
              <a:t>Comme vous pouvez le constater, le tableau peut avoir autant de cases que vous le désirez. La numérotation n'a pas besoin d'être continue, vous pouvez sauter des cases sans aucun problème </a:t>
            </a:r>
            <a:endParaRPr lang="fr-FR" dirty="0"/>
          </a:p>
        </p:txBody>
      </p:sp>
    </p:spTree>
    <p:extLst>
      <p:ext uri="{BB962C8B-B14F-4D97-AF65-F5344CB8AC3E}">
        <p14:creationId xmlns="" xmlns:p14="http://schemas.microsoft.com/office/powerpoint/2010/main" val="2838090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FR" dirty="0"/>
          </a:p>
        </p:txBody>
      </p:sp>
    </p:spTree>
    <p:extLst>
      <p:ext uri="{BB962C8B-B14F-4D97-AF65-F5344CB8AC3E}">
        <p14:creationId xmlns="" xmlns:p14="http://schemas.microsoft.com/office/powerpoint/2010/main" val="21482740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Tree>
    <p:extLst>
      <p:ext uri="{BB962C8B-B14F-4D97-AF65-F5344CB8AC3E}">
        <p14:creationId xmlns="" xmlns:p14="http://schemas.microsoft.com/office/powerpoint/2010/main" val="3081871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dirty="0"/>
          </a:p>
        </p:txBody>
      </p:sp>
    </p:spTree>
    <p:extLst>
      <p:ext uri="{BB962C8B-B14F-4D97-AF65-F5344CB8AC3E}">
        <p14:creationId xmlns="" xmlns:p14="http://schemas.microsoft.com/office/powerpoint/2010/main" val="40803830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re et sous-titre">
    <p:spTree>
      <p:nvGrpSpPr>
        <p:cNvPr id="1" name=""/>
        <p:cNvGrpSpPr/>
        <p:nvPr/>
      </p:nvGrpSpPr>
      <p:grpSpPr>
        <a:xfrm>
          <a:off x="0" y="0"/>
          <a:ext cx="0" cy="0"/>
          <a:chOff x="0" y="0"/>
          <a:chExt cx="0" cy="0"/>
        </a:xfrm>
      </p:grpSpPr>
      <p:sp>
        <p:nvSpPr>
          <p:cNvPr id="13" name="Ligne"/>
          <p:cNvSpPr/>
          <p:nvPr/>
        </p:nvSpPr>
        <p:spPr>
          <a:xfrm>
            <a:off x="508000" y="6591300"/>
            <a:ext cx="11999453"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14" name="Ligne"/>
          <p:cNvSpPr/>
          <p:nvPr/>
        </p:nvSpPr>
        <p:spPr>
          <a:xfrm>
            <a:off x="508000" y="4089400"/>
            <a:ext cx="12000019"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15" name="Ligne"/>
          <p:cNvSpPr/>
          <p:nvPr/>
        </p:nvSpPr>
        <p:spPr>
          <a:xfrm flipV="1">
            <a:off x="7994302" y="4526255"/>
            <a:ext cx="1" cy="1642759"/>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16" name="Lorem Ipsum Dolor"/>
          <p:cNvSpPr txBox="1">
            <a:spLocks noGrp="1"/>
          </p:cNvSpPr>
          <p:nvPr>
            <p:ph type="body" sz="quarter" idx="21"/>
          </p:nvPr>
        </p:nvSpPr>
        <p:spPr>
          <a:xfrm>
            <a:off x="508000" y="3505200"/>
            <a:ext cx="7200900" cy="508000"/>
          </a:xfrm>
          <a:prstGeom prst="rect">
            <a:avLst/>
          </a:prstGeom>
        </p:spPr>
        <p:txBody>
          <a:bodyPr>
            <a:spAutoFit/>
          </a:bodyPr>
          <a:lstStyle>
            <a:lvl1pPr marL="0" indent="0">
              <a:lnSpc>
                <a:spcPct val="110000"/>
              </a:lnSpc>
              <a:spcBef>
                <a:spcPts val="0"/>
              </a:spcBef>
              <a:buClrTx/>
              <a:buSzTx/>
              <a:buFontTx/>
              <a:buNone/>
              <a:defRPr sz="2400" i="1"/>
            </a:lvl1pPr>
          </a:lstStyle>
          <a:p>
            <a:r>
              <a:t>Lorem Ipsum Dolor</a:t>
            </a:r>
          </a:p>
        </p:txBody>
      </p:sp>
      <p:sp>
        <p:nvSpPr>
          <p:cNvPr id="17" name="Texte du titre"/>
          <p:cNvSpPr txBox="1">
            <a:spLocks noGrp="1"/>
          </p:cNvSpPr>
          <p:nvPr>
            <p:ph type="title"/>
          </p:nvPr>
        </p:nvSpPr>
        <p:spPr>
          <a:xfrm>
            <a:off x="508000" y="4140200"/>
            <a:ext cx="7200900" cy="2413000"/>
          </a:xfrm>
          <a:prstGeom prst="rect">
            <a:avLst/>
          </a:prstGeom>
        </p:spPr>
        <p:txBody>
          <a:bodyPr/>
          <a:lstStyle>
            <a:lvl1pPr algn="l"/>
          </a:lstStyle>
          <a:p>
            <a:r>
              <a:t>Texte du titre</a:t>
            </a:r>
          </a:p>
        </p:txBody>
      </p:sp>
      <p:sp>
        <p:nvSpPr>
          <p:cNvPr id="18" name="Texte niveau 1…"/>
          <p:cNvSpPr txBox="1">
            <a:spLocks noGrp="1"/>
          </p:cNvSpPr>
          <p:nvPr>
            <p:ph type="body" sz="quarter" idx="1"/>
          </p:nvPr>
        </p:nvSpPr>
        <p:spPr>
          <a:xfrm>
            <a:off x="8280400" y="4140200"/>
            <a:ext cx="4241800" cy="2413000"/>
          </a:xfrm>
          <a:prstGeom prst="rect">
            <a:avLst/>
          </a:prstGeom>
        </p:spPr>
        <p:txBody>
          <a:bodyPr/>
          <a:lstStyle>
            <a:lvl1pPr marL="0" indent="0">
              <a:spcBef>
                <a:spcPts val="0"/>
              </a:spcBef>
              <a:buClrTx/>
              <a:buSzTx/>
              <a:buFontTx/>
              <a:buNone/>
              <a:defRPr sz="2400"/>
            </a:lvl1pPr>
            <a:lvl2pPr marL="0" indent="228600">
              <a:spcBef>
                <a:spcPts val="0"/>
              </a:spcBef>
              <a:buClrTx/>
              <a:buSzTx/>
              <a:buFontTx/>
              <a:buNone/>
              <a:defRPr sz="2400"/>
            </a:lvl2pPr>
            <a:lvl3pPr marL="0" indent="457200">
              <a:spcBef>
                <a:spcPts val="0"/>
              </a:spcBef>
              <a:buClrTx/>
              <a:buSzTx/>
              <a:buFontTx/>
              <a:buNone/>
              <a:defRPr sz="2400"/>
            </a:lvl3pPr>
            <a:lvl4pPr marL="0" indent="685800">
              <a:spcBef>
                <a:spcPts val="0"/>
              </a:spcBef>
              <a:buClrTx/>
              <a:buSzTx/>
              <a:buFontTx/>
              <a:buNone/>
              <a:defRPr sz="2400"/>
            </a:lvl4pPr>
            <a:lvl5pPr marL="0" indent="914400">
              <a:spcBef>
                <a:spcPts val="0"/>
              </a:spcBef>
              <a:buClrTx/>
              <a:buSzTx/>
              <a:buFontTx/>
              <a:buNone/>
              <a:defRPr sz="2400"/>
            </a:lvl5pPr>
          </a:lstStyle>
          <a:p>
            <a:r>
              <a:t>Texte niveau 1</a:t>
            </a:r>
          </a:p>
          <a:p>
            <a:pPr lvl="1"/>
            <a:r>
              <a:t>Texte niveau 2</a:t>
            </a:r>
          </a:p>
          <a:p>
            <a:pPr lvl="2"/>
            <a:r>
              <a:t>Texte niveau 3</a:t>
            </a:r>
          </a:p>
          <a:p>
            <a:pPr lvl="3"/>
            <a:r>
              <a:t>Texte niveau 4</a:t>
            </a:r>
          </a:p>
          <a:p>
            <a:pPr lvl="4"/>
            <a:r>
              <a:t>Texte niveau 5</a:t>
            </a:r>
          </a:p>
        </p:txBody>
      </p:sp>
      <p:sp>
        <p:nvSpPr>
          <p:cNvPr id="19"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Photo - Horizontale">
    <p:spTree>
      <p:nvGrpSpPr>
        <p:cNvPr id="1" name=""/>
        <p:cNvGrpSpPr/>
        <p:nvPr/>
      </p:nvGrpSpPr>
      <p:grpSpPr>
        <a:xfrm>
          <a:off x="0" y="0"/>
          <a:ext cx="0" cy="0"/>
          <a:chOff x="0" y="0"/>
          <a:chExt cx="0" cy="0"/>
        </a:xfrm>
      </p:grpSpPr>
      <p:sp>
        <p:nvSpPr>
          <p:cNvPr id="26" name="Ligne"/>
          <p:cNvSpPr/>
          <p:nvPr/>
        </p:nvSpPr>
        <p:spPr>
          <a:xfrm flipV="1">
            <a:off x="7994302" y="7053555"/>
            <a:ext cx="1" cy="1642759"/>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27" name="Ligne"/>
          <p:cNvSpPr/>
          <p:nvPr/>
        </p:nvSpPr>
        <p:spPr>
          <a:xfrm>
            <a:off x="508000" y="9131300"/>
            <a:ext cx="11999453"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28" name="Ligne"/>
          <p:cNvSpPr/>
          <p:nvPr/>
        </p:nvSpPr>
        <p:spPr>
          <a:xfrm>
            <a:off x="508000" y="6629400"/>
            <a:ext cx="12000019"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29" name="Ligne"/>
          <p:cNvSpPr/>
          <p:nvPr/>
        </p:nvSpPr>
        <p:spPr>
          <a:xfrm flipV="1">
            <a:off x="7994302" y="7053555"/>
            <a:ext cx="1" cy="1642759"/>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30" name="Lorem Ipsum Dolor"/>
          <p:cNvSpPr txBox="1">
            <a:spLocks noGrp="1"/>
          </p:cNvSpPr>
          <p:nvPr>
            <p:ph type="body" sz="quarter" idx="21"/>
          </p:nvPr>
        </p:nvSpPr>
        <p:spPr>
          <a:xfrm>
            <a:off x="508000" y="6096000"/>
            <a:ext cx="7200900" cy="508000"/>
          </a:xfrm>
          <a:prstGeom prst="rect">
            <a:avLst/>
          </a:prstGeom>
        </p:spPr>
        <p:txBody>
          <a:bodyPr>
            <a:spAutoFit/>
          </a:bodyPr>
          <a:lstStyle>
            <a:lvl1pPr marL="0" indent="0">
              <a:lnSpc>
                <a:spcPct val="110000"/>
              </a:lnSpc>
              <a:spcBef>
                <a:spcPts val="0"/>
              </a:spcBef>
              <a:buClrTx/>
              <a:buSzTx/>
              <a:buFontTx/>
              <a:buNone/>
              <a:defRPr sz="2400" i="1"/>
            </a:lvl1pPr>
          </a:lstStyle>
          <a:p>
            <a:r>
              <a:t>Lorem Ipsum Dolor</a:t>
            </a:r>
          </a:p>
        </p:txBody>
      </p:sp>
      <p:sp>
        <p:nvSpPr>
          <p:cNvPr id="31" name="Image"/>
          <p:cNvSpPr>
            <a:spLocks noGrp="1"/>
          </p:cNvSpPr>
          <p:nvPr>
            <p:ph type="pic" idx="22"/>
          </p:nvPr>
        </p:nvSpPr>
        <p:spPr>
          <a:xfrm>
            <a:off x="584200" y="558800"/>
            <a:ext cx="11823700" cy="7086600"/>
          </a:xfrm>
          <a:prstGeom prst="rect">
            <a:avLst/>
          </a:prstGeom>
          <a:ln w="9525">
            <a:round/>
          </a:ln>
        </p:spPr>
        <p:txBody>
          <a:bodyPr lIns="91439" tIns="45719" rIns="91439" bIns="45719" anchor="t">
            <a:noAutofit/>
          </a:bodyPr>
          <a:lstStyle/>
          <a:p>
            <a:endParaRPr/>
          </a:p>
        </p:txBody>
      </p:sp>
      <p:sp>
        <p:nvSpPr>
          <p:cNvPr id="32" name="Texte du titre"/>
          <p:cNvSpPr txBox="1">
            <a:spLocks noGrp="1"/>
          </p:cNvSpPr>
          <p:nvPr>
            <p:ph type="title"/>
          </p:nvPr>
        </p:nvSpPr>
        <p:spPr>
          <a:xfrm>
            <a:off x="508000" y="6680200"/>
            <a:ext cx="7200900" cy="2413000"/>
          </a:xfrm>
          <a:prstGeom prst="rect">
            <a:avLst/>
          </a:prstGeom>
        </p:spPr>
        <p:txBody>
          <a:bodyPr/>
          <a:lstStyle>
            <a:lvl1pPr algn="l"/>
          </a:lstStyle>
          <a:p>
            <a:r>
              <a:t>Texte du titre</a:t>
            </a:r>
          </a:p>
        </p:txBody>
      </p:sp>
      <p:sp>
        <p:nvSpPr>
          <p:cNvPr id="33" name="Texte niveau 1…"/>
          <p:cNvSpPr txBox="1">
            <a:spLocks noGrp="1"/>
          </p:cNvSpPr>
          <p:nvPr>
            <p:ph type="body" sz="quarter" idx="1"/>
          </p:nvPr>
        </p:nvSpPr>
        <p:spPr>
          <a:xfrm>
            <a:off x="8280400" y="6680200"/>
            <a:ext cx="4241800" cy="2413000"/>
          </a:xfrm>
          <a:prstGeom prst="rect">
            <a:avLst/>
          </a:prstGeom>
        </p:spPr>
        <p:txBody>
          <a:bodyPr/>
          <a:lstStyle>
            <a:lvl1pPr marL="0" indent="0">
              <a:spcBef>
                <a:spcPts val="0"/>
              </a:spcBef>
              <a:buClrTx/>
              <a:buSzTx/>
              <a:buFontTx/>
              <a:buNone/>
              <a:defRPr sz="2400"/>
            </a:lvl1pPr>
            <a:lvl2pPr marL="0" indent="228600">
              <a:spcBef>
                <a:spcPts val="0"/>
              </a:spcBef>
              <a:buClrTx/>
              <a:buSzTx/>
              <a:buFontTx/>
              <a:buNone/>
              <a:defRPr sz="2400"/>
            </a:lvl2pPr>
            <a:lvl3pPr marL="0" indent="457200">
              <a:spcBef>
                <a:spcPts val="0"/>
              </a:spcBef>
              <a:buClrTx/>
              <a:buSzTx/>
              <a:buFontTx/>
              <a:buNone/>
              <a:defRPr sz="2400"/>
            </a:lvl3pPr>
            <a:lvl4pPr marL="0" indent="685800">
              <a:spcBef>
                <a:spcPts val="0"/>
              </a:spcBef>
              <a:buClrTx/>
              <a:buSzTx/>
              <a:buFontTx/>
              <a:buNone/>
              <a:defRPr sz="2400"/>
            </a:lvl4pPr>
            <a:lvl5pPr marL="0" indent="914400">
              <a:spcBef>
                <a:spcPts val="0"/>
              </a:spcBef>
              <a:buClrTx/>
              <a:buSzTx/>
              <a:buFontTx/>
              <a:buNone/>
              <a:defRPr sz="2400"/>
            </a:lvl5pPr>
          </a:lstStyle>
          <a:p>
            <a:r>
              <a:t>Texte niveau 1</a:t>
            </a:r>
          </a:p>
          <a:p>
            <a:pPr lvl="1"/>
            <a:r>
              <a:t>Texte niveau 2</a:t>
            </a:r>
          </a:p>
          <a:p>
            <a:pPr lvl="2"/>
            <a:r>
              <a:t>Texte niveau 3</a:t>
            </a:r>
          </a:p>
          <a:p>
            <a:pPr lvl="3"/>
            <a:r>
              <a:t>Texte niveau 4</a:t>
            </a:r>
          </a:p>
          <a:p>
            <a:pPr lvl="4"/>
            <a:r>
              <a:t>Texte niveau 5</a:t>
            </a:r>
          </a:p>
        </p:txBody>
      </p:sp>
      <p:sp>
        <p:nvSpPr>
          <p:cNvPr id="34"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re - Centré">
    <p:spTree>
      <p:nvGrpSpPr>
        <p:cNvPr id="1" name=""/>
        <p:cNvGrpSpPr/>
        <p:nvPr/>
      </p:nvGrpSpPr>
      <p:grpSpPr>
        <a:xfrm>
          <a:off x="0" y="0"/>
          <a:ext cx="0" cy="0"/>
          <a:chOff x="0" y="0"/>
          <a:chExt cx="0" cy="0"/>
        </a:xfrm>
      </p:grpSpPr>
      <p:sp>
        <p:nvSpPr>
          <p:cNvPr id="41" name="Texte du titre"/>
          <p:cNvSpPr txBox="1">
            <a:spLocks noGrp="1"/>
          </p:cNvSpPr>
          <p:nvPr>
            <p:ph type="title"/>
          </p:nvPr>
        </p:nvSpPr>
        <p:spPr>
          <a:xfrm>
            <a:off x="508000" y="3670300"/>
            <a:ext cx="11988800" cy="2413000"/>
          </a:xfrm>
          <a:prstGeom prst="rect">
            <a:avLst/>
          </a:prstGeom>
        </p:spPr>
        <p:txBody>
          <a:bodyPr/>
          <a:lstStyle/>
          <a:p>
            <a:r>
              <a:t>Texte du titre</a:t>
            </a:r>
          </a:p>
        </p:txBody>
      </p:sp>
      <p:sp>
        <p:nvSpPr>
          <p:cNvPr id="42"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Photo - Verticale">
    <p:spTree>
      <p:nvGrpSpPr>
        <p:cNvPr id="1" name=""/>
        <p:cNvGrpSpPr/>
        <p:nvPr/>
      </p:nvGrpSpPr>
      <p:grpSpPr>
        <a:xfrm>
          <a:off x="0" y="0"/>
          <a:ext cx="0" cy="0"/>
          <a:chOff x="0" y="0"/>
          <a:chExt cx="0" cy="0"/>
        </a:xfrm>
      </p:grpSpPr>
      <p:sp>
        <p:nvSpPr>
          <p:cNvPr id="49" name="Ligne"/>
          <p:cNvSpPr/>
          <p:nvPr/>
        </p:nvSpPr>
        <p:spPr>
          <a:xfrm>
            <a:off x="508000" y="4876800"/>
            <a:ext cx="5676374"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50" name="Ligne"/>
          <p:cNvSpPr/>
          <p:nvPr/>
        </p:nvSpPr>
        <p:spPr>
          <a:xfrm>
            <a:off x="508000" y="2768600"/>
            <a:ext cx="5676316"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51" name="Lorem Ipsum Dolor"/>
          <p:cNvSpPr txBox="1">
            <a:spLocks noGrp="1"/>
          </p:cNvSpPr>
          <p:nvPr>
            <p:ph type="body" sz="quarter" idx="21"/>
          </p:nvPr>
        </p:nvSpPr>
        <p:spPr>
          <a:xfrm>
            <a:off x="508000" y="2171700"/>
            <a:ext cx="5676900" cy="508000"/>
          </a:xfrm>
          <a:prstGeom prst="rect">
            <a:avLst/>
          </a:prstGeom>
        </p:spPr>
        <p:txBody>
          <a:bodyPr anchor="b">
            <a:spAutoFit/>
          </a:bodyPr>
          <a:lstStyle>
            <a:lvl1pPr marL="0" indent="0">
              <a:lnSpc>
                <a:spcPct val="110000"/>
              </a:lnSpc>
              <a:spcBef>
                <a:spcPts val="0"/>
              </a:spcBef>
              <a:buClrTx/>
              <a:buSzTx/>
              <a:buFontTx/>
              <a:buNone/>
              <a:defRPr sz="2400" i="1"/>
            </a:lvl1pPr>
          </a:lstStyle>
          <a:p>
            <a:r>
              <a:t>Lorem Ipsum Dolor</a:t>
            </a:r>
          </a:p>
        </p:txBody>
      </p:sp>
      <p:sp>
        <p:nvSpPr>
          <p:cNvPr id="52" name="Image"/>
          <p:cNvSpPr>
            <a:spLocks noGrp="1"/>
          </p:cNvSpPr>
          <p:nvPr>
            <p:ph type="pic" sz="half" idx="22"/>
          </p:nvPr>
        </p:nvSpPr>
        <p:spPr>
          <a:xfrm>
            <a:off x="6704698" y="590550"/>
            <a:ext cx="5806884" cy="8509000"/>
          </a:xfrm>
          <a:prstGeom prst="rect">
            <a:avLst/>
          </a:prstGeom>
          <a:ln w="9525">
            <a:round/>
          </a:ln>
        </p:spPr>
        <p:txBody>
          <a:bodyPr lIns="91439" tIns="45719" rIns="91439" bIns="45719" anchor="t">
            <a:noAutofit/>
          </a:bodyPr>
          <a:lstStyle/>
          <a:p>
            <a:endParaRPr/>
          </a:p>
        </p:txBody>
      </p:sp>
      <p:sp>
        <p:nvSpPr>
          <p:cNvPr id="53" name="Texte du titre"/>
          <p:cNvSpPr txBox="1">
            <a:spLocks noGrp="1"/>
          </p:cNvSpPr>
          <p:nvPr>
            <p:ph type="title"/>
          </p:nvPr>
        </p:nvSpPr>
        <p:spPr>
          <a:xfrm>
            <a:off x="508000" y="2806700"/>
            <a:ext cx="5676900" cy="2032000"/>
          </a:xfrm>
          <a:prstGeom prst="rect">
            <a:avLst/>
          </a:prstGeom>
        </p:spPr>
        <p:txBody>
          <a:bodyPr/>
          <a:lstStyle>
            <a:lvl1pPr algn="l">
              <a:defRPr sz="4100">
                <a:solidFill>
                  <a:srgbClr val="008F00"/>
                </a:solidFill>
              </a:defRPr>
            </a:lvl1pPr>
          </a:lstStyle>
          <a:p>
            <a:r>
              <a:t>Texte du titre</a:t>
            </a:r>
          </a:p>
        </p:txBody>
      </p:sp>
      <p:sp>
        <p:nvSpPr>
          <p:cNvPr id="54" name="Texte niveau 1…"/>
          <p:cNvSpPr txBox="1">
            <a:spLocks noGrp="1"/>
          </p:cNvSpPr>
          <p:nvPr>
            <p:ph type="body" sz="quarter" idx="1"/>
          </p:nvPr>
        </p:nvSpPr>
        <p:spPr>
          <a:xfrm>
            <a:off x="508000" y="5029200"/>
            <a:ext cx="5676900" cy="4013200"/>
          </a:xfrm>
          <a:prstGeom prst="rect">
            <a:avLst/>
          </a:prstGeom>
        </p:spPr>
        <p:txBody>
          <a:bodyPr anchor="t"/>
          <a:lstStyle>
            <a:lvl1pPr marL="0" indent="0">
              <a:spcBef>
                <a:spcPts val="0"/>
              </a:spcBef>
              <a:buClrTx/>
              <a:buSzTx/>
              <a:buFontTx/>
              <a:buNone/>
              <a:defRPr sz="2400"/>
            </a:lvl1pPr>
            <a:lvl2pPr marL="0" indent="228600">
              <a:spcBef>
                <a:spcPts val="0"/>
              </a:spcBef>
              <a:buClrTx/>
              <a:buSzTx/>
              <a:buFontTx/>
              <a:buNone/>
              <a:defRPr sz="2400"/>
            </a:lvl2pPr>
            <a:lvl3pPr marL="0" indent="457200">
              <a:spcBef>
                <a:spcPts val="0"/>
              </a:spcBef>
              <a:buClrTx/>
              <a:buSzTx/>
              <a:buFontTx/>
              <a:buNone/>
              <a:defRPr sz="2400"/>
            </a:lvl3pPr>
            <a:lvl4pPr marL="0" indent="685800">
              <a:spcBef>
                <a:spcPts val="0"/>
              </a:spcBef>
              <a:buClrTx/>
              <a:buSzTx/>
              <a:buFontTx/>
              <a:buNone/>
              <a:defRPr sz="2400"/>
            </a:lvl4pPr>
            <a:lvl5pPr marL="0" indent="914400">
              <a:spcBef>
                <a:spcPts val="0"/>
              </a:spcBef>
              <a:buClrTx/>
              <a:buSzTx/>
              <a:buFontTx/>
              <a:buNone/>
              <a:defRPr sz="2400"/>
            </a:lvl5pPr>
          </a:lstStyle>
          <a:p>
            <a:r>
              <a:t>Texte niveau 1</a:t>
            </a:r>
          </a:p>
          <a:p>
            <a:pPr lvl="1"/>
            <a:r>
              <a:t>Texte niveau 2</a:t>
            </a:r>
          </a:p>
          <a:p>
            <a:pPr lvl="2"/>
            <a:r>
              <a:t>Texte niveau 3</a:t>
            </a:r>
          </a:p>
          <a:p>
            <a:pPr lvl="3"/>
            <a:r>
              <a:t>Texte niveau 4</a:t>
            </a:r>
          </a:p>
          <a:p>
            <a:pPr lvl="4"/>
            <a:r>
              <a:t>Texte niveau 5</a:t>
            </a:r>
          </a:p>
        </p:txBody>
      </p:sp>
      <p:sp>
        <p:nvSpPr>
          <p:cNvPr id="55"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re - Haut">
    <p:spTree>
      <p:nvGrpSpPr>
        <p:cNvPr id="1" name=""/>
        <p:cNvGrpSpPr/>
        <p:nvPr/>
      </p:nvGrpSpPr>
      <p:grpSpPr>
        <a:xfrm>
          <a:off x="0" y="0"/>
          <a:ext cx="0" cy="0"/>
          <a:chOff x="0" y="0"/>
          <a:chExt cx="0" cy="0"/>
        </a:xfrm>
      </p:grpSpPr>
      <p:sp>
        <p:nvSpPr>
          <p:cNvPr id="62" name="Texte du titre"/>
          <p:cNvSpPr txBox="1">
            <a:spLocks noGrp="1"/>
          </p:cNvSpPr>
          <p:nvPr>
            <p:ph type="title"/>
          </p:nvPr>
        </p:nvSpPr>
        <p:spPr>
          <a:prstGeom prst="rect">
            <a:avLst/>
          </a:prstGeom>
        </p:spPr>
        <p:txBody>
          <a:bodyPr/>
          <a:lstStyle/>
          <a:p>
            <a:r>
              <a:t>Texte du titre</a:t>
            </a:r>
          </a:p>
        </p:txBody>
      </p:sp>
      <p:sp>
        <p:nvSpPr>
          <p:cNvPr id="63"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Titre et puces">
    <p:spTree>
      <p:nvGrpSpPr>
        <p:cNvPr id="1" name=""/>
        <p:cNvGrpSpPr/>
        <p:nvPr/>
      </p:nvGrpSpPr>
      <p:grpSpPr>
        <a:xfrm>
          <a:off x="0" y="0"/>
          <a:ext cx="0" cy="0"/>
          <a:chOff x="0" y="0"/>
          <a:chExt cx="0" cy="0"/>
        </a:xfrm>
      </p:grpSpPr>
      <p:sp>
        <p:nvSpPr>
          <p:cNvPr id="70" name="Texte du titre"/>
          <p:cNvSpPr txBox="1">
            <a:spLocks noGrp="1"/>
          </p:cNvSpPr>
          <p:nvPr>
            <p:ph type="title"/>
          </p:nvPr>
        </p:nvSpPr>
        <p:spPr>
          <a:xfrm>
            <a:off x="508000" y="800100"/>
            <a:ext cx="11988800" cy="1219200"/>
          </a:xfrm>
          <a:prstGeom prst="rect">
            <a:avLst/>
          </a:prstGeom>
        </p:spPr>
        <p:txBody>
          <a:bodyPr/>
          <a:lstStyle/>
          <a:p>
            <a:r>
              <a:t>Texte du titre</a:t>
            </a:r>
          </a:p>
        </p:txBody>
      </p:sp>
      <p:sp>
        <p:nvSpPr>
          <p:cNvPr id="71" name="Texte niveau 1…"/>
          <p:cNvSpPr txBox="1">
            <a:spLocks noGrp="1"/>
          </p:cNvSpPr>
          <p:nvPr>
            <p:ph type="body" idx="1"/>
          </p:nvPr>
        </p:nvSpPr>
        <p:spPr>
          <a:prstGeom prst="rect">
            <a:avLst/>
          </a:prstGeom>
        </p:spPr>
        <p:txBody>
          <a:bodyPr/>
          <a:lstStyle/>
          <a:p>
            <a:r>
              <a:t>Texte niveau 1</a:t>
            </a:r>
          </a:p>
          <a:p>
            <a:pPr lvl="1"/>
            <a:r>
              <a:t>Texte niveau 2</a:t>
            </a:r>
          </a:p>
          <a:p>
            <a:pPr lvl="2"/>
            <a:r>
              <a:t>Texte niveau 3</a:t>
            </a:r>
          </a:p>
          <a:p>
            <a:pPr lvl="3"/>
            <a:r>
              <a:t>Texte niveau 4</a:t>
            </a:r>
          </a:p>
          <a:p>
            <a:pPr lvl="4"/>
            <a:r>
              <a:t>Texte niveau 5</a:t>
            </a:r>
          </a:p>
        </p:txBody>
      </p:sp>
      <p:sp>
        <p:nvSpPr>
          <p:cNvPr id="72"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Titre, puces et photo">
    <p:spTree>
      <p:nvGrpSpPr>
        <p:cNvPr id="1" name=""/>
        <p:cNvGrpSpPr/>
        <p:nvPr/>
      </p:nvGrpSpPr>
      <p:grpSpPr>
        <a:xfrm>
          <a:off x="0" y="0"/>
          <a:ext cx="0" cy="0"/>
          <a:chOff x="0" y="0"/>
          <a:chExt cx="0" cy="0"/>
        </a:xfrm>
      </p:grpSpPr>
      <p:sp>
        <p:nvSpPr>
          <p:cNvPr id="79" name="Image"/>
          <p:cNvSpPr>
            <a:spLocks noGrp="1"/>
          </p:cNvSpPr>
          <p:nvPr>
            <p:ph type="pic" sz="half" idx="21"/>
          </p:nvPr>
        </p:nvSpPr>
        <p:spPr>
          <a:xfrm>
            <a:off x="6819900" y="1739900"/>
            <a:ext cx="5575300" cy="8169655"/>
          </a:xfrm>
          <a:prstGeom prst="rect">
            <a:avLst/>
          </a:prstGeom>
          <a:ln w="9525">
            <a:round/>
          </a:ln>
        </p:spPr>
        <p:txBody>
          <a:bodyPr lIns="91439" tIns="45719" rIns="91439" bIns="45719" anchor="t">
            <a:noAutofit/>
          </a:bodyPr>
          <a:lstStyle/>
          <a:p>
            <a:endParaRPr/>
          </a:p>
        </p:txBody>
      </p:sp>
      <p:sp>
        <p:nvSpPr>
          <p:cNvPr id="80" name="Texte du titre"/>
          <p:cNvSpPr txBox="1">
            <a:spLocks noGrp="1"/>
          </p:cNvSpPr>
          <p:nvPr>
            <p:ph type="title"/>
          </p:nvPr>
        </p:nvSpPr>
        <p:spPr>
          <a:xfrm>
            <a:off x="508000" y="800100"/>
            <a:ext cx="11988800" cy="1219200"/>
          </a:xfrm>
          <a:prstGeom prst="rect">
            <a:avLst/>
          </a:prstGeom>
        </p:spPr>
        <p:txBody>
          <a:bodyPr/>
          <a:lstStyle/>
          <a:p>
            <a:r>
              <a:t>Texte du titre</a:t>
            </a:r>
          </a:p>
        </p:txBody>
      </p:sp>
      <p:sp>
        <p:nvSpPr>
          <p:cNvPr id="81" name="Texte niveau 1…"/>
          <p:cNvSpPr txBox="1">
            <a:spLocks noGrp="1"/>
          </p:cNvSpPr>
          <p:nvPr>
            <p:ph type="body" sz="half" idx="1"/>
          </p:nvPr>
        </p:nvSpPr>
        <p:spPr>
          <a:xfrm>
            <a:off x="508000" y="2730500"/>
            <a:ext cx="5816600" cy="6350000"/>
          </a:xfrm>
          <a:prstGeom prst="rect">
            <a:avLst/>
          </a:prstGeom>
        </p:spPr>
        <p:txBody>
          <a:bodyPr/>
          <a:lstStyle>
            <a:lvl1pPr marL="393700" indent="-393700">
              <a:spcBef>
                <a:spcPts val="1800"/>
              </a:spcBef>
              <a:buSzPct val="65000"/>
              <a:defRPr sz="3000"/>
            </a:lvl1pPr>
            <a:lvl2pPr marL="787400" indent="-393700">
              <a:spcBef>
                <a:spcPts val="1800"/>
              </a:spcBef>
              <a:buSzPct val="65000"/>
              <a:defRPr sz="3000"/>
            </a:lvl2pPr>
            <a:lvl3pPr marL="1181100" indent="-393700">
              <a:spcBef>
                <a:spcPts val="1800"/>
              </a:spcBef>
              <a:buSzPct val="65000"/>
              <a:defRPr sz="3000"/>
            </a:lvl3pPr>
            <a:lvl4pPr marL="1574800" indent="-393700">
              <a:spcBef>
                <a:spcPts val="1800"/>
              </a:spcBef>
              <a:buSzPct val="65000"/>
              <a:defRPr sz="3000"/>
            </a:lvl4pPr>
            <a:lvl5pPr marL="1968500" indent="-393700">
              <a:spcBef>
                <a:spcPts val="1800"/>
              </a:spcBef>
              <a:buSzPct val="65000"/>
              <a:defRPr sz="3000"/>
            </a:lvl5pPr>
          </a:lstStyle>
          <a:p>
            <a:r>
              <a:t>Texte niveau 1</a:t>
            </a:r>
          </a:p>
          <a:p>
            <a:pPr lvl="1"/>
            <a:r>
              <a:t>Texte niveau 2</a:t>
            </a:r>
          </a:p>
          <a:p>
            <a:pPr lvl="2"/>
            <a:r>
              <a:t>Texte niveau 3</a:t>
            </a:r>
          </a:p>
          <a:p>
            <a:pPr lvl="3"/>
            <a:r>
              <a:t>Texte niveau 4</a:t>
            </a:r>
          </a:p>
          <a:p>
            <a:pPr lvl="4"/>
            <a:r>
              <a:t>Texte niveau 5</a:t>
            </a:r>
          </a:p>
        </p:txBody>
      </p:sp>
      <p:sp>
        <p:nvSpPr>
          <p:cNvPr id="82"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Puces">
    <p:spTree>
      <p:nvGrpSpPr>
        <p:cNvPr id="1" name=""/>
        <p:cNvGrpSpPr/>
        <p:nvPr/>
      </p:nvGrpSpPr>
      <p:grpSpPr>
        <a:xfrm>
          <a:off x="0" y="0"/>
          <a:ext cx="0" cy="0"/>
          <a:chOff x="0" y="0"/>
          <a:chExt cx="0" cy="0"/>
        </a:xfrm>
      </p:grpSpPr>
      <p:sp>
        <p:nvSpPr>
          <p:cNvPr id="89" name="Texte niveau 1…"/>
          <p:cNvSpPr txBox="1">
            <a:spLocks noGrp="1"/>
          </p:cNvSpPr>
          <p:nvPr>
            <p:ph type="body" idx="1"/>
          </p:nvPr>
        </p:nvSpPr>
        <p:spPr>
          <a:xfrm>
            <a:off x="508000" y="1270000"/>
            <a:ext cx="11988800" cy="7213600"/>
          </a:xfrm>
          <a:prstGeom prst="rect">
            <a:avLst/>
          </a:prstGeom>
        </p:spPr>
        <p:txBody>
          <a:bodyPr/>
          <a:lstStyle/>
          <a:p>
            <a:r>
              <a:t>Texte niveau 1</a:t>
            </a:r>
          </a:p>
          <a:p>
            <a:pPr lvl="1"/>
            <a:r>
              <a:t>Texte niveau 2</a:t>
            </a:r>
          </a:p>
          <a:p>
            <a:pPr lvl="2"/>
            <a:r>
              <a:t>Texte niveau 3</a:t>
            </a:r>
          </a:p>
          <a:p>
            <a:pPr lvl="3"/>
            <a:r>
              <a:t>Texte niveau 4</a:t>
            </a:r>
          </a:p>
          <a:p>
            <a:pPr lvl="4"/>
            <a:r>
              <a:t>Texte niveau 5</a:t>
            </a:r>
          </a:p>
        </p:txBody>
      </p:sp>
      <p:sp>
        <p:nvSpPr>
          <p:cNvPr id="90"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3 photos">
    <p:spTree>
      <p:nvGrpSpPr>
        <p:cNvPr id="1" name=""/>
        <p:cNvGrpSpPr/>
        <p:nvPr/>
      </p:nvGrpSpPr>
      <p:grpSpPr>
        <a:xfrm>
          <a:off x="0" y="0"/>
          <a:ext cx="0" cy="0"/>
          <a:chOff x="0" y="0"/>
          <a:chExt cx="0" cy="0"/>
        </a:xfrm>
      </p:grpSpPr>
      <p:sp>
        <p:nvSpPr>
          <p:cNvPr id="97" name="Image"/>
          <p:cNvSpPr>
            <a:spLocks noGrp="1"/>
          </p:cNvSpPr>
          <p:nvPr>
            <p:ph type="pic" sz="half" idx="21"/>
          </p:nvPr>
        </p:nvSpPr>
        <p:spPr>
          <a:xfrm>
            <a:off x="6260986" y="4406900"/>
            <a:ext cx="6697779" cy="4711700"/>
          </a:xfrm>
          <a:prstGeom prst="rect">
            <a:avLst/>
          </a:prstGeom>
          <a:ln w="9525">
            <a:round/>
          </a:ln>
        </p:spPr>
        <p:txBody>
          <a:bodyPr lIns="91439" tIns="45719" rIns="91439" bIns="45719" anchor="t">
            <a:noAutofit/>
          </a:bodyPr>
          <a:lstStyle/>
          <a:p>
            <a:endParaRPr/>
          </a:p>
        </p:txBody>
      </p:sp>
      <p:sp>
        <p:nvSpPr>
          <p:cNvPr id="98" name="Image"/>
          <p:cNvSpPr>
            <a:spLocks noGrp="1"/>
          </p:cNvSpPr>
          <p:nvPr>
            <p:ph type="pic" sz="quarter" idx="22"/>
          </p:nvPr>
        </p:nvSpPr>
        <p:spPr>
          <a:xfrm>
            <a:off x="6680200" y="635000"/>
            <a:ext cx="5829301" cy="3517900"/>
          </a:xfrm>
          <a:prstGeom prst="rect">
            <a:avLst/>
          </a:prstGeom>
          <a:ln w="9525">
            <a:round/>
          </a:ln>
        </p:spPr>
        <p:txBody>
          <a:bodyPr lIns="91439" tIns="45719" rIns="91439" bIns="45719" anchor="t">
            <a:noAutofit/>
          </a:bodyPr>
          <a:lstStyle/>
          <a:p>
            <a:endParaRPr/>
          </a:p>
        </p:txBody>
      </p:sp>
      <p:sp>
        <p:nvSpPr>
          <p:cNvPr id="99" name="Image"/>
          <p:cNvSpPr>
            <a:spLocks noGrp="1"/>
          </p:cNvSpPr>
          <p:nvPr>
            <p:ph type="pic" sz="half" idx="23"/>
          </p:nvPr>
        </p:nvSpPr>
        <p:spPr>
          <a:xfrm>
            <a:off x="482600" y="609600"/>
            <a:ext cx="5728881" cy="8394700"/>
          </a:xfrm>
          <a:prstGeom prst="rect">
            <a:avLst/>
          </a:prstGeom>
          <a:ln w="9525">
            <a:round/>
          </a:ln>
        </p:spPr>
        <p:txBody>
          <a:bodyPr lIns="91439" tIns="45719" rIns="91439" bIns="45719" anchor="t">
            <a:noAutofit/>
          </a:bodyPr>
          <a:lstStyle/>
          <a:p>
            <a:endParaRPr/>
          </a:p>
        </p:txBody>
      </p:sp>
      <p:sp>
        <p:nvSpPr>
          <p:cNvPr id="100"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Citation">
    <p:spTree>
      <p:nvGrpSpPr>
        <p:cNvPr id="1" name=""/>
        <p:cNvGrpSpPr/>
        <p:nvPr/>
      </p:nvGrpSpPr>
      <p:grpSpPr>
        <a:xfrm>
          <a:off x="0" y="0"/>
          <a:ext cx="0" cy="0"/>
          <a:chOff x="0" y="0"/>
          <a:chExt cx="0" cy="0"/>
        </a:xfrm>
      </p:grpSpPr>
      <p:sp>
        <p:nvSpPr>
          <p:cNvPr id="107" name="-Gilles Allain"/>
          <p:cNvSpPr txBox="1">
            <a:spLocks noGrp="1"/>
          </p:cNvSpPr>
          <p:nvPr>
            <p:ph type="body" sz="quarter" idx="21"/>
          </p:nvPr>
        </p:nvSpPr>
        <p:spPr>
          <a:xfrm>
            <a:off x="533400" y="5969000"/>
            <a:ext cx="11938000" cy="609600"/>
          </a:xfrm>
          <a:prstGeom prst="rect">
            <a:avLst/>
          </a:prstGeom>
        </p:spPr>
        <p:txBody>
          <a:bodyPr anchor="t">
            <a:spAutoFit/>
          </a:bodyPr>
          <a:lstStyle>
            <a:lvl1pPr marL="0" indent="0" algn="ctr">
              <a:spcBef>
                <a:spcPts val="1200"/>
              </a:spcBef>
              <a:buClrTx/>
              <a:buSzTx/>
              <a:buFontTx/>
              <a:buNone/>
              <a:defRPr sz="3000" i="1"/>
            </a:lvl1pPr>
          </a:lstStyle>
          <a:p>
            <a:r>
              <a:t>-Gilles Allain</a:t>
            </a:r>
          </a:p>
        </p:txBody>
      </p:sp>
      <p:sp>
        <p:nvSpPr>
          <p:cNvPr id="108" name="« Saisissez une citation ici. »"/>
          <p:cNvSpPr txBox="1">
            <a:spLocks noGrp="1"/>
          </p:cNvSpPr>
          <p:nvPr>
            <p:ph type="body" sz="quarter" idx="22"/>
          </p:nvPr>
        </p:nvSpPr>
        <p:spPr>
          <a:xfrm>
            <a:off x="1270000" y="4254500"/>
            <a:ext cx="10464800" cy="711200"/>
          </a:xfrm>
          <a:prstGeom prst="rect">
            <a:avLst/>
          </a:prstGeom>
        </p:spPr>
        <p:txBody>
          <a:bodyPr>
            <a:spAutoFit/>
          </a:bodyPr>
          <a:lstStyle>
            <a:lvl1pPr marL="0" indent="0" algn="ctr">
              <a:spcBef>
                <a:spcPts val="0"/>
              </a:spcBef>
              <a:buClrTx/>
              <a:buSzTx/>
              <a:buFontTx/>
              <a:buNone/>
            </a:lvl1pPr>
          </a:lstStyle>
          <a:p>
            <a:r>
              <a:t>« Saisissez une citation ici. » </a:t>
            </a:r>
          </a:p>
        </p:txBody>
      </p:sp>
      <p:sp>
        <p:nvSpPr>
          <p:cNvPr id="109"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Photo">
    <p:spTree>
      <p:nvGrpSpPr>
        <p:cNvPr id="1" name=""/>
        <p:cNvGrpSpPr/>
        <p:nvPr/>
      </p:nvGrpSpPr>
      <p:grpSpPr>
        <a:xfrm>
          <a:off x="0" y="0"/>
          <a:ext cx="0" cy="0"/>
          <a:chOff x="0" y="0"/>
          <a:chExt cx="0" cy="0"/>
        </a:xfrm>
      </p:grpSpPr>
      <p:sp>
        <p:nvSpPr>
          <p:cNvPr id="116" name="Image"/>
          <p:cNvSpPr>
            <a:spLocks noGrp="1"/>
          </p:cNvSpPr>
          <p:nvPr>
            <p:ph type="pic" idx="21"/>
          </p:nvPr>
        </p:nvSpPr>
        <p:spPr>
          <a:xfrm>
            <a:off x="-901700" y="-127000"/>
            <a:ext cx="14211300" cy="9997255"/>
          </a:xfrm>
          <a:prstGeom prst="rect">
            <a:avLst/>
          </a:prstGeom>
        </p:spPr>
        <p:txBody>
          <a:bodyPr lIns="91439" tIns="45719" rIns="91439" bIns="45719" anchor="t">
            <a:noAutofit/>
          </a:bodyPr>
          <a:lstStyle/>
          <a:p>
            <a:endParaRPr/>
          </a:p>
        </p:txBody>
      </p:sp>
      <p:sp>
        <p:nvSpPr>
          <p:cNvPr id="117"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Vierge">
    <p:spTree>
      <p:nvGrpSpPr>
        <p:cNvPr id="1" name=""/>
        <p:cNvGrpSpPr/>
        <p:nvPr/>
      </p:nvGrpSpPr>
      <p:grpSpPr>
        <a:xfrm>
          <a:off x="0" y="0"/>
          <a:ext cx="0" cy="0"/>
          <a:chOff x="0" y="0"/>
          <a:chExt cx="0" cy="0"/>
        </a:xfrm>
      </p:grpSpPr>
      <p:sp>
        <p:nvSpPr>
          <p:cNvPr id="124" name="Numéro de diapositive"/>
          <p:cNvSpPr txBox="1">
            <a:spLocks noGrp="1"/>
          </p:cNvSpPr>
          <p:nvPr>
            <p:ph type="sldNum" sz="quarter" idx="2"/>
          </p:nvPr>
        </p:nvSpPr>
        <p:spPr>
          <a:prstGeom prst="rect">
            <a:avLst/>
          </a:prstGeom>
        </p:spPr>
        <p:txBody>
          <a:bodyPr/>
          <a:lstStyle/>
          <a:p>
            <a:fld id="{86CB4B4D-7CA3-9044-876B-883B54F8677D}" type="slidenum">
              <a:rPr/>
              <a:pPr/>
              <a:t>‹N°›</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re et puces">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31" name="Ligne"/>
          <p:cNvSpPr/>
          <p:nvPr/>
        </p:nvSpPr>
        <p:spPr>
          <a:xfrm>
            <a:off x="2006599" y="2847974"/>
            <a:ext cx="8997971" cy="1"/>
          </a:xfrm>
          <a:prstGeom prst="line">
            <a:avLst/>
          </a:prstGeom>
          <a:ln w="3175">
            <a:solidFill>
              <a:srgbClr val="444444">
                <a:alpha val="30000"/>
              </a:srgbClr>
            </a:solidFill>
            <a:miter lim="400000"/>
          </a:ln>
        </p:spPr>
        <p:txBody>
          <a:bodyPr lIns="38100" tIns="38100" rIns="38100" bIns="38100" anchor="ctr"/>
          <a:lstStyle/>
          <a:p>
            <a:pPr algn="l" defTabSz="457200">
              <a:defRPr sz="1100">
                <a:solidFill>
                  <a:srgbClr val="000000"/>
                </a:solidFill>
                <a:latin typeface="Helvetica"/>
                <a:ea typeface="Helvetica"/>
                <a:cs typeface="Helvetica"/>
                <a:sym typeface="Helvetica"/>
              </a:defRPr>
            </a:pPr>
            <a:endParaRPr/>
          </a:p>
        </p:txBody>
      </p:sp>
      <p:sp>
        <p:nvSpPr>
          <p:cNvPr id="132" name="Ligne"/>
          <p:cNvSpPr/>
          <p:nvPr/>
        </p:nvSpPr>
        <p:spPr>
          <a:xfrm>
            <a:off x="2006599" y="1695449"/>
            <a:ext cx="8997971" cy="1"/>
          </a:xfrm>
          <a:prstGeom prst="line">
            <a:avLst/>
          </a:prstGeom>
          <a:ln w="3175">
            <a:solidFill>
              <a:srgbClr val="444444">
                <a:alpha val="30000"/>
              </a:srgbClr>
            </a:solidFill>
            <a:miter lim="400000"/>
          </a:ln>
        </p:spPr>
        <p:txBody>
          <a:bodyPr lIns="38100" tIns="38100" rIns="38100" bIns="38100" anchor="ctr"/>
          <a:lstStyle/>
          <a:p>
            <a:pPr algn="l" defTabSz="457200">
              <a:defRPr sz="1100">
                <a:solidFill>
                  <a:srgbClr val="000000"/>
                </a:solidFill>
                <a:latin typeface="Helvetica"/>
                <a:ea typeface="Helvetica"/>
                <a:cs typeface="Helvetica"/>
                <a:sym typeface="Helvetica"/>
              </a:defRPr>
            </a:pPr>
            <a:endParaRPr/>
          </a:p>
        </p:txBody>
      </p:sp>
      <p:sp>
        <p:nvSpPr>
          <p:cNvPr id="133" name="Texte du titre"/>
          <p:cNvSpPr txBox="1">
            <a:spLocks noGrp="1"/>
          </p:cNvSpPr>
          <p:nvPr>
            <p:ph type="title"/>
          </p:nvPr>
        </p:nvSpPr>
        <p:spPr>
          <a:xfrm>
            <a:off x="2006599" y="1819274"/>
            <a:ext cx="8991602" cy="914401"/>
          </a:xfrm>
          <a:prstGeom prst="rect">
            <a:avLst/>
          </a:prstGeom>
        </p:spPr>
        <p:txBody>
          <a:bodyPr lIns="38100" tIns="38100" rIns="38100" bIns="38100"/>
          <a:lstStyle>
            <a:lvl1pPr>
              <a:defRPr sz="6800"/>
            </a:lvl1pPr>
          </a:lstStyle>
          <a:p>
            <a:r>
              <a:t>Texte du titre</a:t>
            </a:r>
          </a:p>
        </p:txBody>
      </p:sp>
      <p:sp>
        <p:nvSpPr>
          <p:cNvPr id="134" name="Texte niveau 1…"/>
          <p:cNvSpPr txBox="1">
            <a:spLocks noGrp="1"/>
          </p:cNvSpPr>
          <p:nvPr>
            <p:ph type="body" sz="half" idx="1"/>
          </p:nvPr>
        </p:nvSpPr>
        <p:spPr>
          <a:xfrm>
            <a:off x="2006599" y="3190875"/>
            <a:ext cx="8991602" cy="4572001"/>
          </a:xfrm>
          <a:prstGeom prst="rect">
            <a:avLst/>
          </a:prstGeom>
        </p:spPr>
        <p:txBody>
          <a:bodyPr lIns="38100" tIns="38100" rIns="38100" bIns="38100"/>
          <a:lstStyle>
            <a:lvl1pPr marL="443794" indent="-443794">
              <a:defRPr sz="3400"/>
            </a:lvl1pPr>
            <a:lvl2pPr marL="913694" indent="-443794">
              <a:defRPr sz="3400"/>
            </a:lvl2pPr>
            <a:lvl3pPr marL="1383594" indent="-443794">
              <a:defRPr sz="3400"/>
            </a:lvl3pPr>
            <a:lvl4pPr marL="1853494" indent="-443794">
              <a:defRPr sz="3400"/>
            </a:lvl4pPr>
            <a:lvl5pPr marL="2323394" indent="-443794">
              <a:defRPr sz="3400"/>
            </a:lvl5pPr>
          </a:lstStyle>
          <a:p>
            <a:r>
              <a:t>Texte niveau 1</a:t>
            </a:r>
          </a:p>
          <a:p>
            <a:pPr lvl="1"/>
            <a:r>
              <a:t>Texte niveau 2</a:t>
            </a:r>
          </a:p>
          <a:p>
            <a:pPr lvl="2"/>
            <a:r>
              <a:t>Texte niveau 3</a:t>
            </a:r>
          </a:p>
          <a:p>
            <a:pPr lvl="3"/>
            <a:r>
              <a:t>Texte niveau 4</a:t>
            </a:r>
          </a:p>
          <a:p>
            <a:pPr lvl="4"/>
            <a:r>
              <a:t>Texte niveau 5</a:t>
            </a:r>
          </a:p>
        </p:txBody>
      </p:sp>
      <p:sp>
        <p:nvSpPr>
          <p:cNvPr id="135" name="Numéro de diapositive"/>
          <p:cNvSpPr txBox="1">
            <a:spLocks noGrp="1"/>
          </p:cNvSpPr>
          <p:nvPr>
            <p:ph type="sldNum" sz="quarter" idx="2"/>
          </p:nvPr>
        </p:nvSpPr>
        <p:spPr>
          <a:xfrm>
            <a:off x="6351587" y="8162925"/>
            <a:ext cx="292101" cy="330200"/>
          </a:xfrm>
          <a:prstGeom prst="rect">
            <a:avLst/>
          </a:prstGeom>
        </p:spPr>
        <p:txBody>
          <a:bodyPr lIns="38100" tIns="38100" rIns="38100" bIns="38100"/>
          <a:lstStyle>
            <a:lvl1pPr>
              <a:defRPr sz="1600"/>
            </a:lvl1pPr>
          </a:lstStyle>
          <a:p>
            <a:fld id="{86CB4B4D-7CA3-9044-876B-883B54F8677D}" type="slidenum">
              <a:rPr/>
              <a:pPr/>
              <a:t>‹N°›</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5"/>
          <a:srcRect/>
          <a:stretch>
            <a:fillRect/>
          </a:stretch>
        </a:blipFill>
        <a:effectLst/>
      </p:bgPr>
    </p:bg>
    <p:spTree>
      <p:nvGrpSpPr>
        <p:cNvPr id="1" name=""/>
        <p:cNvGrpSpPr/>
        <p:nvPr/>
      </p:nvGrpSpPr>
      <p:grpSpPr>
        <a:xfrm>
          <a:off x="0" y="0"/>
          <a:ext cx="0" cy="0"/>
          <a:chOff x="0" y="0"/>
          <a:chExt cx="0" cy="0"/>
        </a:xfrm>
      </p:grpSpPr>
      <p:sp>
        <p:nvSpPr>
          <p:cNvPr id="2" name="Ligne"/>
          <p:cNvSpPr/>
          <p:nvPr/>
        </p:nvSpPr>
        <p:spPr>
          <a:xfrm>
            <a:off x="508000" y="2171700"/>
            <a:ext cx="11997292"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3" name="Ligne"/>
          <p:cNvSpPr/>
          <p:nvPr/>
        </p:nvSpPr>
        <p:spPr>
          <a:xfrm>
            <a:off x="508000" y="635000"/>
            <a:ext cx="11997292"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endParaRPr/>
          </a:p>
        </p:txBody>
      </p:sp>
      <p:sp>
        <p:nvSpPr>
          <p:cNvPr id="4" name="Texte du titre"/>
          <p:cNvSpPr txBox="1">
            <a:spLocks noGrp="1"/>
          </p:cNvSpPr>
          <p:nvPr>
            <p:ph type="title"/>
          </p:nvPr>
        </p:nvSpPr>
        <p:spPr>
          <a:xfrm>
            <a:off x="508000" y="3276600"/>
            <a:ext cx="11988800" cy="12192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Texte du titre</a:t>
            </a:r>
          </a:p>
        </p:txBody>
      </p:sp>
      <p:sp>
        <p:nvSpPr>
          <p:cNvPr id="5" name="Texte niveau 1…"/>
          <p:cNvSpPr txBox="1">
            <a:spLocks noGrp="1"/>
          </p:cNvSpPr>
          <p:nvPr>
            <p:ph type="body" idx="1"/>
          </p:nvPr>
        </p:nvSpPr>
        <p:spPr>
          <a:xfrm>
            <a:off x="508000" y="2628900"/>
            <a:ext cx="11988800" cy="6096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p>
            <a:r>
              <a:t>Texte niveau 1</a:t>
            </a:r>
          </a:p>
          <a:p>
            <a:pPr lvl="1"/>
            <a:r>
              <a:t>Texte niveau 2</a:t>
            </a:r>
          </a:p>
          <a:p>
            <a:pPr lvl="2"/>
            <a:r>
              <a:t>Texte niveau 3</a:t>
            </a:r>
          </a:p>
          <a:p>
            <a:pPr lvl="3"/>
            <a:r>
              <a:t>Texte niveau 4</a:t>
            </a:r>
          </a:p>
          <a:p>
            <a:pPr lvl="4"/>
            <a:r>
              <a:t>Texte niveau 5</a:t>
            </a:r>
          </a:p>
        </p:txBody>
      </p:sp>
      <p:sp>
        <p:nvSpPr>
          <p:cNvPr id="6" name="Numéro de diapositive"/>
          <p:cNvSpPr txBox="1">
            <a:spLocks noGrp="1"/>
          </p:cNvSpPr>
          <p:nvPr>
            <p:ph type="sldNum" sz="quarter" idx="2"/>
          </p:nvPr>
        </p:nvSpPr>
        <p:spPr>
          <a:xfrm>
            <a:off x="6324599" y="9258300"/>
            <a:ext cx="342901" cy="406400"/>
          </a:xfrm>
          <a:prstGeom prst="rect">
            <a:avLst/>
          </a:prstGeom>
          <a:ln w="12700">
            <a:miter lim="400000"/>
          </a:ln>
        </p:spPr>
        <p:txBody>
          <a:bodyPr wrap="none" lIns="50800" tIns="50800" rIns="50800" bIns="50800">
            <a:spAutoFit/>
          </a:bodyPr>
          <a:lstStyle>
            <a:lvl1pPr>
              <a:defRPr sz="1800">
                <a:solidFill>
                  <a:srgbClr val="4C4946"/>
                </a:solidFill>
              </a:defRPr>
            </a:lvl1pPr>
          </a:lstStyle>
          <a:p>
            <a:fld id="{86CB4B4D-7CA3-9044-876B-883B54F8677D}" type="slidenum">
              <a:rPr/>
              <a:pPr/>
              <a:t>‹N°›</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spd="med"/>
  <p:txStyles>
    <p:titleStyle>
      <a:lvl1pPr marL="0" marR="0" indent="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1pPr>
      <a:lvl2pPr marL="0" marR="0" indent="2286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2pPr>
      <a:lvl3pPr marL="0" marR="0" indent="4572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3pPr>
      <a:lvl4pPr marL="0" marR="0" indent="6858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4pPr>
      <a:lvl5pPr marL="0" marR="0" indent="9144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5pPr>
      <a:lvl6pPr marL="0" marR="0" indent="11430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6pPr>
      <a:lvl7pPr marL="0" marR="0" indent="13716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7pPr>
      <a:lvl8pPr marL="0" marR="0" indent="16002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8pPr>
      <a:lvl9pPr marL="0" marR="0" indent="18288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9pPr>
    </p:titleStyle>
    <p:bodyStyle>
      <a:lvl1pPr marL="4699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1pPr>
      <a:lvl2pPr marL="9398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2pPr>
      <a:lvl3pPr marL="14097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3pPr>
      <a:lvl4pPr marL="18796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4pPr>
      <a:lvl5pPr marL="23495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5pPr>
      <a:lvl6pPr marL="28194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6pPr>
      <a:lvl7pPr marL="32893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7pPr>
      <a:lvl8pPr marL="37592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8pPr>
      <a:lvl9pPr marL="42291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9pPr>
    </p:bodyStyle>
    <p:otherStyle>
      <a:lvl1pPr marL="0" marR="0" indent="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Palatino"/>
        </a:defRPr>
      </a:lvl1pPr>
      <a:lvl2pPr marL="0" marR="0" indent="2286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Palatino"/>
        </a:defRPr>
      </a:lvl2pPr>
      <a:lvl3pPr marL="0" marR="0" indent="4572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Palatino"/>
        </a:defRPr>
      </a:lvl3pPr>
      <a:lvl4pPr marL="0" marR="0" indent="6858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Palatino"/>
        </a:defRPr>
      </a:lvl4pPr>
      <a:lvl5pPr marL="0" marR="0" indent="9144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Palatino"/>
        </a:defRPr>
      </a:lvl5pPr>
      <a:lvl6pPr marL="0" marR="0" indent="11430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Palatino"/>
        </a:defRPr>
      </a:lvl6pPr>
      <a:lvl7pPr marL="0" marR="0" indent="13716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Palatino"/>
        </a:defRPr>
      </a:lvl7pPr>
      <a:lvl8pPr marL="0" marR="0" indent="16002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Palatino"/>
        </a:defRPr>
      </a:lvl8pPr>
      <a:lvl9pPr marL="0" marR="0" indent="1828800" algn="ctr" defTabSz="584200" latinLnBrk="0">
        <a:lnSpc>
          <a:spcPct val="100000"/>
        </a:lnSpc>
        <a:spcBef>
          <a:spcPts val="0"/>
        </a:spcBef>
        <a:spcAft>
          <a:spcPts val="0"/>
        </a:spcAft>
        <a:buClrTx/>
        <a:buSzTx/>
        <a:buFontTx/>
        <a:buNone/>
        <a:tabLst/>
        <a:defRPr sz="1800" b="0" i="0" u="none" strike="noStrike" cap="none" spc="0" baseline="0">
          <a:solidFill>
            <a:schemeClr val="tx1"/>
          </a:solidFill>
          <a:uFillTx/>
          <a:latin typeface="+mn-lt"/>
          <a:ea typeface="+mn-ea"/>
          <a:cs typeface="+mn-cs"/>
          <a:sym typeface="Palatino"/>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6.xml"/><Relationship Id="rId1" Type="http://schemas.openxmlformats.org/officeDocument/2006/relationships/themeOverride" Target="../theme/themeOverride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4" name="Administration &amp; Sécurité des Systèmes d’Exploitation"/>
          <p:cNvSpPr txBox="1">
            <a:spLocks noGrp="1"/>
          </p:cNvSpPr>
          <p:nvPr>
            <p:ph type="title"/>
          </p:nvPr>
        </p:nvSpPr>
        <p:spPr>
          <a:xfrm>
            <a:off x="508000" y="3212766"/>
            <a:ext cx="11988800" cy="2413001"/>
          </a:xfrm>
          <a:prstGeom prst="rect">
            <a:avLst/>
          </a:prstGeom>
        </p:spPr>
        <p:txBody>
          <a:bodyPr/>
          <a:lstStyle>
            <a:lvl1pPr defTabSz="812800"/>
          </a:lstStyle>
          <a:p>
            <a:r>
              <a:rPr lang="fr-FR" dirty="0"/>
              <a:t>Module : Système et </a:t>
            </a:r>
            <a:r>
              <a:rPr lang="fr-FR" dirty="0" smtClean="0"/>
              <a:t>Scripting</a:t>
            </a:r>
            <a:endParaRPr dirty="0"/>
          </a:p>
        </p:txBody>
      </p:sp>
      <p:sp>
        <p:nvSpPr>
          <p:cNvPr id="146" name="Année Universitaire…"/>
          <p:cNvSpPr txBox="1">
            <a:spLocks noGrp="1"/>
          </p:cNvSpPr>
          <p:nvPr>
            <p:ph type="body" sz="quarter" idx="4294967295"/>
          </p:nvPr>
        </p:nvSpPr>
        <p:spPr>
          <a:xfrm>
            <a:off x="4495466" y="5784033"/>
            <a:ext cx="4241801" cy="2413001"/>
          </a:xfrm>
          <a:prstGeom prst="rect">
            <a:avLst/>
          </a:prstGeom>
        </p:spPr>
        <p:txBody>
          <a:bodyPr/>
          <a:lstStyle/>
          <a:p>
            <a:pPr marL="0" indent="0" algn="ctr">
              <a:spcBef>
                <a:spcPts val="0"/>
              </a:spcBef>
              <a:buClrTx/>
              <a:buSzTx/>
              <a:buFontTx/>
              <a:buNone/>
              <a:defRPr sz="2400" b="1"/>
            </a:pPr>
            <a:r>
              <a:t>Année Universitaire </a:t>
            </a:r>
          </a:p>
          <a:p>
            <a:pPr marL="0" indent="0" algn="ctr">
              <a:spcBef>
                <a:spcPts val="0"/>
              </a:spcBef>
              <a:buClrTx/>
              <a:buSzTx/>
              <a:buFontTx/>
              <a:buNone/>
              <a:defRPr sz="2400"/>
            </a:pPr>
            <a:r>
              <a:t>2020-2021  </a:t>
            </a:r>
          </a:p>
        </p:txBody>
      </p:sp>
      <p:sp>
        <p:nvSpPr>
          <p:cNvPr id="147" name="Ligne"/>
          <p:cNvSpPr/>
          <p:nvPr/>
        </p:nvSpPr>
        <p:spPr>
          <a:xfrm>
            <a:off x="341224" y="3127464"/>
            <a:ext cx="12322353" cy="1"/>
          </a:xfrm>
          <a:prstGeom prst="line">
            <a:avLst/>
          </a:prstGeom>
          <a:ln w="12700">
            <a:solidFill>
              <a:srgbClr val="C0C0C0"/>
            </a:solidFill>
            <a:miter lim="400000"/>
          </a:ln>
        </p:spPr>
        <p:txBody>
          <a:bodyPr lIns="50800" tIns="50800" rIns="50800" bIns="50800" anchor="ctr"/>
          <a:lstStyle/>
          <a:p>
            <a:pPr>
              <a:defRPr sz="3200"/>
            </a:pPr>
            <a:endParaRPr/>
          </a:p>
        </p:txBody>
      </p:sp>
      <p:sp>
        <p:nvSpPr>
          <p:cNvPr id="148" name="Ligne"/>
          <p:cNvSpPr/>
          <p:nvPr/>
        </p:nvSpPr>
        <p:spPr>
          <a:xfrm>
            <a:off x="341224" y="5711067"/>
            <a:ext cx="12322352" cy="1"/>
          </a:xfrm>
          <a:prstGeom prst="line">
            <a:avLst/>
          </a:prstGeom>
          <a:ln w="12700">
            <a:solidFill>
              <a:srgbClr val="C0C0C0"/>
            </a:solidFill>
            <a:miter lim="400000"/>
          </a:ln>
        </p:spPr>
        <p:txBody>
          <a:bodyPr lIns="50800" tIns="50800" rIns="50800" bIns="50800" anchor="ctr"/>
          <a:lstStyle/>
          <a:p>
            <a:pPr>
              <a:defRPr sz="3200"/>
            </a:pPr>
            <a:endParaRPr/>
          </a:p>
        </p:txBody>
      </p:sp>
      <p:pic>
        <p:nvPicPr>
          <p:cNvPr id="149" name="Image" descr="Image"/>
          <p:cNvPicPr>
            <a:picLocks noChangeAspect="1"/>
          </p:cNvPicPr>
          <p:nvPr/>
        </p:nvPicPr>
        <p:blipFill>
          <a:blip r:embed="rId2"/>
          <a:stretch>
            <a:fillRect/>
          </a:stretch>
        </p:blipFill>
        <p:spPr>
          <a:xfrm>
            <a:off x="4269973" y="489406"/>
            <a:ext cx="4464854" cy="1652680"/>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5" name="Planification &amp; Informations"/>
          <p:cNvSpPr txBox="1">
            <a:spLocks noGrp="1"/>
          </p:cNvSpPr>
          <p:nvPr>
            <p:ph type="title"/>
          </p:nvPr>
        </p:nvSpPr>
        <p:spPr>
          <a:prstGeom prst="rect">
            <a:avLst/>
          </a:prstGeom>
        </p:spPr>
        <p:txBody>
          <a:bodyPr/>
          <a:lstStyle/>
          <a:p>
            <a:r>
              <a:t>Planification &amp; Informations</a:t>
            </a:r>
          </a:p>
        </p:txBody>
      </p:sp>
      <p:sp>
        <p:nvSpPr>
          <p:cNvPr id="156" name="Chapitre 1 : Introduction &amp; Commandes de base…"/>
          <p:cNvSpPr txBox="1">
            <a:spLocks noGrp="1"/>
          </p:cNvSpPr>
          <p:nvPr>
            <p:ph type="body" idx="1"/>
          </p:nvPr>
        </p:nvSpPr>
        <p:spPr>
          <a:prstGeom prst="rect">
            <a:avLst/>
          </a:prstGeom>
        </p:spPr>
        <p:txBody>
          <a:bodyPr/>
          <a:lstStyle/>
          <a:p>
            <a:pPr algn="just"/>
            <a:r>
              <a:rPr b="1" u="sng">
                <a:solidFill>
                  <a:srgbClr val="011993"/>
                </a:solidFill>
              </a:rPr>
              <a:t>Chapitre 1</a:t>
            </a:r>
            <a:r>
              <a:t> : Introduction &amp; Commandes de base</a:t>
            </a:r>
          </a:p>
          <a:p>
            <a:pPr algn="just"/>
            <a:r>
              <a:rPr b="1" u="sng">
                <a:solidFill>
                  <a:srgbClr val="011993"/>
                </a:solidFill>
              </a:rPr>
              <a:t>Chapitre 2</a:t>
            </a:r>
            <a:r>
              <a:t> :  Langage de programmation Shell</a:t>
            </a:r>
            <a:r>
              <a:rPr sz="1200">
                <a:latin typeface="Times Roman"/>
                <a:ea typeface="Times Roman"/>
                <a:cs typeface="Times Roman"/>
                <a:sym typeface="Times Roman"/>
              </a:rPr>
              <a:t> </a:t>
            </a:r>
          </a:p>
          <a:p>
            <a:pPr algn="just"/>
            <a:r>
              <a:rPr b="1" u="sng">
                <a:solidFill>
                  <a:srgbClr val="011993"/>
                </a:solidFill>
              </a:rPr>
              <a:t>Chapitre 3</a:t>
            </a:r>
            <a:r>
              <a:rPr b="1"/>
              <a:t> </a:t>
            </a:r>
            <a:r>
              <a:t>:   Conditions &amp; Boucles en Shell </a:t>
            </a:r>
          </a:p>
          <a:p>
            <a:pPr algn="just"/>
            <a:r>
              <a:rPr b="1" u="sng">
                <a:solidFill>
                  <a:srgbClr val="011993"/>
                </a:solidFill>
              </a:rPr>
              <a:t>Chapitre 4</a:t>
            </a:r>
            <a:r>
              <a:rPr b="1"/>
              <a:t>  : </a:t>
            </a:r>
            <a:r>
              <a:t>Sous-programmes en Shell </a:t>
            </a:r>
          </a:p>
          <a:p>
            <a:pPr algn="just"/>
            <a:r>
              <a:rPr b="1" u="sng">
                <a:solidFill>
                  <a:srgbClr val="011993"/>
                </a:solidFill>
              </a:rPr>
              <a:t>Chapitre 5</a:t>
            </a:r>
            <a:r>
              <a:rPr b="1"/>
              <a:t>  : </a:t>
            </a:r>
            <a:r>
              <a:t>Projet d’application</a:t>
            </a:r>
          </a:p>
        </p:txBody>
      </p:sp>
    </p:spTree>
    <p:extLst>
      <p:ext uri="{BB962C8B-B14F-4D97-AF65-F5344CB8AC3E}">
        <p14:creationId xmlns="" xmlns:p14="http://schemas.microsoft.com/office/powerpoint/2010/main" val="1282563646"/>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Système &amp; Scripting"/>
          <p:cNvSpPr txBox="1">
            <a:spLocks/>
          </p:cNvSpPr>
          <p:nvPr/>
        </p:nvSpPr>
        <p:spPr>
          <a:xfrm>
            <a:off x="714062" y="3668333"/>
            <a:ext cx="7200900" cy="508000"/>
          </a:xfrm>
          <a:prstGeom prst="rect">
            <a:avLst/>
          </a:prstGeom>
        </p:spPr>
        <p:txBody>
          <a:bodyPr/>
          <a:lstStyle>
            <a:lvl1pPr marL="4699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1pPr>
            <a:lvl2pPr marL="9398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2pPr>
            <a:lvl3pPr marL="14097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3pPr>
            <a:lvl4pPr marL="18796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4pPr>
            <a:lvl5pPr marL="23495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5pPr>
            <a:lvl6pPr marL="28194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6pPr>
            <a:lvl7pPr marL="32893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7pPr>
            <a:lvl8pPr marL="37592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8pPr>
            <a:lvl9pPr marL="4229100" marR="0" indent="-469900" algn="l" defTabSz="584200" rtl="0" latinLnBrk="0">
              <a:lnSpc>
                <a:spcPct val="100000"/>
              </a:lnSpc>
              <a:spcBef>
                <a:spcPts val="2400"/>
              </a:spcBef>
              <a:spcAft>
                <a:spcPts val="0"/>
              </a:spcAft>
              <a:buClr>
                <a:srgbClr val="929292"/>
              </a:buClr>
              <a:buSzPct val="60000"/>
              <a:buFont typeface="Zapf Dingbats"/>
              <a:buChar char="❖"/>
              <a:tabLst/>
              <a:defRPr sz="3600" b="0" i="0" u="none" strike="noStrike" cap="none" spc="0" baseline="0">
                <a:solidFill>
                  <a:srgbClr val="414141"/>
                </a:solidFill>
                <a:uFillTx/>
                <a:latin typeface="Palatino"/>
                <a:ea typeface="Palatino"/>
                <a:cs typeface="Palatino"/>
                <a:sym typeface="Palatino"/>
              </a:defRPr>
            </a:lvl9pPr>
          </a:lstStyle>
          <a:p>
            <a:pPr marL="0" indent="0" hangingPunct="1">
              <a:buNone/>
            </a:pPr>
            <a:r>
              <a:rPr lang="fr-FR" sz="2400" i="1" dirty="0"/>
              <a:t>Système &amp; Scripting</a:t>
            </a:r>
          </a:p>
        </p:txBody>
      </p:sp>
      <p:sp>
        <p:nvSpPr>
          <p:cNvPr id="4" name="Chapitre I : Introduction &amp; Commandes de base"/>
          <p:cNvSpPr txBox="1">
            <a:spLocks/>
          </p:cNvSpPr>
          <p:nvPr/>
        </p:nvSpPr>
        <p:spPr>
          <a:xfrm>
            <a:off x="520879" y="3414333"/>
            <a:ext cx="11845075" cy="24130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normAutofit/>
          </a:bodyPr>
          <a:lstStyle>
            <a:lvl1pPr marL="0" marR="0" indent="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1pPr>
            <a:lvl2pPr marL="0" marR="0" indent="2286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2pPr>
            <a:lvl3pPr marL="0" marR="0" indent="4572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3pPr>
            <a:lvl4pPr marL="0" marR="0" indent="6858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4pPr>
            <a:lvl5pPr marL="0" marR="0" indent="9144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5pPr>
            <a:lvl6pPr marL="0" marR="0" indent="11430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6pPr>
            <a:lvl7pPr marL="0" marR="0" indent="13716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7pPr>
            <a:lvl8pPr marL="0" marR="0" indent="16002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8pPr>
            <a:lvl9pPr marL="0" marR="0" indent="1828800" algn="ctr" defTabSz="584200" rtl="0" latinLnBrk="0">
              <a:lnSpc>
                <a:spcPct val="90000"/>
              </a:lnSpc>
              <a:spcBef>
                <a:spcPts val="1600"/>
              </a:spcBef>
              <a:spcAft>
                <a:spcPts val="0"/>
              </a:spcAft>
              <a:buClrTx/>
              <a:buSzTx/>
              <a:buFontTx/>
              <a:buNone/>
              <a:tabLst/>
              <a:defRPr sz="7000" b="0" i="0" u="none" strike="noStrike" cap="none" spc="0" baseline="0">
                <a:solidFill>
                  <a:srgbClr val="D93E2B"/>
                </a:solidFill>
                <a:uFillTx/>
                <a:latin typeface="+mn-lt"/>
                <a:ea typeface="+mn-ea"/>
                <a:cs typeface="+mn-cs"/>
                <a:sym typeface="Bodoni SvtyTwo ITC TT-Book"/>
              </a:defRPr>
            </a:lvl9pPr>
          </a:lstStyle>
          <a:p>
            <a:pPr hangingPunct="1"/>
            <a:r>
              <a:rPr lang="fr-FR" dirty="0" smtClean="0"/>
              <a:t>Chapitre II : </a:t>
            </a:r>
            <a:r>
              <a:rPr lang="fr-FR" dirty="0"/>
              <a:t>Le langage</a:t>
            </a: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1" name="Plan"/>
          <p:cNvSpPr txBox="1">
            <a:spLocks noGrp="1"/>
          </p:cNvSpPr>
          <p:nvPr>
            <p:ph type="title"/>
          </p:nvPr>
        </p:nvSpPr>
        <p:spPr>
          <a:prstGeom prst="rect">
            <a:avLst/>
          </a:prstGeom>
        </p:spPr>
        <p:txBody>
          <a:bodyPr/>
          <a:lstStyle/>
          <a:p>
            <a:r>
              <a:t>Plan</a:t>
            </a:r>
          </a:p>
        </p:txBody>
      </p:sp>
      <p:sp>
        <p:nvSpPr>
          <p:cNvPr id="162" name="Shell : Définition &amp; Rôle…"/>
          <p:cNvSpPr txBox="1">
            <a:spLocks noGrp="1"/>
          </p:cNvSpPr>
          <p:nvPr>
            <p:ph type="body" idx="1"/>
          </p:nvPr>
        </p:nvSpPr>
        <p:spPr>
          <a:xfrm>
            <a:off x="507999" y="2258363"/>
            <a:ext cx="5635223" cy="5107069"/>
          </a:xfrm>
          <a:prstGeom prst="rect">
            <a:avLst/>
          </a:prstGeom>
        </p:spPr>
        <p:txBody>
          <a:bodyPr>
            <a:noAutofit/>
          </a:bodyPr>
          <a:lstStyle/>
          <a:p>
            <a:pPr marL="521716" indent="-521716" defTabSz="461518">
              <a:spcBef>
                <a:spcPts val="1800"/>
              </a:spcBef>
              <a:buClrTx/>
              <a:buSzPct val="100000"/>
              <a:buFontTx/>
              <a:buAutoNum type="arabicPeriod"/>
              <a:defRPr sz="2844"/>
            </a:pPr>
            <a:r>
              <a:rPr sz="2900" dirty="0"/>
              <a:t>Shell : </a:t>
            </a:r>
            <a:r>
              <a:rPr lang="fr-FR" sz="2900" dirty="0"/>
              <a:t>Le principe des scripts</a:t>
            </a:r>
            <a:r>
              <a:rPr sz="2900" dirty="0"/>
              <a:t> </a:t>
            </a:r>
          </a:p>
          <a:p>
            <a:pPr marL="521716" indent="-521716" defTabSz="461518">
              <a:spcBef>
                <a:spcPts val="1800"/>
              </a:spcBef>
              <a:buClrTx/>
              <a:buSzPct val="100000"/>
              <a:buFontTx/>
              <a:buAutoNum type="arabicPeriod"/>
              <a:defRPr sz="2844"/>
            </a:pPr>
            <a:r>
              <a:rPr lang="fr-FR" sz="2900" dirty="0"/>
              <a:t>Fonctionnement des scripts</a:t>
            </a:r>
          </a:p>
          <a:p>
            <a:pPr marL="521716" indent="-521716" defTabSz="461518">
              <a:spcBef>
                <a:spcPts val="1800"/>
              </a:spcBef>
              <a:buClrTx/>
              <a:buSzPct val="100000"/>
              <a:buFontTx/>
              <a:buAutoNum type="arabicPeriod"/>
              <a:defRPr sz="2844"/>
            </a:pPr>
            <a:r>
              <a:rPr lang="fr-FR" sz="2900" dirty="0"/>
              <a:t>Exécution  des scripts</a:t>
            </a:r>
          </a:p>
          <a:p>
            <a:pPr marL="521716" indent="-521716" defTabSz="461518">
              <a:spcBef>
                <a:spcPts val="1800"/>
              </a:spcBef>
              <a:buClrTx/>
              <a:buSzPct val="100000"/>
              <a:buFontTx/>
              <a:buAutoNum type="arabicPeriod"/>
              <a:defRPr sz="2844"/>
            </a:pPr>
            <a:r>
              <a:rPr lang="fr-FR" sz="2900" dirty="0"/>
              <a:t>composants des scripts</a:t>
            </a:r>
          </a:p>
          <a:p>
            <a:pPr marL="521716" indent="-521716" defTabSz="461518">
              <a:spcBef>
                <a:spcPts val="1800"/>
              </a:spcBef>
              <a:buClrTx/>
              <a:buSzPct val="100000"/>
              <a:buFontTx/>
              <a:buAutoNum type="arabicPeriod"/>
              <a:defRPr sz="2844"/>
            </a:pPr>
            <a:r>
              <a:rPr lang="fr-FR" sz="2900" dirty="0"/>
              <a:t>Déclaration des variables</a:t>
            </a:r>
          </a:p>
          <a:p>
            <a:pPr marL="521716" indent="-521716" defTabSz="461518">
              <a:spcBef>
                <a:spcPts val="1800"/>
              </a:spcBef>
              <a:buClrTx/>
              <a:buSzPct val="100000"/>
              <a:buFontTx/>
              <a:buAutoNum type="arabicPeriod"/>
              <a:defRPr sz="2844"/>
            </a:pPr>
            <a:r>
              <a:rPr lang="fr-FR" sz="2900" dirty="0" err="1"/>
              <a:t>echo</a:t>
            </a:r>
            <a:r>
              <a:rPr lang="fr-FR" sz="2900" dirty="0"/>
              <a:t> : affichage des variables</a:t>
            </a:r>
          </a:p>
        </p:txBody>
      </p:sp>
      <p:sp>
        <p:nvSpPr>
          <p:cNvPr id="2" name="Rectangle 1"/>
          <p:cNvSpPr/>
          <p:nvPr/>
        </p:nvSpPr>
        <p:spPr>
          <a:xfrm>
            <a:off x="6502400" y="2849823"/>
            <a:ext cx="6502400" cy="3924151"/>
          </a:xfrm>
          <a:prstGeom prst="rect">
            <a:avLst/>
          </a:prstGeom>
        </p:spPr>
        <p:txBody>
          <a:bodyPr>
            <a:spAutoFit/>
          </a:bodyPr>
          <a:lstStyle/>
          <a:p>
            <a:pPr marL="521716" indent="-521716" algn="l" defTabSz="461518">
              <a:spcBef>
                <a:spcPts val="1800"/>
              </a:spcBef>
              <a:buSzPct val="100000"/>
              <a:buFont typeface="+mj-lt"/>
              <a:buAutoNum type="arabicPeriod" startAt="7"/>
              <a:defRPr sz="2844"/>
            </a:pPr>
            <a:r>
              <a:rPr lang="fr-FR" sz="2900" dirty="0" err="1"/>
              <a:t>read</a:t>
            </a:r>
            <a:r>
              <a:rPr lang="fr-FR" sz="2900" dirty="0"/>
              <a:t> : saisie des variables </a:t>
            </a:r>
          </a:p>
          <a:p>
            <a:pPr marL="521716" indent="-521716" algn="l" defTabSz="461518">
              <a:spcBef>
                <a:spcPts val="1800"/>
              </a:spcBef>
              <a:buSzPct val="100000"/>
              <a:buFontTx/>
              <a:buAutoNum type="arabicPeriod" startAt="7"/>
              <a:defRPr sz="2844"/>
            </a:pPr>
            <a:r>
              <a:rPr lang="fr-FR" sz="2900" dirty="0"/>
              <a:t>Les variables d'environnement</a:t>
            </a:r>
          </a:p>
          <a:p>
            <a:pPr marL="521716" indent="-521716" algn="l" defTabSz="461518">
              <a:spcBef>
                <a:spcPts val="1800"/>
              </a:spcBef>
              <a:buSzPct val="100000"/>
              <a:buFontTx/>
              <a:buAutoNum type="arabicPeriod" startAt="7"/>
              <a:defRPr sz="2844"/>
            </a:pPr>
            <a:r>
              <a:rPr lang="fr-FR" sz="2900" dirty="0"/>
              <a:t>Les variables spéciales</a:t>
            </a:r>
          </a:p>
          <a:p>
            <a:pPr marL="521716" indent="-521716" algn="l" defTabSz="461518">
              <a:spcBef>
                <a:spcPts val="1800"/>
              </a:spcBef>
              <a:buSzPct val="100000"/>
              <a:buFontTx/>
              <a:buAutoNum type="arabicPeriod" startAt="7"/>
              <a:defRPr sz="2844"/>
            </a:pPr>
            <a:r>
              <a:rPr lang="fr-FR" sz="2900" dirty="0"/>
              <a:t>Tableaux</a:t>
            </a:r>
          </a:p>
          <a:p>
            <a:pPr marL="521716" indent="-521716" algn="l" defTabSz="461518">
              <a:spcBef>
                <a:spcPts val="1800"/>
              </a:spcBef>
              <a:buSzPct val="100000"/>
              <a:buFontTx/>
              <a:buAutoNum type="arabicPeriod" startAt="7"/>
              <a:defRPr sz="2844"/>
            </a:pPr>
            <a:r>
              <a:rPr lang="fr-FR" sz="2900" dirty="0" err="1"/>
              <a:t>Expr</a:t>
            </a:r>
            <a:r>
              <a:rPr lang="fr-FR" sz="2900" dirty="0"/>
              <a:t> : arithmétique</a:t>
            </a:r>
          </a:p>
          <a:p>
            <a:pPr marL="521716" indent="-521716" algn="l" defTabSz="461518">
              <a:spcBef>
                <a:spcPts val="1800"/>
              </a:spcBef>
              <a:buSzPct val="100000"/>
              <a:buFontTx/>
              <a:buAutoNum type="arabicPeriod" startAt="7"/>
              <a:defRPr sz="2844"/>
            </a:pPr>
            <a:r>
              <a:rPr lang="fr-FR" sz="2900" dirty="0" err="1"/>
              <a:t>Expr</a:t>
            </a:r>
            <a:r>
              <a:rPr lang="fr-FR" sz="2900" dirty="0"/>
              <a:t> : manipulation des chaînes</a:t>
            </a:r>
          </a:p>
        </p:txBody>
      </p:sp>
    </p:spTree>
    <p:extLst>
      <p:ext uri="{BB962C8B-B14F-4D97-AF65-F5344CB8AC3E}">
        <p14:creationId xmlns="" xmlns:p14="http://schemas.microsoft.com/office/powerpoint/2010/main" val="1079547450"/>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3" name="Système d’exploitation (OS)"/>
          <p:cNvSpPr txBox="1">
            <a:spLocks noGrp="1"/>
          </p:cNvSpPr>
          <p:nvPr>
            <p:ph type="title"/>
          </p:nvPr>
        </p:nvSpPr>
        <p:spPr>
          <a:prstGeom prst="rect">
            <a:avLst/>
          </a:prstGeom>
        </p:spPr>
        <p:txBody>
          <a:bodyPr/>
          <a:lstStyle/>
          <a:p>
            <a:r>
              <a:rPr lang="fr-FR" dirty="0"/>
              <a:t>Le principe des scripts</a:t>
            </a:r>
            <a:endParaRPr dirty="0"/>
          </a:p>
        </p:txBody>
      </p:sp>
      <p:sp>
        <p:nvSpPr>
          <p:cNvPr id="154" name="Un système d'exploitation, ou OS (Operating System), définit un ensemble de programmes chargé d'établir une relation entre les différentes ressources matérielles, les applications et l'utilisateur."/>
          <p:cNvSpPr txBox="1">
            <a:spLocks noGrp="1"/>
          </p:cNvSpPr>
          <p:nvPr>
            <p:ph type="body" idx="1"/>
          </p:nvPr>
        </p:nvSpPr>
        <p:spPr>
          <a:xfrm>
            <a:off x="508000" y="2367029"/>
            <a:ext cx="11988800" cy="6096000"/>
          </a:xfrm>
          <a:prstGeom prst="rect">
            <a:avLst/>
          </a:prstGeom>
        </p:spPr>
        <p:txBody>
          <a:bodyPr anchor="t">
            <a:noAutofit/>
          </a:bodyPr>
          <a:lstStyle/>
          <a:p>
            <a:pPr marL="0" indent="0" algn="just">
              <a:lnSpc>
                <a:spcPct val="140000"/>
              </a:lnSpc>
              <a:buNone/>
            </a:pPr>
            <a:r>
              <a:rPr lang="fr-FR" sz="2900" dirty="0"/>
              <a:t>Un script est un ensemble de commandes qui sont regroupées dans un fichier exécutable. Les avantages sont :</a:t>
            </a:r>
          </a:p>
          <a:p>
            <a:pPr algn="just"/>
            <a:r>
              <a:rPr lang="fr-FR" sz="2900" dirty="0"/>
              <a:t>Assembler des commandes simples pour réaliser des actions complexes</a:t>
            </a:r>
          </a:p>
          <a:p>
            <a:pPr algn="just"/>
            <a:r>
              <a:rPr lang="fr-FR" sz="2900" dirty="0"/>
              <a:t>Regrouper des actions que l'on désire exécuter plus d'une fois</a:t>
            </a:r>
          </a:p>
          <a:p>
            <a:pPr algn="just"/>
            <a:r>
              <a:rPr lang="fr-FR" sz="2900" dirty="0"/>
              <a:t>Réaliser un outil à mettre à la disposition de plusieurs </a:t>
            </a:r>
            <a:r>
              <a:rPr lang="fr-FR" sz="2900" dirty="0" smtClean="0"/>
              <a:t>personnes</a:t>
            </a:r>
            <a:endParaRPr lang="fr-FR" sz="2900" dirty="0"/>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1" name="Gestion du processeur : allocation du processeur entre les différents programmes grâce à un algorithme d’ordonnancement.…"/>
          <p:cNvSpPr txBox="1">
            <a:spLocks noGrp="1"/>
          </p:cNvSpPr>
          <p:nvPr>
            <p:ph type="body" idx="1"/>
          </p:nvPr>
        </p:nvSpPr>
        <p:spPr>
          <a:xfrm>
            <a:off x="362039" y="2871989"/>
            <a:ext cx="12280722" cy="6086878"/>
          </a:xfrm>
          <a:prstGeom prst="rect">
            <a:avLst/>
          </a:prstGeom>
        </p:spPr>
        <p:txBody>
          <a:bodyPr>
            <a:normAutofit/>
          </a:bodyPr>
          <a:lstStyle/>
          <a:p>
            <a:pPr marL="0" indent="0" algn="just">
              <a:lnSpc>
                <a:spcPct val="145000"/>
              </a:lnSpc>
              <a:buNone/>
            </a:pPr>
            <a:r>
              <a:rPr lang="fr-FR" sz="2900" dirty="0" smtClean="0"/>
              <a:t>Pour le bon fonctionnement d’un script, il </a:t>
            </a:r>
            <a:r>
              <a:rPr lang="fr-FR" sz="2900" dirty="0"/>
              <a:t>doit répondre à plusieurs critères :</a:t>
            </a:r>
          </a:p>
          <a:p>
            <a:pPr algn="just">
              <a:lnSpc>
                <a:spcPct val="145000"/>
              </a:lnSpc>
            </a:pPr>
            <a:r>
              <a:rPr lang="fr-FR" sz="2900" dirty="0"/>
              <a:t>Etre exécutable pour l'utilisateur au niveau de la protection du fichier</a:t>
            </a:r>
          </a:p>
          <a:p>
            <a:pPr algn="just">
              <a:lnSpc>
                <a:spcPct val="145000"/>
              </a:lnSpc>
            </a:pPr>
            <a:r>
              <a:rPr lang="fr-FR" sz="2900" dirty="0"/>
              <a:t>Avoir l'appel à l'interpréteur dans sa première ligne </a:t>
            </a:r>
          </a:p>
          <a:p>
            <a:pPr lvl="1" algn="just">
              <a:lnSpc>
                <a:spcPct val="145000"/>
              </a:lnSpc>
              <a:buFont typeface="Wingdings" panose="05000000000000000000" pitchFamily="2" charset="2"/>
              <a:buChar char="Ø"/>
            </a:pPr>
            <a:r>
              <a:rPr lang="fr-FR" sz="2900" b="1" dirty="0">
                <a:solidFill>
                  <a:srgbClr val="FF0000"/>
                </a:solidFill>
              </a:rPr>
              <a:t>#!/</a:t>
            </a:r>
            <a:r>
              <a:rPr lang="fr-FR" sz="2900" b="1" dirty="0" smtClean="0">
                <a:solidFill>
                  <a:srgbClr val="FF0000"/>
                </a:solidFill>
              </a:rPr>
              <a:t>bin/</a:t>
            </a:r>
            <a:r>
              <a:rPr lang="fr-FR" sz="2900" b="1" dirty="0" err="1" smtClean="0">
                <a:solidFill>
                  <a:srgbClr val="FF0000"/>
                </a:solidFill>
              </a:rPr>
              <a:t>bash</a:t>
            </a:r>
            <a:endParaRPr lang="fr-FR" sz="2900" b="1" dirty="0">
              <a:solidFill>
                <a:srgbClr val="FF0000"/>
              </a:solidFill>
            </a:endParaRPr>
          </a:p>
          <a:p>
            <a:pPr marL="0" indent="0" algn="just">
              <a:lnSpc>
                <a:spcPct val="135000"/>
              </a:lnSpc>
              <a:buNone/>
            </a:pPr>
            <a:r>
              <a:rPr lang="fr-FR" dirty="0" smtClean="0"/>
              <a:t/>
            </a:r>
            <a:br>
              <a:rPr lang="fr-FR" dirty="0" smtClean="0"/>
            </a:br>
            <a:endParaRPr dirty="0"/>
          </a:p>
        </p:txBody>
      </p:sp>
      <p:sp>
        <p:nvSpPr>
          <p:cNvPr id="2" name="Title 1"/>
          <p:cNvSpPr>
            <a:spLocks noGrp="1"/>
          </p:cNvSpPr>
          <p:nvPr>
            <p:ph type="title"/>
          </p:nvPr>
        </p:nvSpPr>
        <p:spPr/>
        <p:txBody>
          <a:bodyPr/>
          <a:lstStyle/>
          <a:p>
            <a:r>
              <a:rPr lang="fr-FR" dirty="0" smtClean="0"/>
              <a:t>Fonctionnement des scripts</a:t>
            </a:r>
            <a:endParaRPr lang="fr-FR" dirty="0"/>
          </a:p>
        </p:txBody>
      </p:sp>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92090" y="2268291"/>
            <a:ext cx="11988800" cy="6096000"/>
          </a:xfrm>
        </p:spPr>
        <p:txBody>
          <a:bodyPr>
            <a:noAutofit/>
          </a:bodyPr>
          <a:lstStyle/>
          <a:p>
            <a:pPr algn="just">
              <a:lnSpc>
                <a:spcPct val="145000"/>
              </a:lnSpc>
            </a:pPr>
            <a:r>
              <a:rPr lang="fr-FR" sz="2900" dirty="0"/>
              <a:t>La première ligne commençant par</a:t>
            </a:r>
            <a:r>
              <a:rPr lang="fr-FR" sz="2900" dirty="0">
                <a:solidFill>
                  <a:srgbClr val="FF0000"/>
                </a:solidFill>
              </a:rPr>
              <a:t> </a:t>
            </a:r>
            <a:r>
              <a:rPr lang="fr-FR" sz="2900" b="1" dirty="0">
                <a:solidFill>
                  <a:srgbClr val="FF0000"/>
                </a:solidFill>
              </a:rPr>
              <a:t>#!</a:t>
            </a:r>
            <a:r>
              <a:rPr lang="fr-FR" sz="2900" dirty="0">
                <a:solidFill>
                  <a:srgbClr val="FF0000"/>
                </a:solidFill>
              </a:rPr>
              <a:t> </a:t>
            </a:r>
            <a:r>
              <a:rPr lang="fr-FR" sz="2900" dirty="0"/>
              <a:t>indique à quel interpréteur le script doit être confié. </a:t>
            </a:r>
          </a:p>
          <a:p>
            <a:pPr algn="just">
              <a:lnSpc>
                <a:spcPct val="145000"/>
              </a:lnSpc>
            </a:pPr>
            <a:r>
              <a:rPr lang="fr-FR" sz="2900" dirty="0"/>
              <a:t>Il existe de nombreux interpréteurs possibles, par exemple:</a:t>
            </a:r>
          </a:p>
          <a:p>
            <a:pPr algn="just">
              <a:lnSpc>
                <a:spcPct val="145000"/>
              </a:lnSpc>
              <a:buFont typeface="Wingdings" panose="05000000000000000000" pitchFamily="2" charset="2"/>
              <a:buChar char="§"/>
            </a:pPr>
            <a:r>
              <a:rPr lang="fr-FR" sz="2900" dirty="0"/>
              <a:t>#!/bin/sh</a:t>
            </a:r>
          </a:p>
          <a:p>
            <a:pPr algn="just">
              <a:lnSpc>
                <a:spcPct val="145000"/>
              </a:lnSpc>
              <a:buFont typeface="Wingdings" panose="05000000000000000000" pitchFamily="2" charset="2"/>
              <a:buChar char="§"/>
            </a:pPr>
            <a:r>
              <a:rPr lang="fr-FR" sz="2900" dirty="0"/>
              <a:t>#!/bin/</a:t>
            </a:r>
            <a:r>
              <a:rPr lang="fr-FR" sz="2900" dirty="0" err="1"/>
              <a:t>bash</a:t>
            </a:r>
            <a:endParaRPr lang="fr-FR" sz="2900" dirty="0"/>
          </a:p>
          <a:p>
            <a:pPr algn="just">
              <a:lnSpc>
                <a:spcPct val="145000"/>
              </a:lnSpc>
              <a:buFont typeface="Wingdings" panose="05000000000000000000" pitchFamily="2" charset="2"/>
              <a:buChar char="§"/>
            </a:pPr>
            <a:r>
              <a:rPr lang="fr-FR" sz="2900" dirty="0" smtClean="0"/>
              <a:t>#!/</a:t>
            </a:r>
            <a:r>
              <a:rPr lang="fr-FR" sz="2900" dirty="0" err="1" smtClean="0"/>
              <a:t>usr</a:t>
            </a:r>
            <a:r>
              <a:rPr lang="fr-FR" sz="2900" dirty="0" smtClean="0"/>
              <a:t>/bin/perl</a:t>
            </a:r>
          </a:p>
        </p:txBody>
      </p:sp>
      <p:sp>
        <p:nvSpPr>
          <p:cNvPr id="5" name="Title 1"/>
          <p:cNvSpPr>
            <a:spLocks noGrp="1"/>
          </p:cNvSpPr>
          <p:nvPr>
            <p:ph type="title"/>
          </p:nvPr>
        </p:nvSpPr>
        <p:spPr/>
        <p:txBody>
          <a:bodyPr/>
          <a:lstStyle/>
          <a:p>
            <a:r>
              <a:rPr lang="fr-FR" dirty="0" smtClean="0"/>
              <a:t>Fonctionnement des scripts</a:t>
            </a:r>
            <a:endParaRPr lang="fr-FR" dirty="0"/>
          </a:p>
        </p:txBody>
      </p:sp>
      <p:sp>
        <p:nvSpPr>
          <p:cNvPr id="6" name="Rectangle 5"/>
          <p:cNvSpPr/>
          <p:nvPr/>
        </p:nvSpPr>
        <p:spPr>
          <a:xfrm>
            <a:off x="4075447" y="5309104"/>
            <a:ext cx="6502400" cy="3526928"/>
          </a:xfrm>
          <a:prstGeom prst="rect">
            <a:avLst/>
          </a:prstGeom>
        </p:spPr>
        <p:txBody>
          <a:bodyPr>
            <a:spAutoFit/>
          </a:bodyPr>
          <a:lstStyle/>
          <a:p>
            <a:pPr marL="469900" indent="-469900" algn="just">
              <a:lnSpc>
                <a:spcPct val="145000"/>
              </a:lnSpc>
              <a:spcBef>
                <a:spcPts val="2400"/>
              </a:spcBef>
              <a:buClr>
                <a:srgbClr val="929292"/>
              </a:buClr>
              <a:buSzPct val="60000"/>
              <a:buFont typeface="Wingdings" panose="05000000000000000000" pitchFamily="2" charset="2"/>
              <a:buChar char="§"/>
            </a:pPr>
            <a:r>
              <a:rPr lang="fr-FR" sz="2900" dirty="0"/>
              <a:t>#!/</a:t>
            </a:r>
            <a:r>
              <a:rPr lang="fr-FR" sz="2900" dirty="0" err="1"/>
              <a:t>usr</a:t>
            </a:r>
            <a:r>
              <a:rPr lang="fr-FR" sz="2900" dirty="0"/>
              <a:t>/bin/</a:t>
            </a:r>
            <a:r>
              <a:rPr lang="fr-FR" sz="2900" dirty="0" err="1"/>
              <a:t>tcl</a:t>
            </a:r>
            <a:endParaRPr lang="fr-FR" sz="2900" dirty="0"/>
          </a:p>
          <a:p>
            <a:pPr marL="469900" indent="-469900" algn="just">
              <a:lnSpc>
                <a:spcPct val="145000"/>
              </a:lnSpc>
              <a:spcBef>
                <a:spcPts val="2400"/>
              </a:spcBef>
              <a:buClr>
                <a:srgbClr val="929292"/>
              </a:buClr>
              <a:buSzPct val="60000"/>
              <a:buFont typeface="Wingdings" panose="05000000000000000000" pitchFamily="2" charset="2"/>
              <a:buChar char="§"/>
            </a:pPr>
            <a:r>
              <a:rPr lang="fr-FR" sz="2900" dirty="0"/>
              <a:t>#!/bin/</a:t>
            </a:r>
            <a:r>
              <a:rPr lang="fr-FR" sz="2900" dirty="0" err="1"/>
              <a:t>sed</a:t>
            </a:r>
            <a:r>
              <a:rPr lang="fr-FR" sz="2900" dirty="0"/>
              <a:t> –f</a:t>
            </a:r>
          </a:p>
          <a:p>
            <a:pPr marL="469900" indent="-469900" algn="just">
              <a:lnSpc>
                <a:spcPct val="145000"/>
              </a:lnSpc>
              <a:spcBef>
                <a:spcPts val="2400"/>
              </a:spcBef>
              <a:buClr>
                <a:srgbClr val="929292"/>
              </a:buClr>
              <a:buSzPct val="60000"/>
              <a:buFont typeface="Wingdings" panose="05000000000000000000" pitchFamily="2" charset="2"/>
              <a:buChar char="§"/>
            </a:pPr>
            <a:r>
              <a:rPr lang="fr-FR" sz="2900" dirty="0"/>
              <a:t>#!/bin/</a:t>
            </a:r>
            <a:r>
              <a:rPr lang="fr-FR" sz="2900" dirty="0" err="1"/>
              <a:t>awk</a:t>
            </a:r>
            <a:r>
              <a:rPr lang="fr-FR" sz="2900" dirty="0"/>
              <a:t> -f </a:t>
            </a:r>
          </a:p>
          <a:p>
            <a:pPr marL="469900" indent="-469900" algn="just">
              <a:lnSpc>
                <a:spcPct val="145000"/>
              </a:lnSpc>
              <a:spcBef>
                <a:spcPts val="2400"/>
              </a:spcBef>
              <a:buClr>
                <a:srgbClr val="929292"/>
              </a:buClr>
              <a:buSzPct val="60000"/>
              <a:buFont typeface="Wingdings" panose="05000000000000000000" pitchFamily="2" charset="2"/>
              <a:buChar char="§"/>
            </a:pPr>
            <a:endParaRPr lang="fr-FR" sz="2900" dirty="0"/>
          </a:p>
        </p:txBody>
      </p:sp>
    </p:spTree>
    <p:extLst>
      <p:ext uri="{BB962C8B-B14F-4D97-AF65-F5344CB8AC3E}">
        <p14:creationId xmlns="" xmlns:p14="http://schemas.microsoft.com/office/powerpoint/2010/main" val="2982735105"/>
      </p:ext>
    </p:extLst>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3" name="Rôle de l’OS"/>
          <p:cNvSpPr txBox="1">
            <a:spLocks noGrp="1"/>
          </p:cNvSpPr>
          <p:nvPr>
            <p:ph type="title"/>
          </p:nvPr>
        </p:nvSpPr>
        <p:spPr>
          <a:prstGeom prst="rect">
            <a:avLst/>
          </a:prstGeom>
        </p:spPr>
        <p:txBody>
          <a:bodyPr>
            <a:normAutofit/>
          </a:bodyPr>
          <a:lstStyle/>
          <a:p>
            <a:r>
              <a:rPr lang="fr-FR" dirty="0" smtClean="0"/>
              <a:t>Exécution  des scripts</a:t>
            </a:r>
            <a:endParaRPr dirty="0"/>
          </a:p>
        </p:txBody>
      </p:sp>
      <p:sp>
        <p:nvSpPr>
          <p:cNvPr id="164" name="Gestion des entrées/sorties : le système d'exploitation permet d'unifier et de contrôler l'accès des programmes aux ressources matérielles par l'intermédiaire des pilotes (appelés également gestionnaires de périphériques ou gestionnaires d’entrée/sortie)"/>
          <p:cNvSpPr txBox="1">
            <a:spLocks noGrp="1"/>
          </p:cNvSpPr>
          <p:nvPr>
            <p:ph type="body" idx="1"/>
          </p:nvPr>
        </p:nvSpPr>
        <p:spPr>
          <a:xfrm>
            <a:off x="508000" y="2833351"/>
            <a:ext cx="11988800" cy="4346083"/>
          </a:xfrm>
          <a:prstGeom prst="rect">
            <a:avLst/>
          </a:prstGeom>
        </p:spPr>
        <p:txBody>
          <a:bodyPr>
            <a:normAutofit/>
          </a:bodyPr>
          <a:lstStyle/>
          <a:p>
            <a:pPr algn="just">
              <a:lnSpc>
                <a:spcPct val="150000"/>
              </a:lnSpc>
            </a:pPr>
            <a:r>
              <a:rPr lang="fr-FR" sz="2900" dirty="0"/>
              <a:t>Si le script est exécutable  il suffit </a:t>
            </a:r>
            <a:r>
              <a:rPr lang="fr-FR" sz="2900" dirty="0" smtClean="0"/>
              <a:t>de passer </a:t>
            </a:r>
            <a:r>
              <a:rPr lang="fr-FR" sz="2900" dirty="0"/>
              <a:t>le script en argument à un </a:t>
            </a:r>
            <a:r>
              <a:rPr lang="fr-FR" sz="2900" dirty="0" err="1"/>
              <a:t>shell</a:t>
            </a:r>
            <a:r>
              <a:rPr lang="fr-FR" sz="2900" dirty="0"/>
              <a:t> </a:t>
            </a:r>
            <a:r>
              <a:rPr lang="fr-FR" sz="2900" dirty="0" smtClean="0"/>
              <a:t>«</a:t>
            </a:r>
            <a:r>
              <a:rPr lang="fr-FR" sz="2900" b="1" dirty="0" smtClean="0"/>
              <a:t> </a:t>
            </a:r>
            <a:r>
              <a:rPr lang="fr-FR" sz="2900" b="1" dirty="0" err="1" smtClean="0"/>
              <a:t>bash</a:t>
            </a:r>
            <a:r>
              <a:rPr lang="fr-FR" sz="2900" b="1" dirty="0" smtClean="0"/>
              <a:t> monscript.sh</a:t>
            </a:r>
            <a:r>
              <a:rPr lang="fr-FR" sz="2900" dirty="0" smtClean="0"/>
              <a:t> »  pour afficher le résultat.</a:t>
            </a:r>
            <a:endParaRPr lang="fr-FR" sz="2900" dirty="0"/>
          </a:p>
          <a:p>
            <a:pPr algn="just">
              <a:lnSpc>
                <a:spcPct val="150000"/>
              </a:lnSpc>
            </a:pPr>
            <a:r>
              <a:rPr lang="fr-FR" sz="2900" dirty="0"/>
              <a:t>On peut aussi utiliser l'opérateur "</a:t>
            </a:r>
            <a:r>
              <a:rPr lang="fr-FR" sz="2900" b="1" dirty="0"/>
              <a:t>.</a:t>
            </a:r>
            <a:r>
              <a:rPr lang="fr-FR" sz="2900" dirty="0"/>
              <a:t>" </a:t>
            </a:r>
            <a:r>
              <a:rPr lang="fr-FR" sz="2900" dirty="0" smtClean="0"/>
              <a:t>  " </a:t>
            </a:r>
            <a:r>
              <a:rPr lang="fr-FR" sz="2900" b="1" dirty="0" smtClean="0"/>
              <a:t>./monscript.sh</a:t>
            </a:r>
            <a:r>
              <a:rPr lang="fr-FR" sz="2900" dirty="0" smtClean="0"/>
              <a:t>".</a:t>
            </a:r>
            <a:endParaRPr lang="fr-FR" sz="2500" dirty="0"/>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 name="Composants de l’OS"/>
          <p:cNvSpPr txBox="1">
            <a:spLocks noGrp="1"/>
          </p:cNvSpPr>
          <p:nvPr>
            <p:ph type="title"/>
          </p:nvPr>
        </p:nvSpPr>
        <p:spPr>
          <a:prstGeom prst="rect">
            <a:avLst/>
          </a:prstGeom>
        </p:spPr>
        <p:txBody>
          <a:bodyPr>
            <a:normAutofit/>
          </a:bodyPr>
          <a:lstStyle/>
          <a:p>
            <a:r>
              <a:rPr lang="fr-FR" dirty="0" smtClean="0"/>
              <a:t>composants des scripts</a:t>
            </a:r>
            <a:endParaRPr dirty="0"/>
          </a:p>
        </p:txBody>
      </p:sp>
      <p:sp>
        <p:nvSpPr>
          <p:cNvPr id="4" name="Gestion des entrées/sorties : le système d'exploitation permet d'unifier et de contrôler l'accès des programmes aux ressources matérielles par l'intermédiaire des pilotes (appelés également gestionnaires de périphériques ou gestionnaires d’entrée/sortie)"/>
          <p:cNvSpPr txBox="1">
            <a:spLocks noGrp="1"/>
          </p:cNvSpPr>
          <p:nvPr>
            <p:ph type="body" idx="1"/>
          </p:nvPr>
        </p:nvSpPr>
        <p:spPr>
          <a:xfrm>
            <a:off x="508000" y="2408348"/>
            <a:ext cx="11988800" cy="4965877"/>
          </a:xfrm>
          <a:prstGeom prst="rect">
            <a:avLst/>
          </a:prstGeom>
        </p:spPr>
        <p:txBody>
          <a:bodyPr>
            <a:normAutofit/>
          </a:bodyPr>
          <a:lstStyle/>
          <a:p>
            <a:pPr marL="571500" indent="-571500">
              <a:lnSpc>
                <a:spcPct val="150000"/>
              </a:lnSpc>
              <a:buFont typeface="Wingdings" panose="05000000000000000000" pitchFamily="2" charset="2"/>
              <a:buChar char="v"/>
            </a:pPr>
            <a:r>
              <a:rPr lang="fr-FR" sz="2900" dirty="0"/>
              <a:t>une commande </a:t>
            </a:r>
            <a:r>
              <a:rPr lang="fr-FR" sz="2900" dirty="0" err="1"/>
              <a:t>shell</a:t>
            </a:r>
            <a:r>
              <a:rPr lang="fr-FR" sz="2900" dirty="0"/>
              <a:t> de base : </a:t>
            </a:r>
            <a:r>
              <a:rPr lang="fr-FR" sz="2900" b="1" dirty="0" err="1"/>
              <a:t>find</a:t>
            </a:r>
            <a:r>
              <a:rPr lang="fr-FR" sz="2900" b="1" dirty="0"/>
              <a:t>, </a:t>
            </a:r>
            <a:r>
              <a:rPr lang="fr-FR" sz="2900" b="1" dirty="0" err="1"/>
              <a:t>cut</a:t>
            </a:r>
            <a:r>
              <a:rPr lang="fr-FR" sz="2900" b="1" dirty="0"/>
              <a:t> </a:t>
            </a:r>
            <a:r>
              <a:rPr lang="fr-FR" sz="2900" dirty="0"/>
              <a:t>ou </a:t>
            </a:r>
            <a:r>
              <a:rPr lang="fr-FR" sz="2900" b="1" dirty="0" err="1"/>
              <a:t>echo</a:t>
            </a:r>
            <a:endParaRPr lang="fr-FR" sz="2900" b="1" dirty="0"/>
          </a:p>
          <a:p>
            <a:pPr marL="571500" indent="-571500">
              <a:lnSpc>
                <a:spcPct val="150000"/>
              </a:lnSpc>
              <a:buFont typeface="Wingdings" panose="05000000000000000000" pitchFamily="2" charset="2"/>
              <a:buChar char="v"/>
            </a:pPr>
            <a:r>
              <a:rPr lang="fr-FR" sz="2900" dirty="0"/>
              <a:t>une variable : </a:t>
            </a:r>
            <a:r>
              <a:rPr lang="fr-FR" sz="2900" b="1" dirty="0"/>
              <a:t>$var</a:t>
            </a:r>
          </a:p>
          <a:p>
            <a:pPr marL="571500" indent="-571500">
              <a:lnSpc>
                <a:spcPct val="150000"/>
              </a:lnSpc>
              <a:buFont typeface="Wingdings" panose="05000000000000000000" pitchFamily="2" charset="2"/>
              <a:buChar char="v"/>
            </a:pPr>
            <a:r>
              <a:rPr lang="fr-FR" sz="2900" dirty="0"/>
              <a:t>un commentaire : </a:t>
            </a:r>
            <a:r>
              <a:rPr lang="fr-FR" sz="2900" b="1" dirty="0"/>
              <a:t>#</a:t>
            </a:r>
            <a:r>
              <a:rPr lang="fr-FR" sz="2900" dirty="0"/>
              <a:t>ceci est un commentaire</a:t>
            </a:r>
          </a:p>
          <a:p>
            <a:pPr marL="571500" indent="-571500">
              <a:lnSpc>
                <a:spcPct val="150000"/>
              </a:lnSpc>
              <a:buFont typeface="Wingdings" panose="05000000000000000000" pitchFamily="2" charset="2"/>
              <a:buChar char="v"/>
            </a:pPr>
            <a:r>
              <a:rPr lang="fr-FR" sz="2900" dirty="0"/>
              <a:t>une fonction : définition d'un sous programme ou procédure</a:t>
            </a:r>
          </a:p>
          <a:p>
            <a:pPr marL="571500" indent="-571500">
              <a:lnSpc>
                <a:spcPct val="150000"/>
              </a:lnSpc>
              <a:buFont typeface="Wingdings" panose="05000000000000000000" pitchFamily="2" charset="2"/>
              <a:buChar char="v"/>
            </a:pPr>
            <a:r>
              <a:rPr lang="fr-FR" sz="2900" dirty="0"/>
              <a:t>une structure de contrôle : </a:t>
            </a:r>
            <a:r>
              <a:rPr lang="fr-FR" sz="2900" b="1" dirty="0"/>
              <a:t>if-</a:t>
            </a:r>
            <a:r>
              <a:rPr lang="fr-FR" sz="2900" b="1" dirty="0" err="1"/>
              <a:t>then</a:t>
            </a:r>
            <a:r>
              <a:rPr lang="fr-FR" sz="2900" b="1" dirty="0"/>
              <a:t>-</a:t>
            </a:r>
            <a:r>
              <a:rPr lang="fr-FR" sz="2900" b="1" dirty="0" err="1"/>
              <a:t>else</a:t>
            </a:r>
            <a:r>
              <a:rPr lang="fr-FR" sz="2900" dirty="0"/>
              <a:t>, </a:t>
            </a:r>
            <a:r>
              <a:rPr lang="fr-FR" sz="2900" b="1" dirty="0"/>
              <a:t>for</a:t>
            </a:r>
            <a:r>
              <a:rPr lang="fr-FR" sz="2900" dirty="0"/>
              <a:t> ou </a:t>
            </a:r>
            <a:r>
              <a:rPr lang="fr-FR" sz="2900" b="1" dirty="0" err="1"/>
              <a:t>while</a:t>
            </a:r>
            <a:endParaRPr lang="fr-FR" sz="2900" b="1" dirty="0"/>
          </a:p>
        </p:txBody>
      </p:sp>
    </p:spTree>
  </p:cSld>
  <p:clrMapOvr>
    <a:overrideClrMapping bg1="lt1" tx1="dk1" bg2="lt2" tx2="dk2" accent1="accent1" accent2="accent2" accent3="accent3" accent4="accent4" accent5="accent5" accent6="accent6" hlink="hlink" folHlink="folHlink"/>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6" name="Composants de l’OS"/>
          <p:cNvSpPr txBox="1">
            <a:spLocks noGrp="1"/>
          </p:cNvSpPr>
          <p:nvPr>
            <p:ph type="title"/>
          </p:nvPr>
        </p:nvSpPr>
        <p:spPr>
          <a:prstGeom prst="rect">
            <a:avLst/>
          </a:prstGeom>
        </p:spPr>
        <p:txBody>
          <a:bodyPr>
            <a:normAutofit/>
          </a:bodyPr>
          <a:lstStyle/>
          <a:p>
            <a:r>
              <a:rPr lang="fr-FR" cap="all" dirty="0"/>
              <a:t>syntaxe</a:t>
            </a:r>
            <a:endParaRPr dirty="0"/>
          </a:p>
        </p:txBody>
      </p:sp>
      <p:sp>
        <p:nvSpPr>
          <p:cNvPr id="4" name="Gestion des entrées/sorties : le système d'exploitation permet d'unifier et de contrôler l'accès des programmes aux ressources matérielles par l'intermédiaire des pilotes (appelés également gestionnaires de périphériques ou gestionnaires d’entrée/sortie)"/>
          <p:cNvSpPr txBox="1">
            <a:spLocks noGrp="1"/>
          </p:cNvSpPr>
          <p:nvPr>
            <p:ph type="body" idx="1"/>
          </p:nvPr>
        </p:nvSpPr>
        <p:spPr>
          <a:xfrm>
            <a:off x="508000" y="2408348"/>
            <a:ext cx="11988800" cy="4965877"/>
          </a:xfrm>
          <a:prstGeom prst="rect">
            <a:avLst/>
          </a:prstGeom>
        </p:spPr>
        <p:txBody>
          <a:bodyPr>
            <a:noAutofit/>
          </a:bodyPr>
          <a:lstStyle/>
          <a:p>
            <a:pPr marL="571500" indent="-571500" algn="just">
              <a:lnSpc>
                <a:spcPct val="150000"/>
              </a:lnSpc>
              <a:buFont typeface="Wingdings" panose="05000000000000000000" pitchFamily="2" charset="2"/>
              <a:buChar char="v"/>
            </a:pPr>
            <a:r>
              <a:rPr lang="fr-FR" sz="2900" b="1" dirty="0">
                <a:solidFill>
                  <a:srgbClr val="FF0000"/>
                </a:solidFill>
              </a:rPr>
              <a:t>#</a:t>
            </a:r>
            <a:r>
              <a:rPr lang="fr-FR" sz="2900" dirty="0"/>
              <a:t> est un commentaire, Ce qui suit ne sera pas exécuté. </a:t>
            </a:r>
            <a:r>
              <a:rPr lang="fr-FR" sz="2900" dirty="0" smtClean="0"/>
              <a:t>Par </a:t>
            </a:r>
            <a:r>
              <a:rPr lang="fr-FR" sz="2900" dirty="0"/>
              <a:t>contre, les # dans des chaînes de caractères ne sont pas des </a:t>
            </a:r>
            <a:r>
              <a:rPr lang="fr-FR" sz="2900" dirty="0" smtClean="0"/>
              <a:t>commentaires, il s'agit </a:t>
            </a:r>
            <a:r>
              <a:rPr lang="fr-FR" sz="2900" dirty="0"/>
              <a:t>de caractères interprétés par des commandes. </a:t>
            </a:r>
          </a:p>
          <a:p>
            <a:pPr marL="571500" indent="-571500" algn="just">
              <a:lnSpc>
                <a:spcPct val="150000"/>
              </a:lnSpc>
              <a:buFont typeface="Wingdings" panose="05000000000000000000" pitchFamily="2" charset="2"/>
              <a:buChar char="v"/>
            </a:pPr>
            <a:r>
              <a:rPr lang="fr-FR" sz="2900" b="1" dirty="0">
                <a:solidFill>
                  <a:srgbClr val="FF0000"/>
                </a:solidFill>
              </a:rPr>
              <a:t>;</a:t>
            </a:r>
            <a:r>
              <a:rPr lang="fr-FR" sz="2900" dirty="0"/>
              <a:t> est un séparateur de commandes, il permet de placer plusieurs commandes sur une seule ligne.</a:t>
            </a:r>
          </a:p>
        </p:txBody>
      </p:sp>
      <p:sp>
        <p:nvSpPr>
          <p:cNvPr id="5" name="Rectangle 4"/>
          <p:cNvSpPr>
            <a:spLocks noChangeArrowheads="1"/>
          </p:cNvSpPr>
          <p:nvPr/>
        </p:nvSpPr>
        <p:spPr bwMode="auto">
          <a:xfrm>
            <a:off x="645374" y="7763273"/>
            <a:ext cx="11714052" cy="307777"/>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sz="2000" b="0" i="0" u="none" strike="noStrike" cap="none" normalizeH="0" baseline="0" dirty="0" err="1" smtClean="0">
                <a:ln>
                  <a:noFill/>
                </a:ln>
                <a:solidFill>
                  <a:srgbClr val="000000"/>
                </a:solidFill>
                <a:effectLst/>
                <a:latin typeface="Courier New" panose="02070309020205020404" pitchFamily="49" charset="0"/>
                <a:cs typeface="Courier New" panose="02070309020205020404" pitchFamily="49" charset="0"/>
              </a:rPr>
              <a:t>echo</a:t>
            </a:r>
            <a:r>
              <a:rPr kumimoji="0" lang="fr-FR" sz="20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 "Le fichier $</a:t>
            </a:r>
            <a:r>
              <a:rPr kumimoji="0" lang="fr-FR" sz="2000" b="0" i="0" u="none" strike="noStrike" cap="none" normalizeH="0" baseline="0" dirty="0" err="1" smtClean="0">
                <a:ln>
                  <a:noFill/>
                </a:ln>
                <a:solidFill>
                  <a:srgbClr val="000000"/>
                </a:solidFill>
                <a:effectLst/>
                <a:latin typeface="Courier New" panose="02070309020205020404" pitchFamily="49" charset="0"/>
                <a:cs typeface="Courier New" panose="02070309020205020404" pitchFamily="49" charset="0"/>
              </a:rPr>
              <a:t>nomfichier</a:t>
            </a:r>
            <a:r>
              <a:rPr kumimoji="0" lang="fr-FR" sz="20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 existe"; </a:t>
            </a:r>
            <a:r>
              <a:rPr kumimoji="0" lang="fr-FR" sz="2000" b="0" i="0" u="none" strike="noStrike" cap="none" normalizeH="0" baseline="0" dirty="0" err="1" smtClean="0">
                <a:ln>
                  <a:noFill/>
                </a:ln>
                <a:solidFill>
                  <a:srgbClr val="000000"/>
                </a:solidFill>
                <a:effectLst/>
                <a:latin typeface="Courier New" panose="02070309020205020404" pitchFamily="49" charset="0"/>
                <a:cs typeface="Courier New" panose="02070309020205020404" pitchFamily="49" charset="0"/>
              </a:rPr>
              <a:t>cp</a:t>
            </a:r>
            <a:r>
              <a:rPr kumimoji="0" lang="fr-FR" sz="20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 $</a:t>
            </a:r>
            <a:r>
              <a:rPr kumimoji="0" lang="fr-FR" sz="2000" b="0" i="0" u="none" strike="noStrike" cap="none" normalizeH="0" baseline="0" dirty="0" err="1" smtClean="0">
                <a:ln>
                  <a:noFill/>
                </a:ln>
                <a:solidFill>
                  <a:srgbClr val="000000"/>
                </a:solidFill>
                <a:effectLst/>
                <a:latin typeface="Courier New" panose="02070309020205020404" pitchFamily="49" charset="0"/>
                <a:cs typeface="Courier New" panose="02070309020205020404" pitchFamily="49" charset="0"/>
              </a:rPr>
              <a:t>nomfichier</a:t>
            </a:r>
            <a:r>
              <a:rPr kumimoji="0" lang="fr-FR" sz="2000" b="0" i="0" u="none" strike="noStrike" cap="none" normalizeH="0" baseline="0" dirty="0" smtClean="0">
                <a:ln>
                  <a:noFill/>
                </a:ln>
                <a:solidFill>
                  <a:srgbClr val="000000"/>
                </a:solidFill>
                <a:effectLst/>
                <a:latin typeface="Courier New" panose="02070309020205020404" pitchFamily="49" charset="0"/>
                <a:cs typeface="Courier New" panose="02070309020205020404" pitchFamily="49" charset="0"/>
              </a:rPr>
              <a:t> $</a:t>
            </a:r>
            <a:r>
              <a:rPr kumimoji="0" lang="fr-FR" sz="2000" b="0" i="0" u="none" strike="noStrike" cap="none" normalizeH="0" baseline="0" dirty="0" err="1" smtClean="0">
                <a:ln>
                  <a:noFill/>
                </a:ln>
                <a:solidFill>
                  <a:srgbClr val="000000"/>
                </a:solidFill>
                <a:effectLst/>
                <a:latin typeface="Courier New" panose="02070309020205020404" pitchFamily="49" charset="0"/>
                <a:cs typeface="Courier New" panose="02070309020205020404" pitchFamily="49" charset="0"/>
              </a:rPr>
              <a:t>nomfichier.sauve</a:t>
            </a:r>
            <a:r>
              <a:rPr kumimoji="0" lang="fr-FR" sz="2000" b="0" i="0" u="none" strike="noStrike" cap="none" normalizeH="0" baseline="0" dirty="0" smtClean="0">
                <a:ln>
                  <a:noFill/>
                </a:ln>
                <a:solidFill>
                  <a:schemeClr val="tx1"/>
                </a:solidFill>
                <a:effectLst/>
              </a:rPr>
              <a:t> </a:t>
            </a:r>
            <a:endParaRPr kumimoji="0" lang="fr-FR" sz="20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 xmlns:p14="http://schemas.microsoft.com/office/powerpoint/2010/main" val="2929244201"/>
      </p:ext>
    </p:extLst>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6" name="Unix Vs Linux"/>
          <p:cNvSpPr txBox="1">
            <a:spLocks noGrp="1"/>
          </p:cNvSpPr>
          <p:nvPr>
            <p:ph type="title"/>
          </p:nvPr>
        </p:nvSpPr>
        <p:spPr>
          <a:prstGeom prst="rect">
            <a:avLst/>
          </a:prstGeom>
        </p:spPr>
        <p:txBody>
          <a:bodyPr>
            <a:noAutofit/>
          </a:bodyPr>
          <a:lstStyle/>
          <a:p>
            <a:r>
              <a:rPr lang="fr-FR" dirty="0" smtClean="0"/>
              <a:t>Déclaration </a:t>
            </a:r>
            <a:r>
              <a:rPr lang="fr-FR" dirty="0"/>
              <a:t>des </a:t>
            </a:r>
            <a:r>
              <a:rPr lang="fr-FR" dirty="0" smtClean="0"/>
              <a:t>variables</a:t>
            </a:r>
            <a:endParaRPr lang="fr-FR" cap="all" dirty="0"/>
          </a:p>
        </p:txBody>
      </p:sp>
      <p:sp>
        <p:nvSpPr>
          <p:cNvPr id="207" name="Richard Stallman, un chercheur en intelligence artificielle au MIT a lancé un projet GNU, l’idée est de créer un OS  open source, copie de UNIX.…"/>
          <p:cNvSpPr txBox="1">
            <a:spLocks noGrp="1"/>
          </p:cNvSpPr>
          <p:nvPr>
            <p:ph type="body" idx="1"/>
          </p:nvPr>
        </p:nvSpPr>
        <p:spPr>
          <a:xfrm>
            <a:off x="508000" y="2454171"/>
            <a:ext cx="11988800" cy="7194607"/>
          </a:xfrm>
          <a:prstGeom prst="rect">
            <a:avLst/>
          </a:prstGeom>
        </p:spPr>
        <p:txBody>
          <a:bodyPr anchor="t">
            <a:normAutofit/>
          </a:bodyPr>
          <a:lstStyle/>
          <a:p>
            <a:pPr>
              <a:buFont typeface="Wingdings" panose="05000000000000000000" pitchFamily="2" charset="2"/>
              <a:buChar char="v"/>
            </a:pPr>
            <a:r>
              <a:rPr lang="fr-FR" sz="2900" dirty="0"/>
              <a:t>création </a:t>
            </a:r>
            <a:r>
              <a:rPr lang="fr-FR" sz="2900" dirty="0" smtClean="0"/>
              <a:t>d’un </a:t>
            </a:r>
            <a:r>
              <a:rPr lang="fr-FR" sz="2900" dirty="0"/>
              <a:t>nouveau script variables.sh : </a:t>
            </a:r>
          </a:p>
          <a:p>
            <a:pPr marL="0" indent="0">
              <a:buNone/>
            </a:pPr>
            <a:endParaRPr lang="fr-FR" sz="2900" dirty="0"/>
          </a:p>
          <a:p>
            <a:pPr>
              <a:buFont typeface="Wingdings" panose="05000000000000000000" pitchFamily="2" charset="2"/>
              <a:buChar char="v"/>
            </a:pPr>
            <a:r>
              <a:rPr lang="fr-FR" sz="2900" dirty="0"/>
              <a:t>La première ligne scripts doit indiquer quel </a:t>
            </a:r>
            <a:r>
              <a:rPr lang="fr-FR" sz="2900" dirty="0" err="1"/>
              <a:t>shell</a:t>
            </a:r>
            <a:r>
              <a:rPr lang="fr-FR" sz="2900" dirty="0"/>
              <a:t> est utilisé .</a:t>
            </a:r>
          </a:p>
          <a:p>
            <a:pPr marL="0" indent="0">
              <a:buNone/>
            </a:pPr>
            <a:endParaRPr lang="fr-FR" sz="2900" dirty="0"/>
          </a:p>
          <a:p>
            <a:pPr>
              <a:buFont typeface="Wingdings" panose="05000000000000000000" pitchFamily="2" charset="2"/>
              <a:buChar char="v"/>
            </a:pPr>
            <a:r>
              <a:rPr lang="fr-FR" sz="2900" dirty="0"/>
              <a:t>définition  des variables. </a:t>
            </a:r>
          </a:p>
          <a:p>
            <a:pPr lvl="1">
              <a:buFont typeface="Wingdings" panose="05000000000000000000" pitchFamily="2" charset="2"/>
              <a:buChar char="Ø"/>
            </a:pPr>
            <a:r>
              <a:rPr lang="fr-FR" sz="2900" dirty="0"/>
              <a:t>Toute variable possède un nom et une valeur :</a:t>
            </a:r>
          </a:p>
          <a:p>
            <a:pPr marL="0" indent="0">
              <a:buNone/>
            </a:pPr>
            <a:endParaRPr lang="fr-FR" sz="2900" dirty="0"/>
          </a:p>
          <a:p>
            <a:pPr>
              <a:buFont typeface="Wingdings" panose="05000000000000000000" pitchFamily="2" charset="2"/>
              <a:buChar char="v"/>
            </a:pPr>
            <a:r>
              <a:rPr lang="fr-FR" sz="2900" dirty="0"/>
              <a:t>Exécution du script </a:t>
            </a:r>
          </a:p>
          <a:p>
            <a:pPr marL="0" lvl="0" indent="0" defTabSz="914400" eaLnBrk="0" fontAlgn="base" hangingPunct="0">
              <a:spcBef>
                <a:spcPct val="0"/>
              </a:spcBef>
              <a:spcAft>
                <a:spcPct val="0"/>
              </a:spcAft>
              <a:buClrTx/>
              <a:buSzTx/>
              <a:buNone/>
            </a:pPr>
            <a:endParaRPr lang="fr-FR" sz="2100" dirty="0" smtClean="0">
              <a:solidFill>
                <a:srgbClr val="333333"/>
              </a:solidFill>
              <a:latin typeface="Arial" panose="020B0604020202020204" pitchFamily="34" charset="0"/>
              <a:cs typeface="Arial" panose="020B0604020202020204" pitchFamily="34" charset="0"/>
            </a:endParaRPr>
          </a:p>
          <a:p>
            <a:pPr marL="0" lvl="0" indent="0" defTabSz="914400" eaLnBrk="0" fontAlgn="base" hangingPunct="0">
              <a:spcBef>
                <a:spcPct val="0"/>
              </a:spcBef>
              <a:spcAft>
                <a:spcPct val="0"/>
              </a:spcAft>
              <a:buClrTx/>
              <a:buSzTx/>
              <a:buNone/>
            </a:pPr>
            <a:endParaRPr lang="fr-FR" sz="2100" dirty="0">
              <a:solidFill>
                <a:srgbClr val="333333"/>
              </a:solidFill>
              <a:latin typeface="Arial" panose="020B0604020202020204" pitchFamily="34" charset="0"/>
              <a:cs typeface="Arial" panose="020B0604020202020204" pitchFamily="34" charset="0"/>
            </a:endParaRPr>
          </a:p>
        </p:txBody>
      </p:sp>
      <p:sp>
        <p:nvSpPr>
          <p:cNvPr id="7" name="Rectangle 6"/>
          <p:cNvSpPr>
            <a:spLocks noChangeArrowheads="1"/>
          </p:cNvSpPr>
          <p:nvPr/>
        </p:nvSpPr>
        <p:spPr bwMode="auto">
          <a:xfrm>
            <a:off x="3851141" y="3235975"/>
            <a:ext cx="3445814" cy="307777"/>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defTabSz="914400" eaLnBrk="0" fontAlgn="base">
              <a:spcBef>
                <a:spcPct val="0"/>
              </a:spcBef>
              <a:spcAft>
                <a:spcPct val="0"/>
              </a:spcAft>
            </a:pPr>
            <a:r>
              <a:rPr lang="fr-FR" sz="2000" dirty="0">
                <a:solidFill>
                  <a:schemeClr val="bg1"/>
                </a:solidFill>
                <a:latin typeface="Courier New" panose="02070309020205020404" pitchFamily="49" charset="0"/>
                <a:cs typeface="Courier New" panose="02070309020205020404" pitchFamily="49" charset="0"/>
              </a:rPr>
              <a:t>$ </a:t>
            </a:r>
            <a:r>
              <a:rPr lang="fr-FR" sz="2000" dirty="0" smtClean="0">
                <a:solidFill>
                  <a:schemeClr val="bg1"/>
                </a:solidFill>
                <a:latin typeface="Courier New" panose="02070309020205020404" pitchFamily="49" charset="0"/>
                <a:cs typeface="Courier New" panose="02070309020205020404" pitchFamily="49" charset="0"/>
              </a:rPr>
              <a:t>vi</a:t>
            </a:r>
            <a:r>
              <a:rPr lang="fr-FR" sz="2000" dirty="0">
                <a:solidFill>
                  <a:schemeClr val="bg1"/>
                </a:solidFill>
                <a:latin typeface="Courier New" panose="02070309020205020404" pitchFamily="49" charset="0"/>
                <a:cs typeface="Courier New" panose="02070309020205020404" pitchFamily="49" charset="0"/>
              </a:rPr>
              <a:t> </a:t>
            </a:r>
            <a:r>
              <a:rPr lang="fr-FR" sz="2000" dirty="0" smtClean="0">
                <a:solidFill>
                  <a:schemeClr val="bg1"/>
                </a:solidFill>
                <a:latin typeface="Courier New" panose="02070309020205020404" pitchFamily="49" charset="0"/>
                <a:cs typeface="Courier New" panose="02070309020205020404" pitchFamily="49" charset="0"/>
              </a:rPr>
              <a:t>variables.sh</a:t>
            </a:r>
            <a:endParaRPr lang="fr-FR" sz="3200" dirty="0">
              <a:solidFill>
                <a:schemeClr val="bg1"/>
              </a:solidFill>
              <a:latin typeface="Arial" panose="020B0604020202020204" pitchFamily="34" charset="0"/>
            </a:endParaRPr>
          </a:p>
        </p:txBody>
      </p:sp>
      <p:sp>
        <p:nvSpPr>
          <p:cNvPr id="4" name="Rectangle 3"/>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9"/>
          <p:cNvSpPr>
            <a:spLocks noChangeArrowheads="1"/>
          </p:cNvSpPr>
          <p:nvPr/>
        </p:nvSpPr>
        <p:spPr bwMode="auto">
          <a:xfrm>
            <a:off x="3851141" y="4721395"/>
            <a:ext cx="3445814" cy="307777"/>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defTabSz="914400" eaLnBrk="0" fontAlgn="base">
              <a:spcBef>
                <a:spcPct val="0"/>
              </a:spcBef>
              <a:spcAft>
                <a:spcPct val="0"/>
              </a:spcAft>
            </a:pPr>
            <a:r>
              <a:rPr lang="fr-FR" sz="2000" dirty="0">
                <a:solidFill>
                  <a:schemeClr val="bg1"/>
                </a:solidFill>
                <a:latin typeface="Courier New" panose="02070309020205020404" pitchFamily="49" charset="0"/>
                <a:cs typeface="Courier New" panose="02070309020205020404" pitchFamily="49" charset="0"/>
              </a:rPr>
              <a:t>#!/bin/</a:t>
            </a:r>
            <a:r>
              <a:rPr lang="fr-FR" sz="2000" dirty="0" err="1">
                <a:solidFill>
                  <a:schemeClr val="bg1"/>
                </a:solidFill>
                <a:latin typeface="Courier New" panose="02070309020205020404" pitchFamily="49" charset="0"/>
                <a:cs typeface="Courier New" panose="02070309020205020404" pitchFamily="49" charset="0"/>
              </a:rPr>
              <a:t>bash</a:t>
            </a:r>
            <a:endParaRPr lang="fr-FR" sz="3200" dirty="0">
              <a:solidFill>
                <a:schemeClr val="bg1"/>
              </a:solidFill>
              <a:latin typeface="Arial" panose="020B0604020202020204" pitchFamily="34" charset="0"/>
            </a:endParaRPr>
          </a:p>
        </p:txBody>
      </p:sp>
      <p:sp>
        <p:nvSpPr>
          <p:cNvPr id="14" name="Rectangle 13"/>
          <p:cNvSpPr>
            <a:spLocks noChangeArrowheads="1"/>
          </p:cNvSpPr>
          <p:nvPr/>
        </p:nvSpPr>
        <p:spPr bwMode="auto">
          <a:xfrm>
            <a:off x="3851141" y="6916341"/>
            <a:ext cx="4610279" cy="615553"/>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defTabSz="914400" eaLnBrk="0" fontAlgn="base">
              <a:spcBef>
                <a:spcPct val="0"/>
              </a:spcBef>
              <a:spcAft>
                <a:spcPct val="0"/>
              </a:spcAft>
            </a:pPr>
            <a:r>
              <a:rPr lang="fr-FR" sz="2000" dirty="0">
                <a:solidFill>
                  <a:schemeClr val="bg1"/>
                </a:solidFill>
                <a:latin typeface="Courier New" panose="02070309020205020404" pitchFamily="49" charset="0"/>
                <a:cs typeface="Courier New" panose="02070309020205020404" pitchFamily="49" charset="0"/>
              </a:rPr>
              <a:t>#!/bin/</a:t>
            </a:r>
            <a:r>
              <a:rPr lang="fr-FR" sz="2000" dirty="0" err="1">
                <a:solidFill>
                  <a:schemeClr val="bg1"/>
                </a:solidFill>
                <a:latin typeface="Courier New" panose="02070309020205020404" pitchFamily="49" charset="0"/>
                <a:cs typeface="Courier New" panose="02070309020205020404" pitchFamily="49" charset="0"/>
              </a:rPr>
              <a:t>bash</a:t>
            </a:r>
            <a:r>
              <a:rPr lang="fr-FR" sz="2000" dirty="0">
                <a:solidFill>
                  <a:schemeClr val="bg1"/>
                </a:solidFill>
                <a:latin typeface="Courier New" panose="02070309020205020404" pitchFamily="49" charset="0"/>
                <a:cs typeface="Courier New" panose="02070309020205020404" pitchFamily="49" charset="0"/>
              </a:rPr>
              <a:t> </a:t>
            </a:r>
            <a:r>
              <a:rPr lang="fr-FR" sz="2000" dirty="0" smtClean="0">
                <a:solidFill>
                  <a:schemeClr val="bg1"/>
                </a:solidFill>
                <a:latin typeface="Courier New" panose="02070309020205020404" pitchFamily="49" charset="0"/>
                <a:cs typeface="Courier New" panose="02070309020205020404" pitchFamily="49" charset="0"/>
              </a:rPr>
              <a:t>message</a:t>
            </a:r>
            <a:r>
              <a:rPr lang="fr-FR" sz="2000" dirty="0">
                <a:solidFill>
                  <a:schemeClr val="bg1"/>
                </a:solidFill>
                <a:latin typeface="Courier New" panose="02070309020205020404" pitchFamily="49" charset="0"/>
                <a:cs typeface="Courier New" panose="02070309020205020404" pitchFamily="49" charset="0"/>
              </a:rPr>
              <a:t>='Bonjour  ESPRIT </a:t>
            </a:r>
            <a:r>
              <a:rPr lang="fr-FR" sz="2000" dirty="0" smtClean="0">
                <a:solidFill>
                  <a:schemeClr val="bg1"/>
                </a:solidFill>
                <a:latin typeface="Courier New" panose="02070309020205020404" pitchFamily="49" charset="0"/>
                <a:cs typeface="Courier New" panose="02070309020205020404" pitchFamily="49" charset="0"/>
              </a:rPr>
              <a:t>'</a:t>
            </a:r>
            <a:endParaRPr lang="fr-FR" sz="2000" dirty="0">
              <a:solidFill>
                <a:schemeClr val="bg1"/>
              </a:solidFill>
              <a:latin typeface="Courier New" panose="02070309020205020404" pitchFamily="49" charset="0"/>
              <a:cs typeface="Courier New" panose="02070309020205020404" pitchFamily="49" charset="0"/>
            </a:endParaRPr>
          </a:p>
        </p:txBody>
      </p:sp>
      <p:sp>
        <p:nvSpPr>
          <p:cNvPr id="15" name="Rectangle 14"/>
          <p:cNvSpPr>
            <a:spLocks noChangeArrowheads="1"/>
          </p:cNvSpPr>
          <p:nvPr/>
        </p:nvSpPr>
        <p:spPr bwMode="auto">
          <a:xfrm>
            <a:off x="3851141" y="8709538"/>
            <a:ext cx="3445814" cy="307777"/>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defTabSz="914400" eaLnBrk="0" fontAlgn="base">
              <a:spcBef>
                <a:spcPct val="0"/>
              </a:spcBef>
              <a:spcAft>
                <a:spcPct val="0"/>
              </a:spcAft>
            </a:pPr>
            <a:r>
              <a:rPr lang="fr-FR" sz="2000" dirty="0">
                <a:solidFill>
                  <a:schemeClr val="bg1"/>
                </a:solidFill>
                <a:latin typeface="Courier New" panose="02070309020205020404" pitchFamily="49" charset="0"/>
                <a:cs typeface="Courier New" panose="02070309020205020404" pitchFamily="49" charset="0"/>
              </a:rPr>
              <a:t>$ ./variables.sh</a:t>
            </a:r>
          </a:p>
        </p:txBody>
      </p:sp>
    </p:spTree>
    <p:extLst>
      <p:ext uri="{BB962C8B-B14F-4D97-AF65-F5344CB8AC3E}">
        <p14:creationId xmlns="" xmlns:p14="http://schemas.microsoft.com/office/powerpoint/2010/main" val="1787124487"/>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b="1" dirty="0" err="1"/>
              <a:t>echo</a:t>
            </a:r>
            <a:r>
              <a:rPr lang="fr-FR" b="1" dirty="0"/>
              <a:t> : </a:t>
            </a:r>
            <a:r>
              <a:rPr lang="fr-FR" b="1" dirty="0" smtClean="0"/>
              <a:t>affichage des variables</a:t>
            </a:r>
            <a:endParaRPr lang="fr-FR" dirty="0"/>
          </a:p>
        </p:txBody>
      </p:sp>
      <p:sp>
        <p:nvSpPr>
          <p:cNvPr id="4" name="Rectangle 1"/>
          <p:cNvSpPr>
            <a:spLocks noGrp="1" noChangeArrowheads="1"/>
          </p:cNvSpPr>
          <p:nvPr>
            <p:ph type="body" idx="1"/>
          </p:nvPr>
        </p:nvSpPr>
        <p:spPr bwMode="auto">
          <a:xfrm>
            <a:off x="586881" y="2201005"/>
            <a:ext cx="12240477" cy="5732338"/>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fr-FR" sz="2900" dirty="0"/>
              <a:t>La commande </a:t>
            </a:r>
            <a:r>
              <a:rPr lang="fr-FR" sz="2900" dirty="0" err="1"/>
              <a:t>echo</a:t>
            </a:r>
            <a:r>
              <a:rPr lang="fr-FR" sz="2900" dirty="0"/>
              <a:t> permet d'afficher une ligne.</a:t>
            </a:r>
          </a:p>
          <a:p>
            <a:endParaRPr lang="fr-FR" sz="2900" dirty="0" smtClean="0"/>
          </a:p>
          <a:p>
            <a:endParaRPr lang="fr-FR" sz="2900" dirty="0"/>
          </a:p>
          <a:p>
            <a:pPr lvl="1">
              <a:buFont typeface="Wingdings" panose="05000000000000000000" pitchFamily="2" charset="2"/>
              <a:buChar char="Ø"/>
            </a:pPr>
            <a:r>
              <a:rPr lang="fr-FR" sz="2900" dirty="0" smtClean="0"/>
              <a:t>lors </a:t>
            </a:r>
            <a:r>
              <a:rPr lang="fr-FR" sz="2900" dirty="0"/>
              <a:t>de insertion des retours à la ligne, il faudra activer le paramètre –e et utiliser le symbole \n :</a:t>
            </a:r>
          </a:p>
          <a:p>
            <a:pPr marL="0" indent="0">
              <a:buNone/>
            </a:pPr>
            <a:endParaRPr lang="fr-FR" sz="2900" dirty="0" smtClean="0"/>
          </a:p>
          <a:p>
            <a:pPr marL="0" indent="0">
              <a:buNone/>
            </a:pPr>
            <a:endParaRPr lang="fr-FR" sz="2900" dirty="0"/>
          </a:p>
          <a:p>
            <a:pPr>
              <a:lnSpc>
                <a:spcPct val="150000"/>
              </a:lnSpc>
            </a:pPr>
            <a:r>
              <a:rPr lang="fr-FR" sz="2900" dirty="0"/>
              <a:t>Afficher une variable</a:t>
            </a:r>
          </a:p>
        </p:txBody>
      </p:sp>
      <p:sp>
        <p:nvSpPr>
          <p:cNvPr id="7" name="Rectangle 2"/>
          <p:cNvSpPr>
            <a:spLocks noChangeArrowheads="1"/>
          </p:cNvSpPr>
          <p:nvPr/>
        </p:nvSpPr>
        <p:spPr bwMode="auto">
          <a:xfrm>
            <a:off x="0" y="-138499"/>
            <a:ext cx="54550" cy="276999"/>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26979" tIns="0" rIns="26979" bIns="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7"/>
          <p:cNvSpPr>
            <a:spLocks noChangeArrowheads="1"/>
          </p:cNvSpPr>
          <p:nvPr/>
        </p:nvSpPr>
        <p:spPr bwMode="auto">
          <a:xfrm>
            <a:off x="3545801" y="3346528"/>
            <a:ext cx="4687552" cy="615553"/>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algn="l"/>
            <a:r>
              <a:rPr lang="fr-FR" sz="2000" dirty="0">
                <a:solidFill>
                  <a:schemeClr val="bg1"/>
                </a:solidFill>
                <a:latin typeface="Courier New" panose="02070309020205020404" pitchFamily="49" charset="0"/>
                <a:cs typeface="Courier New" panose="02070309020205020404" pitchFamily="49" charset="0"/>
              </a:rPr>
              <a:t>$ </a:t>
            </a:r>
            <a:r>
              <a:rPr lang="fr-FR" sz="2000" dirty="0" err="1">
                <a:solidFill>
                  <a:schemeClr val="bg1"/>
                </a:solidFill>
                <a:latin typeface="Courier New" panose="02070309020205020404" pitchFamily="49" charset="0"/>
                <a:cs typeface="Courier New" panose="02070309020205020404" pitchFamily="49" charset="0"/>
              </a:rPr>
              <a:t>echo</a:t>
            </a:r>
            <a:r>
              <a:rPr lang="fr-FR" sz="2000" dirty="0">
                <a:solidFill>
                  <a:schemeClr val="bg1"/>
                </a:solidFill>
                <a:latin typeface="Courier New" panose="02070309020205020404" pitchFamily="49" charset="0"/>
                <a:cs typeface="Courier New" panose="02070309020205020404" pitchFamily="49" charset="0"/>
              </a:rPr>
              <a:t> </a:t>
            </a:r>
            <a:r>
              <a:rPr lang="fr-FR" sz="2000" dirty="0" smtClean="0">
                <a:solidFill>
                  <a:schemeClr val="bg1"/>
                </a:solidFill>
                <a:latin typeface="Courier New" panose="02070309020205020404" pitchFamily="49" charset="0"/>
                <a:cs typeface="Courier New" panose="02070309020205020404" pitchFamily="49" charset="0"/>
              </a:rPr>
              <a:t>Salut ESPRIT Salut</a:t>
            </a:r>
            <a:r>
              <a:rPr lang="fr-FR" sz="2000" dirty="0">
                <a:solidFill>
                  <a:schemeClr val="bg1"/>
                </a:solidFill>
                <a:latin typeface="Courier New" panose="02070309020205020404" pitchFamily="49" charset="0"/>
                <a:cs typeface="Courier New" panose="02070309020205020404" pitchFamily="49" charset="0"/>
              </a:rPr>
              <a:t> </a:t>
            </a:r>
            <a:r>
              <a:rPr lang="fr-FR" sz="2000" dirty="0" smtClean="0">
                <a:solidFill>
                  <a:schemeClr val="bg1"/>
                </a:solidFill>
                <a:latin typeface="Courier New" panose="02070309020205020404" pitchFamily="49" charset="0"/>
                <a:cs typeface="Courier New" panose="02070309020205020404" pitchFamily="49" charset="0"/>
              </a:rPr>
              <a:t>ESPRIT</a:t>
            </a:r>
            <a:endParaRPr lang="fr-FR" sz="2000" dirty="0">
              <a:solidFill>
                <a:schemeClr val="tx1"/>
              </a:solidFill>
              <a:latin typeface="Arial" panose="020B0604020202020204" pitchFamily="34" charset="0"/>
            </a:endParaRPr>
          </a:p>
        </p:txBody>
      </p:sp>
      <p:sp>
        <p:nvSpPr>
          <p:cNvPr id="11" name="Rectangle 10"/>
          <p:cNvSpPr>
            <a:spLocks noChangeArrowheads="1"/>
          </p:cNvSpPr>
          <p:nvPr/>
        </p:nvSpPr>
        <p:spPr bwMode="auto">
          <a:xfrm>
            <a:off x="3545801" y="5959316"/>
            <a:ext cx="5655615" cy="923330"/>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algn="l"/>
            <a:r>
              <a:rPr lang="fr-FR" sz="2000" dirty="0">
                <a:solidFill>
                  <a:schemeClr val="bg1"/>
                </a:solidFill>
                <a:latin typeface="Courier New" panose="02070309020205020404" pitchFamily="49" charset="0"/>
              </a:rPr>
              <a:t>$ </a:t>
            </a:r>
            <a:r>
              <a:rPr lang="fr-FR" sz="2000" dirty="0" err="1">
                <a:solidFill>
                  <a:schemeClr val="bg1"/>
                </a:solidFill>
                <a:latin typeface="Courier New" panose="02070309020205020404" pitchFamily="49" charset="0"/>
              </a:rPr>
              <a:t>echo</a:t>
            </a:r>
            <a:r>
              <a:rPr lang="fr-FR" sz="2000" dirty="0">
                <a:solidFill>
                  <a:schemeClr val="bg1"/>
                </a:solidFill>
                <a:latin typeface="Courier New" panose="02070309020205020404" pitchFamily="49" charset="0"/>
              </a:rPr>
              <a:t> -e "Message\</a:t>
            </a:r>
            <a:r>
              <a:rPr lang="fr-FR" sz="2000" dirty="0" err="1">
                <a:solidFill>
                  <a:schemeClr val="bg1"/>
                </a:solidFill>
                <a:latin typeface="Courier New" panose="02070309020205020404" pitchFamily="49" charset="0"/>
              </a:rPr>
              <a:t>nAutre</a:t>
            </a:r>
            <a:r>
              <a:rPr lang="fr-FR" sz="2000" dirty="0">
                <a:solidFill>
                  <a:schemeClr val="bg1"/>
                </a:solidFill>
                <a:latin typeface="Courier New" panose="02070309020205020404" pitchFamily="49" charset="0"/>
              </a:rPr>
              <a:t> ligne" </a:t>
            </a:r>
            <a:r>
              <a:rPr lang="fr-FR" sz="2000" dirty="0" smtClean="0">
                <a:solidFill>
                  <a:schemeClr val="bg1"/>
                </a:solidFill>
                <a:latin typeface="Courier New" panose="02070309020205020404" pitchFamily="49" charset="0"/>
              </a:rPr>
              <a:t>Message</a:t>
            </a:r>
          </a:p>
          <a:p>
            <a:pPr algn="l"/>
            <a:r>
              <a:rPr lang="fr-FR" sz="2000" dirty="0" smtClean="0">
                <a:solidFill>
                  <a:schemeClr val="bg1"/>
                </a:solidFill>
                <a:latin typeface="Courier New" panose="02070309020205020404" pitchFamily="49" charset="0"/>
              </a:rPr>
              <a:t>Autre</a:t>
            </a:r>
            <a:r>
              <a:rPr lang="fr-FR" sz="2000" dirty="0">
                <a:solidFill>
                  <a:schemeClr val="bg1"/>
                </a:solidFill>
                <a:latin typeface="Courier New" panose="02070309020205020404" pitchFamily="49" charset="0"/>
              </a:rPr>
              <a:t> ligne</a:t>
            </a:r>
            <a:endParaRPr lang="fr-FR" sz="2000" dirty="0">
              <a:solidFill>
                <a:schemeClr val="bg1"/>
              </a:solidFill>
            </a:endParaRPr>
          </a:p>
        </p:txBody>
      </p:sp>
      <p:sp>
        <p:nvSpPr>
          <p:cNvPr id="13" name="Rectangle 12"/>
          <p:cNvSpPr>
            <a:spLocks noChangeArrowheads="1"/>
          </p:cNvSpPr>
          <p:nvPr/>
        </p:nvSpPr>
        <p:spPr bwMode="auto">
          <a:xfrm>
            <a:off x="3545801" y="8215912"/>
            <a:ext cx="5655615" cy="938719"/>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defTabSz="914400" eaLnBrk="0" fontAlgn="base">
              <a:spcBef>
                <a:spcPct val="0"/>
              </a:spcBef>
              <a:spcAft>
                <a:spcPct val="0"/>
              </a:spcAft>
            </a:pPr>
            <a:r>
              <a:rPr lang="fr-FR" sz="2000" dirty="0">
                <a:solidFill>
                  <a:schemeClr val="bg1"/>
                </a:solidFill>
                <a:latin typeface="Courier New" panose="02070309020205020404" pitchFamily="49" charset="0"/>
              </a:rPr>
              <a:t>#!/bin/</a:t>
            </a:r>
            <a:r>
              <a:rPr lang="fr-FR" sz="2000" dirty="0" err="1">
                <a:solidFill>
                  <a:schemeClr val="bg1"/>
                </a:solidFill>
                <a:latin typeface="Courier New" panose="02070309020205020404" pitchFamily="49" charset="0"/>
              </a:rPr>
              <a:t>bash</a:t>
            </a:r>
            <a:r>
              <a:rPr lang="fr-FR" sz="2000" dirty="0">
                <a:solidFill>
                  <a:schemeClr val="bg1"/>
                </a:solidFill>
                <a:latin typeface="Courier New" panose="02070309020205020404" pitchFamily="49" charset="0"/>
              </a:rPr>
              <a:t> message='Bonjour </a:t>
            </a:r>
            <a:r>
              <a:rPr lang="fr-FR" sz="2000" dirty="0">
                <a:solidFill>
                  <a:schemeClr val="bg1"/>
                </a:solidFill>
                <a:latin typeface="Courier New" panose="02070309020205020404" pitchFamily="49" charset="0"/>
                <a:cs typeface="Courier New" panose="02070309020205020404" pitchFamily="49" charset="0"/>
              </a:rPr>
              <a:t> </a:t>
            </a:r>
            <a:r>
              <a:rPr lang="fr-FR" sz="2000" dirty="0" smtClean="0">
                <a:solidFill>
                  <a:schemeClr val="bg1"/>
                </a:solidFill>
                <a:latin typeface="Courier New" panose="02070309020205020404" pitchFamily="49" charset="0"/>
                <a:cs typeface="Courier New" panose="02070309020205020404" pitchFamily="49" charset="0"/>
              </a:rPr>
              <a:t>ESPRIT</a:t>
            </a:r>
            <a:r>
              <a:rPr lang="fr-FR" sz="2000" dirty="0" smtClean="0">
                <a:solidFill>
                  <a:schemeClr val="bg1"/>
                </a:solidFill>
                <a:latin typeface="Courier New" panose="02070309020205020404" pitchFamily="49" charset="0"/>
              </a:rPr>
              <a:t>' </a:t>
            </a:r>
            <a:r>
              <a:rPr lang="fr-FR" sz="2000" dirty="0" err="1">
                <a:solidFill>
                  <a:schemeClr val="bg1"/>
                </a:solidFill>
                <a:latin typeface="Courier New" panose="02070309020205020404" pitchFamily="49" charset="0"/>
              </a:rPr>
              <a:t>echo</a:t>
            </a:r>
            <a:r>
              <a:rPr lang="fr-FR" sz="2000" dirty="0">
                <a:solidFill>
                  <a:schemeClr val="bg1"/>
                </a:solidFill>
                <a:latin typeface="Courier New" panose="02070309020205020404" pitchFamily="49" charset="0"/>
              </a:rPr>
              <a:t> $message </a:t>
            </a:r>
          </a:p>
        </p:txBody>
      </p:sp>
    </p:spTree>
    <p:extLst>
      <p:ext uri="{BB962C8B-B14F-4D97-AF65-F5344CB8AC3E}">
        <p14:creationId xmlns="" xmlns:p14="http://schemas.microsoft.com/office/powerpoint/2010/main" val="1709427273"/>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b="1" dirty="0" err="1"/>
              <a:t>echo</a:t>
            </a:r>
            <a:r>
              <a:rPr lang="fr-FR" b="1" dirty="0"/>
              <a:t> : affichage des variables</a:t>
            </a:r>
            <a:endParaRPr lang="fr-FR" dirty="0"/>
          </a:p>
        </p:txBody>
      </p:sp>
      <p:sp>
        <p:nvSpPr>
          <p:cNvPr id="4" name="Rectangle 1"/>
          <p:cNvSpPr>
            <a:spLocks noGrp="1" noChangeArrowheads="1"/>
          </p:cNvSpPr>
          <p:nvPr>
            <p:ph type="body" idx="1"/>
          </p:nvPr>
        </p:nvSpPr>
        <p:spPr bwMode="auto">
          <a:xfrm>
            <a:off x="608894" y="2388464"/>
            <a:ext cx="11787012" cy="7155805"/>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defTabSz="914400" eaLnBrk="0" fontAlgn="base" hangingPunct="0">
              <a:lnSpc>
                <a:spcPct val="150000"/>
              </a:lnSpc>
              <a:spcBef>
                <a:spcPct val="0"/>
              </a:spcBef>
              <a:spcAft>
                <a:spcPct val="0"/>
              </a:spcAft>
              <a:buClrTx/>
              <a:buSzTx/>
              <a:buFont typeface="Wingdings" panose="05000000000000000000" pitchFamily="2" charset="2"/>
              <a:buChar char="v"/>
            </a:pPr>
            <a:r>
              <a:rPr lang="fr-FR" sz="2900" dirty="0"/>
              <a:t>Affichage du texte et  variable. </a:t>
            </a:r>
          </a:p>
          <a:p>
            <a:pPr marL="0" lvl="0" indent="0" defTabSz="914400" eaLnBrk="0" fontAlgn="base" hangingPunct="0">
              <a:lnSpc>
                <a:spcPct val="150000"/>
              </a:lnSpc>
              <a:spcBef>
                <a:spcPct val="0"/>
              </a:spcBef>
              <a:spcAft>
                <a:spcPct val="0"/>
              </a:spcAft>
              <a:buClrTx/>
              <a:buSzTx/>
              <a:buNone/>
            </a:pPr>
            <a:endParaRPr lang="fr-FR" sz="2900" dirty="0"/>
          </a:p>
          <a:p>
            <a:pPr marL="0" lvl="0" indent="0" defTabSz="914400" eaLnBrk="0" fontAlgn="base" hangingPunct="0">
              <a:lnSpc>
                <a:spcPct val="150000"/>
              </a:lnSpc>
              <a:spcBef>
                <a:spcPct val="0"/>
              </a:spcBef>
              <a:spcAft>
                <a:spcPct val="0"/>
              </a:spcAft>
              <a:buClrTx/>
              <a:buSzTx/>
              <a:buNone/>
            </a:pPr>
            <a:endParaRPr lang="fr-FR" sz="2900" dirty="0"/>
          </a:p>
          <a:p>
            <a:pPr marL="0" lvl="0" indent="0" defTabSz="914400" eaLnBrk="0" fontAlgn="base" hangingPunct="0">
              <a:lnSpc>
                <a:spcPct val="150000"/>
              </a:lnSpc>
              <a:spcBef>
                <a:spcPct val="0"/>
              </a:spcBef>
              <a:spcAft>
                <a:spcPct val="0"/>
              </a:spcAft>
              <a:buClrTx/>
              <a:buSzTx/>
              <a:buNone/>
            </a:pPr>
            <a:r>
              <a:rPr lang="fr-FR" sz="2900" dirty="0"/>
              <a:t>Le problème est que cela ne fonctionne pas car cela affiche :</a:t>
            </a:r>
          </a:p>
          <a:p>
            <a:pPr marL="0" lvl="0" indent="0" defTabSz="914400" eaLnBrk="0" fontAlgn="base" hangingPunct="0">
              <a:lnSpc>
                <a:spcPct val="150000"/>
              </a:lnSpc>
              <a:spcBef>
                <a:spcPct val="0"/>
              </a:spcBef>
              <a:spcAft>
                <a:spcPct val="0"/>
              </a:spcAft>
              <a:buClrTx/>
              <a:buSzTx/>
              <a:buNone/>
            </a:pPr>
            <a:endParaRPr lang="fr-FR" sz="2900" dirty="0"/>
          </a:p>
          <a:p>
            <a:pPr lvl="0" defTabSz="914400" eaLnBrk="0" fontAlgn="base" hangingPunct="0">
              <a:lnSpc>
                <a:spcPct val="150000"/>
              </a:lnSpc>
              <a:spcBef>
                <a:spcPct val="0"/>
              </a:spcBef>
              <a:spcAft>
                <a:spcPct val="0"/>
              </a:spcAft>
              <a:buClrTx/>
              <a:buSzTx/>
              <a:buFont typeface="Wingdings" panose="05000000000000000000" pitchFamily="2" charset="2"/>
              <a:buChar char="v"/>
            </a:pPr>
            <a:r>
              <a:rPr lang="fr-FR" sz="2900" dirty="0"/>
              <a:t>La compréhension des </a:t>
            </a:r>
            <a:r>
              <a:rPr lang="fr-FR" sz="2900" dirty="0" err="1"/>
              <a:t>quotes</a:t>
            </a:r>
            <a:endParaRPr lang="fr-FR" sz="2900" dirty="0"/>
          </a:p>
          <a:p>
            <a:pPr lvl="1" defTabSz="914400" eaLnBrk="0" fontAlgn="base" hangingPunct="0">
              <a:lnSpc>
                <a:spcPct val="150000"/>
              </a:lnSpc>
              <a:spcBef>
                <a:spcPct val="0"/>
              </a:spcBef>
              <a:spcAft>
                <a:spcPct val="0"/>
              </a:spcAft>
              <a:buClrTx/>
              <a:buSzTx/>
              <a:buFont typeface="Wingdings" panose="05000000000000000000" pitchFamily="2" charset="2"/>
              <a:buChar char="Ø"/>
            </a:pPr>
            <a:r>
              <a:rPr lang="fr-FR" sz="2900" dirty="0"/>
              <a:t>Il existe trois types de </a:t>
            </a:r>
            <a:r>
              <a:rPr lang="fr-FR" sz="2900" dirty="0" err="1"/>
              <a:t>quotes</a:t>
            </a:r>
            <a:r>
              <a:rPr lang="fr-FR" sz="2900" dirty="0"/>
              <a:t> :</a:t>
            </a:r>
          </a:p>
          <a:p>
            <a:pPr marL="939800" lvl="2" indent="0" defTabSz="914400" eaLnBrk="0" fontAlgn="base" hangingPunct="0">
              <a:lnSpc>
                <a:spcPct val="150000"/>
              </a:lnSpc>
              <a:spcBef>
                <a:spcPct val="0"/>
              </a:spcBef>
              <a:spcAft>
                <a:spcPct val="0"/>
              </a:spcAft>
              <a:buClrTx/>
              <a:buSzTx/>
              <a:buFontTx/>
              <a:buChar char="•"/>
            </a:pPr>
            <a:r>
              <a:rPr lang="fr-FR" sz="2900" dirty="0"/>
              <a:t>les apostrophes ' ' (simples </a:t>
            </a:r>
            <a:r>
              <a:rPr lang="fr-FR" sz="2900" dirty="0" err="1"/>
              <a:t>quotes</a:t>
            </a:r>
            <a:r>
              <a:rPr lang="fr-FR" sz="2900" dirty="0"/>
              <a:t>) </a:t>
            </a:r>
          </a:p>
          <a:p>
            <a:pPr marL="939800" lvl="2" indent="0" defTabSz="914400" eaLnBrk="0" fontAlgn="base" hangingPunct="0">
              <a:lnSpc>
                <a:spcPct val="150000"/>
              </a:lnSpc>
              <a:spcBef>
                <a:spcPct val="0"/>
              </a:spcBef>
              <a:spcAft>
                <a:spcPct val="0"/>
              </a:spcAft>
              <a:buClrTx/>
              <a:buSzTx/>
              <a:buFontTx/>
              <a:buChar char="•"/>
            </a:pPr>
            <a:r>
              <a:rPr lang="fr-FR" sz="2900" dirty="0"/>
              <a:t>les guillemets " " (doubles </a:t>
            </a:r>
            <a:r>
              <a:rPr lang="fr-FR" sz="2900" dirty="0" err="1"/>
              <a:t>quotes</a:t>
            </a:r>
            <a:r>
              <a:rPr lang="fr-FR" sz="2900" dirty="0"/>
              <a:t>) </a:t>
            </a:r>
          </a:p>
          <a:p>
            <a:pPr marL="939800" lvl="2" indent="0" defTabSz="914400" eaLnBrk="0" fontAlgn="base" hangingPunct="0">
              <a:lnSpc>
                <a:spcPct val="150000"/>
              </a:lnSpc>
              <a:spcBef>
                <a:spcPct val="0"/>
              </a:spcBef>
              <a:spcAft>
                <a:spcPct val="0"/>
              </a:spcAft>
              <a:buClrTx/>
              <a:buSzTx/>
              <a:buFontTx/>
              <a:buChar char="•"/>
            </a:pPr>
            <a:r>
              <a:rPr lang="fr-FR" sz="2900" dirty="0"/>
              <a:t>les accents graves ` ` (back </a:t>
            </a:r>
            <a:r>
              <a:rPr lang="fr-FR" sz="2900" dirty="0" err="1"/>
              <a:t>quotes</a:t>
            </a:r>
            <a:r>
              <a:rPr lang="fr-FR" sz="2900" dirty="0"/>
              <a:t>)</a:t>
            </a:r>
          </a:p>
          <a:p>
            <a:pPr marL="0" lvl="0" indent="0" defTabSz="914400" eaLnBrk="0" fontAlgn="base" hangingPunct="0">
              <a:spcBef>
                <a:spcPct val="0"/>
              </a:spcBef>
              <a:spcAft>
                <a:spcPct val="0"/>
              </a:spcAft>
              <a:buClrTx/>
              <a:buSzTx/>
              <a:buNone/>
            </a:pPr>
            <a:endParaRPr lang="fr-FR" sz="2400" dirty="0">
              <a:solidFill>
                <a:schemeClr val="tx1"/>
              </a:solidFill>
              <a:latin typeface="Arial" panose="020B0604020202020204" pitchFamily="34" charset="0"/>
            </a:endParaRPr>
          </a:p>
        </p:txBody>
      </p:sp>
      <p:sp>
        <p:nvSpPr>
          <p:cNvPr id="5" name="Rectangle 4"/>
          <p:cNvSpPr>
            <a:spLocks noChangeArrowheads="1"/>
          </p:cNvSpPr>
          <p:nvPr/>
        </p:nvSpPr>
        <p:spPr bwMode="auto">
          <a:xfrm>
            <a:off x="497857" y="3657574"/>
            <a:ext cx="6203508" cy="615553"/>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defTabSz="914400" eaLnBrk="0" fontAlgn="base">
              <a:spcBef>
                <a:spcPct val="0"/>
              </a:spcBef>
              <a:spcAft>
                <a:spcPct val="0"/>
              </a:spcAft>
            </a:pPr>
            <a:r>
              <a:rPr lang="fr-FR" sz="2000" dirty="0">
                <a:solidFill>
                  <a:schemeClr val="bg1"/>
                </a:solidFill>
                <a:latin typeface="Courier New" panose="02070309020205020404" pitchFamily="49" charset="0"/>
              </a:rPr>
              <a:t>#!/bin/</a:t>
            </a:r>
            <a:r>
              <a:rPr lang="fr-FR" sz="2000" dirty="0" err="1">
                <a:solidFill>
                  <a:schemeClr val="bg1"/>
                </a:solidFill>
                <a:latin typeface="Courier New" panose="02070309020205020404" pitchFamily="49" charset="0"/>
              </a:rPr>
              <a:t>bash</a:t>
            </a:r>
            <a:r>
              <a:rPr lang="fr-FR" sz="2000" dirty="0">
                <a:solidFill>
                  <a:schemeClr val="bg1"/>
                </a:solidFill>
                <a:latin typeface="Courier New" panose="02070309020205020404" pitchFamily="49" charset="0"/>
              </a:rPr>
              <a:t> message=</a:t>
            </a:r>
            <a:r>
              <a:rPr lang="fr-FR" sz="2000" dirty="0" smtClean="0">
                <a:solidFill>
                  <a:schemeClr val="bg1"/>
                </a:solidFill>
                <a:latin typeface="Courier New" panose="02070309020205020404" pitchFamily="49" charset="0"/>
              </a:rPr>
              <a:t>'Bonjour Esprit' </a:t>
            </a:r>
            <a:r>
              <a:rPr lang="fr-FR" sz="2000" dirty="0" err="1">
                <a:solidFill>
                  <a:schemeClr val="bg1"/>
                </a:solidFill>
                <a:latin typeface="Courier New" panose="02070309020205020404" pitchFamily="49" charset="0"/>
              </a:rPr>
              <a:t>echo</a:t>
            </a:r>
            <a:r>
              <a:rPr lang="fr-FR" sz="2000" dirty="0">
                <a:solidFill>
                  <a:schemeClr val="bg1"/>
                </a:solidFill>
                <a:latin typeface="Courier New" panose="02070309020205020404" pitchFamily="49" charset="0"/>
              </a:rPr>
              <a:t> 'Le message est : $message</a:t>
            </a:r>
            <a:r>
              <a:rPr lang="fr-FR" sz="2000" dirty="0" smtClean="0">
                <a:solidFill>
                  <a:schemeClr val="bg1"/>
                </a:solidFill>
                <a:latin typeface="Courier New" panose="02070309020205020404" pitchFamily="49" charset="0"/>
              </a:rPr>
              <a:t>'</a:t>
            </a:r>
            <a:endParaRPr lang="fr-FR" sz="3200" dirty="0">
              <a:solidFill>
                <a:schemeClr val="tx1"/>
              </a:solidFill>
              <a:latin typeface="Arial" panose="020B0604020202020204" pitchFamily="34" charset="0"/>
            </a:endParaRPr>
          </a:p>
        </p:txBody>
      </p:sp>
      <p:sp>
        <p:nvSpPr>
          <p:cNvPr id="6" name="Rectangle 2"/>
          <p:cNvSpPr>
            <a:spLocks noChangeArrowheads="1"/>
          </p:cNvSpPr>
          <p:nvPr/>
        </p:nvSpPr>
        <p:spPr bwMode="auto">
          <a:xfrm>
            <a:off x="0" y="43934"/>
            <a:ext cx="184731" cy="36933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7"/>
          <p:cNvSpPr>
            <a:spLocks noChangeArrowheads="1"/>
          </p:cNvSpPr>
          <p:nvPr/>
        </p:nvSpPr>
        <p:spPr bwMode="auto">
          <a:xfrm>
            <a:off x="6701365" y="5326052"/>
            <a:ext cx="4958549" cy="307777"/>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defTabSz="914400" eaLnBrk="0" fontAlgn="base">
              <a:spcBef>
                <a:spcPct val="0"/>
              </a:spcBef>
              <a:spcAft>
                <a:spcPct val="0"/>
              </a:spcAft>
            </a:pPr>
            <a:r>
              <a:rPr lang="fr-FR" sz="2000" dirty="0">
                <a:solidFill>
                  <a:schemeClr val="bg1"/>
                </a:solidFill>
                <a:latin typeface="Courier New" panose="02070309020205020404" pitchFamily="49" charset="0"/>
                <a:cs typeface="Courier New" panose="02070309020205020404" pitchFamily="49" charset="0"/>
              </a:rPr>
              <a:t>Le message est : $</a:t>
            </a:r>
            <a:r>
              <a:rPr lang="fr-FR" sz="2000" dirty="0" smtClean="0">
                <a:solidFill>
                  <a:schemeClr val="bg1"/>
                </a:solidFill>
                <a:latin typeface="Courier New" panose="02070309020205020404" pitchFamily="49" charset="0"/>
                <a:cs typeface="Courier New" panose="02070309020205020404" pitchFamily="49" charset="0"/>
              </a:rPr>
              <a:t>message</a:t>
            </a:r>
            <a:endParaRPr lang="fr-FR" sz="2000" dirty="0">
              <a:solidFill>
                <a:schemeClr val="bg1"/>
              </a:solidFill>
              <a:latin typeface="Arial" panose="020B0604020202020204" pitchFamily="34" charset="0"/>
            </a:endParaRPr>
          </a:p>
        </p:txBody>
      </p:sp>
      <p:pic>
        <p:nvPicPr>
          <p:cNvPr id="7" name="Picture 2" descr="Vrais Et Faux Symboles Acceptent Rejetés Pour Vecteur D'évaluation Style  Simple Et Moderne, Réponse, Approuvé, Contexte PNG et vecteur pour  téléchargement gratuit"/>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701365" y="3657574"/>
            <a:ext cx="614812" cy="61481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80880213"/>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sz="7200" dirty="0"/>
              <a:t>les « </a:t>
            </a:r>
            <a:r>
              <a:rPr lang="fr-FR" sz="7200" dirty="0" err="1"/>
              <a:t>quotes</a:t>
            </a:r>
            <a:r>
              <a:rPr lang="fr-FR" sz="7200" dirty="0"/>
              <a:t> </a:t>
            </a:r>
            <a:r>
              <a:rPr lang="fr-FR" sz="7200" dirty="0" smtClean="0"/>
              <a:t>»</a:t>
            </a:r>
            <a:endParaRPr lang="fr-FR" dirty="0"/>
          </a:p>
        </p:txBody>
      </p:sp>
      <p:sp>
        <p:nvSpPr>
          <p:cNvPr id="3" name="Text Placeholder 2"/>
          <p:cNvSpPr>
            <a:spLocks noGrp="1"/>
          </p:cNvSpPr>
          <p:nvPr>
            <p:ph type="body" idx="1"/>
          </p:nvPr>
        </p:nvSpPr>
        <p:spPr>
          <a:xfrm>
            <a:off x="54550" y="2215459"/>
            <a:ext cx="12190168" cy="6096000"/>
          </a:xfrm>
        </p:spPr>
        <p:txBody>
          <a:bodyPr>
            <a:noAutofit/>
          </a:bodyPr>
          <a:lstStyle/>
          <a:p>
            <a:pPr marL="939800" lvl="2">
              <a:lnSpc>
                <a:spcPct val="150000"/>
              </a:lnSpc>
              <a:buFont typeface="Wingdings" panose="05000000000000000000" pitchFamily="2" charset="2"/>
              <a:buChar char="v"/>
            </a:pPr>
            <a:r>
              <a:rPr lang="fr-FR" sz="2800" b="1" dirty="0"/>
              <a:t>' ' </a:t>
            </a:r>
            <a:r>
              <a:rPr lang="fr-FR" sz="2600" dirty="0" smtClean="0"/>
              <a:t>Avec </a:t>
            </a:r>
            <a:r>
              <a:rPr lang="fr-FR" sz="2600" dirty="0"/>
              <a:t>de simples </a:t>
            </a:r>
            <a:r>
              <a:rPr lang="fr-FR" sz="2600" dirty="0" err="1"/>
              <a:t>quotes</a:t>
            </a:r>
            <a:r>
              <a:rPr lang="fr-FR" sz="2600" dirty="0"/>
              <a:t>, la variable n'est pas analysée et le $  est affiché tel </a:t>
            </a:r>
            <a:r>
              <a:rPr lang="fr-FR" sz="2600" dirty="0" smtClean="0"/>
              <a:t>qu’il est:</a:t>
            </a:r>
          </a:p>
          <a:p>
            <a:pPr marL="939800" lvl="2">
              <a:lnSpc>
                <a:spcPct val="150000"/>
              </a:lnSpc>
              <a:buFont typeface="Wingdings" panose="05000000000000000000" pitchFamily="2" charset="2"/>
              <a:buChar char="Ø"/>
            </a:pPr>
            <a:endParaRPr lang="fr-FR" sz="2600" dirty="0" smtClean="0"/>
          </a:p>
          <a:p>
            <a:pPr lvl="1">
              <a:buFont typeface="Wingdings" panose="05000000000000000000" pitchFamily="2" charset="2"/>
              <a:buChar char="v"/>
            </a:pPr>
            <a:r>
              <a:rPr lang="fr-FR" sz="2800" b="1" dirty="0"/>
              <a:t>" " </a:t>
            </a:r>
            <a:r>
              <a:rPr lang="fr-FR" sz="2800" b="1" dirty="0" smtClean="0"/>
              <a:t> </a:t>
            </a:r>
            <a:r>
              <a:rPr lang="fr-FR" sz="2600" dirty="0" smtClean="0"/>
              <a:t>les </a:t>
            </a:r>
            <a:r>
              <a:rPr lang="fr-FR" sz="2600" dirty="0"/>
              <a:t>doubles </a:t>
            </a:r>
            <a:r>
              <a:rPr lang="fr-FR" sz="2600" dirty="0" err="1"/>
              <a:t>quotes</a:t>
            </a:r>
            <a:r>
              <a:rPr lang="fr-FR" sz="2600" dirty="0"/>
              <a:t> demandent à </a:t>
            </a:r>
            <a:r>
              <a:rPr lang="fr-FR" sz="2600" dirty="0" err="1"/>
              <a:t>bash</a:t>
            </a:r>
            <a:r>
              <a:rPr lang="fr-FR" sz="2600" dirty="0"/>
              <a:t> d'analyser le contenu du </a:t>
            </a:r>
            <a:r>
              <a:rPr lang="fr-FR" sz="2600" dirty="0" smtClean="0"/>
              <a:t>message </a:t>
            </a:r>
            <a:r>
              <a:rPr lang="fr-FR" sz="2600" dirty="0"/>
              <a:t>S'il trouve des symboles spéciaux (comme des variables</a:t>
            </a:r>
            <a:r>
              <a:rPr lang="fr-FR" sz="2600" dirty="0" smtClean="0"/>
              <a:t>), et </a:t>
            </a:r>
            <a:r>
              <a:rPr lang="fr-FR" sz="2600" dirty="0"/>
              <a:t>il les interprète</a:t>
            </a:r>
            <a:r>
              <a:rPr lang="fr-FR" sz="2600" dirty="0" smtClean="0"/>
              <a:t>.</a:t>
            </a:r>
          </a:p>
          <a:p>
            <a:endParaRPr lang="fr-FR" sz="2600" dirty="0"/>
          </a:p>
          <a:p>
            <a:pPr lvl="1">
              <a:buFont typeface="Wingdings" panose="05000000000000000000" pitchFamily="2" charset="2"/>
              <a:buChar char="Ø"/>
            </a:pPr>
            <a:endParaRPr lang="fr-FR" sz="2600" dirty="0"/>
          </a:p>
          <a:p>
            <a:pPr lvl="1">
              <a:buFont typeface="Wingdings" panose="05000000000000000000" pitchFamily="2" charset="2"/>
              <a:buChar char="v"/>
            </a:pPr>
            <a:r>
              <a:rPr lang="fr-FR" sz="2800" b="1" dirty="0"/>
              <a:t>` ` </a:t>
            </a:r>
            <a:r>
              <a:rPr lang="fr-FR" sz="2600" dirty="0" smtClean="0"/>
              <a:t>les </a:t>
            </a:r>
            <a:r>
              <a:rPr lang="fr-FR" sz="2600" dirty="0"/>
              <a:t>back </a:t>
            </a:r>
            <a:r>
              <a:rPr lang="fr-FR" sz="2600" dirty="0" err="1"/>
              <a:t>quotes</a:t>
            </a:r>
            <a:r>
              <a:rPr lang="fr-FR" sz="2600" dirty="0"/>
              <a:t> demandent à </a:t>
            </a:r>
            <a:r>
              <a:rPr lang="fr-FR" sz="2600" dirty="0" err="1"/>
              <a:t>bash</a:t>
            </a:r>
            <a:r>
              <a:rPr lang="fr-FR" sz="2600" dirty="0"/>
              <a:t> d'exécuter ce qui se trouve à l'intérieur.</a:t>
            </a:r>
          </a:p>
        </p:txBody>
      </p:sp>
      <p:sp>
        <p:nvSpPr>
          <p:cNvPr id="4" name="Rectangle 1"/>
          <p:cNvSpPr>
            <a:spLocks noChangeArrowheads="1"/>
          </p:cNvSpPr>
          <p:nvPr/>
        </p:nvSpPr>
        <p:spPr bwMode="auto">
          <a:xfrm>
            <a:off x="0" y="90100"/>
            <a:ext cx="54550" cy="276999"/>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26979" tIns="0" rIns="26979"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4"/>
          <p:cNvSpPr>
            <a:spLocks noChangeArrowheads="1"/>
          </p:cNvSpPr>
          <p:nvPr/>
        </p:nvSpPr>
        <p:spPr bwMode="auto">
          <a:xfrm>
            <a:off x="298892" y="3820869"/>
            <a:ext cx="6203508" cy="923330"/>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defTabSz="914400" eaLnBrk="0" fontAlgn="base">
              <a:spcBef>
                <a:spcPct val="0"/>
              </a:spcBef>
              <a:spcAft>
                <a:spcPct val="0"/>
              </a:spcAft>
            </a:pPr>
            <a:r>
              <a:rPr lang="fr-FR" sz="2000" dirty="0">
                <a:solidFill>
                  <a:schemeClr val="bg1"/>
                </a:solidFill>
                <a:latin typeface="Courier New" panose="02070309020205020404" pitchFamily="49" charset="0"/>
              </a:rPr>
              <a:t>#!/bin/</a:t>
            </a:r>
            <a:r>
              <a:rPr lang="fr-FR" sz="2000" dirty="0" err="1">
                <a:solidFill>
                  <a:schemeClr val="bg1"/>
                </a:solidFill>
                <a:latin typeface="Courier New" panose="02070309020205020404" pitchFamily="49" charset="0"/>
              </a:rPr>
              <a:t>bash</a:t>
            </a:r>
            <a:r>
              <a:rPr lang="fr-FR" sz="2000" dirty="0">
                <a:solidFill>
                  <a:schemeClr val="bg1"/>
                </a:solidFill>
                <a:latin typeface="Courier New" panose="02070309020205020404" pitchFamily="49" charset="0"/>
              </a:rPr>
              <a:t> </a:t>
            </a:r>
            <a:endParaRPr lang="fr-FR" sz="2000" dirty="0" smtClean="0">
              <a:solidFill>
                <a:schemeClr val="bg1"/>
              </a:solidFill>
              <a:latin typeface="Courier New" panose="02070309020205020404" pitchFamily="49" charset="0"/>
            </a:endParaRPr>
          </a:p>
          <a:p>
            <a:pPr lvl="0" algn="l" defTabSz="914400" eaLnBrk="0" fontAlgn="base">
              <a:spcBef>
                <a:spcPct val="0"/>
              </a:spcBef>
              <a:spcAft>
                <a:spcPct val="0"/>
              </a:spcAft>
            </a:pPr>
            <a:r>
              <a:rPr lang="fr-FR" sz="2000" dirty="0" smtClean="0">
                <a:solidFill>
                  <a:schemeClr val="bg1"/>
                </a:solidFill>
                <a:latin typeface="Courier New" panose="02070309020205020404" pitchFamily="49" charset="0"/>
              </a:rPr>
              <a:t>message</a:t>
            </a:r>
            <a:r>
              <a:rPr lang="fr-FR" sz="2000" dirty="0">
                <a:solidFill>
                  <a:schemeClr val="bg1"/>
                </a:solidFill>
                <a:latin typeface="Courier New" panose="02070309020205020404" pitchFamily="49" charset="0"/>
              </a:rPr>
              <a:t>=</a:t>
            </a:r>
            <a:r>
              <a:rPr lang="fr-FR" sz="2000" dirty="0" smtClean="0">
                <a:solidFill>
                  <a:schemeClr val="bg1"/>
                </a:solidFill>
                <a:latin typeface="Courier New" panose="02070309020205020404" pitchFamily="49" charset="0"/>
              </a:rPr>
              <a:t>'Bonjour Esprit' </a:t>
            </a:r>
            <a:r>
              <a:rPr lang="fr-FR" sz="2000" dirty="0" err="1">
                <a:solidFill>
                  <a:schemeClr val="bg1"/>
                </a:solidFill>
                <a:latin typeface="Courier New" panose="02070309020205020404" pitchFamily="49" charset="0"/>
              </a:rPr>
              <a:t>echo</a:t>
            </a:r>
            <a:r>
              <a:rPr lang="fr-FR" sz="2000" dirty="0">
                <a:solidFill>
                  <a:schemeClr val="bg1"/>
                </a:solidFill>
                <a:latin typeface="Courier New" panose="02070309020205020404" pitchFamily="49" charset="0"/>
              </a:rPr>
              <a:t> 'Le message est : $message</a:t>
            </a:r>
            <a:r>
              <a:rPr lang="fr-FR" sz="2000" dirty="0" smtClean="0">
                <a:solidFill>
                  <a:schemeClr val="bg1"/>
                </a:solidFill>
                <a:latin typeface="Courier New" panose="02070309020205020404" pitchFamily="49" charset="0"/>
              </a:rPr>
              <a:t>'</a:t>
            </a:r>
            <a:endParaRPr lang="fr-FR" sz="3200" dirty="0">
              <a:solidFill>
                <a:schemeClr val="tx1"/>
              </a:solidFill>
              <a:latin typeface="Arial" panose="020B0604020202020204" pitchFamily="34" charset="0"/>
            </a:endParaRPr>
          </a:p>
        </p:txBody>
      </p:sp>
      <p:sp>
        <p:nvSpPr>
          <p:cNvPr id="6" name="Rectangle 5"/>
          <p:cNvSpPr>
            <a:spLocks noChangeArrowheads="1"/>
          </p:cNvSpPr>
          <p:nvPr/>
        </p:nvSpPr>
        <p:spPr bwMode="auto">
          <a:xfrm>
            <a:off x="6750546" y="4150360"/>
            <a:ext cx="5655615" cy="307777"/>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defTabSz="914400" eaLnBrk="0" fontAlgn="base">
              <a:spcBef>
                <a:spcPct val="0"/>
              </a:spcBef>
              <a:spcAft>
                <a:spcPct val="0"/>
              </a:spcAft>
            </a:pPr>
            <a:r>
              <a:rPr lang="fr-FR" sz="2000" dirty="0">
                <a:solidFill>
                  <a:schemeClr val="bg1"/>
                </a:solidFill>
                <a:latin typeface="Courier New" panose="02070309020205020404" pitchFamily="49" charset="0"/>
                <a:cs typeface="Courier New" panose="02070309020205020404" pitchFamily="49" charset="0"/>
              </a:rPr>
              <a:t>Le message est : $</a:t>
            </a:r>
            <a:r>
              <a:rPr lang="fr-FR" sz="2000" dirty="0" smtClean="0">
                <a:solidFill>
                  <a:schemeClr val="bg1"/>
                </a:solidFill>
                <a:latin typeface="Courier New" panose="02070309020205020404" pitchFamily="49" charset="0"/>
                <a:cs typeface="Courier New" panose="02070309020205020404" pitchFamily="49" charset="0"/>
              </a:rPr>
              <a:t>message</a:t>
            </a:r>
            <a:endParaRPr lang="fr-FR" sz="2000" dirty="0">
              <a:solidFill>
                <a:schemeClr val="bg1"/>
              </a:solidFill>
              <a:latin typeface="Arial" panose="020B0604020202020204" pitchFamily="34" charset="0"/>
            </a:endParaRPr>
          </a:p>
        </p:txBody>
      </p:sp>
      <p:sp>
        <p:nvSpPr>
          <p:cNvPr id="7" name="Rectangle 6"/>
          <p:cNvSpPr>
            <a:spLocks noChangeArrowheads="1"/>
          </p:cNvSpPr>
          <p:nvPr/>
        </p:nvSpPr>
        <p:spPr bwMode="auto">
          <a:xfrm>
            <a:off x="224567" y="5989220"/>
            <a:ext cx="6203508" cy="923330"/>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defTabSz="914400" eaLnBrk="0" fontAlgn="base">
              <a:spcBef>
                <a:spcPct val="0"/>
              </a:spcBef>
              <a:spcAft>
                <a:spcPct val="0"/>
              </a:spcAft>
            </a:pPr>
            <a:r>
              <a:rPr lang="fr-FR" sz="2000" dirty="0">
                <a:solidFill>
                  <a:schemeClr val="bg1"/>
                </a:solidFill>
                <a:latin typeface="Courier New" panose="02070309020205020404" pitchFamily="49" charset="0"/>
              </a:rPr>
              <a:t>#!/bin/</a:t>
            </a:r>
            <a:r>
              <a:rPr lang="fr-FR" sz="2000" dirty="0" err="1">
                <a:solidFill>
                  <a:schemeClr val="bg1"/>
                </a:solidFill>
                <a:latin typeface="Courier New" panose="02070309020205020404" pitchFamily="49" charset="0"/>
              </a:rPr>
              <a:t>bash</a:t>
            </a:r>
            <a:r>
              <a:rPr lang="fr-FR" sz="2000" dirty="0">
                <a:solidFill>
                  <a:schemeClr val="bg1"/>
                </a:solidFill>
                <a:latin typeface="Courier New" panose="02070309020205020404" pitchFamily="49" charset="0"/>
              </a:rPr>
              <a:t> </a:t>
            </a:r>
            <a:endParaRPr lang="fr-FR" sz="2000" dirty="0" smtClean="0">
              <a:solidFill>
                <a:schemeClr val="bg1"/>
              </a:solidFill>
              <a:latin typeface="Courier New" panose="02070309020205020404" pitchFamily="49" charset="0"/>
            </a:endParaRPr>
          </a:p>
          <a:p>
            <a:pPr lvl="0" algn="l" defTabSz="914400" eaLnBrk="0" fontAlgn="base">
              <a:spcBef>
                <a:spcPct val="0"/>
              </a:spcBef>
              <a:spcAft>
                <a:spcPct val="0"/>
              </a:spcAft>
            </a:pPr>
            <a:r>
              <a:rPr lang="fr-FR" sz="2000" dirty="0" smtClean="0">
                <a:solidFill>
                  <a:schemeClr val="bg1"/>
                </a:solidFill>
                <a:latin typeface="Courier New" panose="02070309020205020404" pitchFamily="49" charset="0"/>
              </a:rPr>
              <a:t>message</a:t>
            </a:r>
            <a:r>
              <a:rPr lang="fr-FR" sz="2000" dirty="0">
                <a:solidFill>
                  <a:schemeClr val="bg1"/>
                </a:solidFill>
                <a:latin typeface="Courier New" panose="02070309020205020404" pitchFamily="49" charset="0"/>
              </a:rPr>
              <a:t>=</a:t>
            </a:r>
            <a:r>
              <a:rPr lang="fr-FR" sz="2000" dirty="0" smtClean="0">
                <a:solidFill>
                  <a:schemeClr val="bg1"/>
                </a:solidFill>
                <a:latin typeface="Courier New" panose="02070309020205020404" pitchFamily="49" charset="0"/>
              </a:rPr>
              <a:t>'Bonjour Esprit' </a:t>
            </a:r>
            <a:r>
              <a:rPr lang="fr-FR" sz="2000" dirty="0" err="1">
                <a:solidFill>
                  <a:schemeClr val="bg1"/>
                </a:solidFill>
                <a:latin typeface="Courier New" panose="02070309020205020404" pitchFamily="49" charset="0"/>
              </a:rPr>
              <a:t>echo</a:t>
            </a:r>
            <a:r>
              <a:rPr lang="fr-FR" sz="2000" dirty="0">
                <a:solidFill>
                  <a:schemeClr val="bg1"/>
                </a:solidFill>
                <a:latin typeface="Courier New" panose="02070309020205020404" pitchFamily="49" charset="0"/>
              </a:rPr>
              <a:t> </a:t>
            </a:r>
            <a:r>
              <a:rPr lang="fr-FR" sz="2000" dirty="0" smtClean="0">
                <a:solidFill>
                  <a:schemeClr val="bg1"/>
                </a:solidFill>
                <a:latin typeface="Courier New" panose="02070309020205020404" pitchFamily="49" charset="0"/>
              </a:rPr>
              <a:t> </a:t>
            </a:r>
            <a:r>
              <a:rPr lang="fr-FR" sz="2000" dirty="0">
                <a:solidFill>
                  <a:srgbClr val="333333"/>
                </a:solidFill>
                <a:latin typeface="Arial" panose="020B0604020202020204" pitchFamily="34" charset="0"/>
                <a:cs typeface="Arial" panose="020B0604020202020204" pitchFamily="34" charset="0"/>
              </a:rPr>
              <a:t> " </a:t>
            </a:r>
            <a:r>
              <a:rPr lang="fr-FR" sz="2000" dirty="0">
                <a:solidFill>
                  <a:schemeClr val="bg1"/>
                </a:solidFill>
                <a:latin typeface="Courier New" panose="02070309020205020404" pitchFamily="49" charset="0"/>
              </a:rPr>
              <a:t>Le message est : $message "</a:t>
            </a:r>
          </a:p>
        </p:txBody>
      </p:sp>
      <p:sp>
        <p:nvSpPr>
          <p:cNvPr id="8" name="Rectangle 7"/>
          <p:cNvSpPr>
            <a:spLocks noChangeArrowheads="1"/>
          </p:cNvSpPr>
          <p:nvPr/>
        </p:nvSpPr>
        <p:spPr bwMode="auto">
          <a:xfrm>
            <a:off x="6711508" y="6296995"/>
            <a:ext cx="5842000" cy="307777"/>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defTabSz="914400" eaLnBrk="0" fontAlgn="base">
              <a:spcBef>
                <a:spcPct val="0"/>
              </a:spcBef>
              <a:spcAft>
                <a:spcPct val="0"/>
              </a:spcAft>
            </a:pPr>
            <a:r>
              <a:rPr lang="fr-FR" sz="2000" dirty="0">
                <a:solidFill>
                  <a:schemeClr val="bg1"/>
                </a:solidFill>
                <a:latin typeface="Courier New" panose="02070309020205020404" pitchFamily="49" charset="0"/>
                <a:cs typeface="Courier New" panose="02070309020205020404" pitchFamily="49" charset="0"/>
              </a:rPr>
              <a:t>Le message est </a:t>
            </a:r>
            <a:r>
              <a:rPr lang="fr-FR" sz="2000" dirty="0" smtClean="0">
                <a:solidFill>
                  <a:schemeClr val="bg1"/>
                </a:solidFill>
                <a:latin typeface="Courier New" panose="02070309020205020404" pitchFamily="49" charset="0"/>
                <a:cs typeface="Courier New" panose="02070309020205020404" pitchFamily="49" charset="0"/>
              </a:rPr>
              <a:t>:</a:t>
            </a:r>
            <a:r>
              <a:rPr lang="fr-FR" sz="2000" dirty="0">
                <a:solidFill>
                  <a:schemeClr val="bg1"/>
                </a:solidFill>
                <a:latin typeface="Courier New" panose="02070309020205020404" pitchFamily="49" charset="0"/>
              </a:rPr>
              <a:t> </a:t>
            </a:r>
            <a:r>
              <a:rPr lang="fr-FR" sz="2000" dirty="0" smtClean="0">
                <a:solidFill>
                  <a:schemeClr val="bg1"/>
                </a:solidFill>
                <a:latin typeface="Courier New" panose="02070309020205020404" pitchFamily="49" charset="0"/>
              </a:rPr>
              <a:t>Bonjour </a:t>
            </a:r>
            <a:r>
              <a:rPr lang="fr-FR" sz="2000" dirty="0">
                <a:solidFill>
                  <a:schemeClr val="bg1"/>
                </a:solidFill>
                <a:latin typeface="Courier New" panose="02070309020205020404" pitchFamily="49" charset="0"/>
              </a:rPr>
              <a:t>Esprit </a:t>
            </a:r>
            <a:r>
              <a:rPr lang="fr-FR" sz="2000" dirty="0">
                <a:solidFill>
                  <a:schemeClr val="bg1"/>
                </a:solidFill>
                <a:latin typeface="Courier New" panose="02070309020205020404" pitchFamily="49" charset="0"/>
                <a:cs typeface="Courier New" panose="02070309020205020404" pitchFamily="49" charset="0"/>
              </a:rPr>
              <a:t> </a:t>
            </a:r>
            <a:endParaRPr lang="fr-FR" sz="2000" dirty="0">
              <a:solidFill>
                <a:schemeClr val="bg1"/>
              </a:solidFill>
              <a:latin typeface="Arial" panose="020B0604020202020204" pitchFamily="34" charset="0"/>
            </a:endParaRPr>
          </a:p>
        </p:txBody>
      </p:sp>
      <p:sp>
        <p:nvSpPr>
          <p:cNvPr id="9" name="Rectangle 8"/>
          <p:cNvSpPr>
            <a:spLocks noChangeArrowheads="1"/>
          </p:cNvSpPr>
          <p:nvPr/>
        </p:nvSpPr>
        <p:spPr bwMode="auto">
          <a:xfrm>
            <a:off x="224567" y="8458956"/>
            <a:ext cx="6203508" cy="615553"/>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algn="l"/>
            <a:r>
              <a:rPr lang="fr-FR" sz="2000" dirty="0">
                <a:solidFill>
                  <a:schemeClr val="bg1"/>
                </a:solidFill>
                <a:latin typeface="Courier New" panose="02070309020205020404" pitchFamily="49" charset="0"/>
              </a:rPr>
              <a:t>message=`</a:t>
            </a:r>
            <a:r>
              <a:rPr lang="fr-FR" sz="2000" dirty="0" err="1">
                <a:solidFill>
                  <a:schemeClr val="bg1"/>
                </a:solidFill>
                <a:latin typeface="Courier New" panose="02070309020205020404" pitchFamily="49" charset="0"/>
              </a:rPr>
              <a:t>pwd</a:t>
            </a:r>
            <a:r>
              <a:rPr lang="fr-FR" sz="2000" dirty="0">
                <a:solidFill>
                  <a:schemeClr val="bg1"/>
                </a:solidFill>
                <a:latin typeface="Courier New" panose="02070309020205020404" pitchFamily="49" charset="0"/>
              </a:rPr>
              <a:t>` </a:t>
            </a:r>
            <a:r>
              <a:rPr lang="fr-FR" sz="2000" dirty="0" err="1">
                <a:solidFill>
                  <a:schemeClr val="bg1"/>
                </a:solidFill>
                <a:latin typeface="Courier New" panose="02070309020205020404" pitchFamily="49" charset="0"/>
              </a:rPr>
              <a:t>echo</a:t>
            </a:r>
            <a:r>
              <a:rPr lang="fr-FR" sz="2000" dirty="0">
                <a:solidFill>
                  <a:schemeClr val="bg1"/>
                </a:solidFill>
                <a:latin typeface="Courier New" panose="02070309020205020404" pitchFamily="49" charset="0"/>
              </a:rPr>
              <a:t> "Vous êtes dans </a:t>
            </a:r>
            <a:r>
              <a:rPr lang="fr-FR" sz="2000" dirty="0" smtClean="0">
                <a:solidFill>
                  <a:schemeClr val="bg1"/>
                </a:solidFill>
                <a:latin typeface="Courier New" panose="02070309020205020404" pitchFamily="49" charset="0"/>
              </a:rPr>
              <a:t>$</a:t>
            </a:r>
            <a:r>
              <a:rPr lang="fr-FR" sz="2000" dirty="0">
                <a:solidFill>
                  <a:schemeClr val="bg1"/>
                </a:solidFill>
                <a:latin typeface="Courier New" panose="02070309020205020404" pitchFamily="49" charset="0"/>
              </a:rPr>
              <a:t>message</a:t>
            </a:r>
            <a:r>
              <a:rPr lang="fr-FR" sz="2000" dirty="0" smtClean="0">
                <a:solidFill>
                  <a:schemeClr val="bg1"/>
                </a:solidFill>
                <a:latin typeface="Courier New" panose="02070309020205020404" pitchFamily="49" charset="0"/>
              </a:rPr>
              <a:t>"</a:t>
            </a:r>
            <a:endParaRPr lang="fr-FR" sz="2000" dirty="0"/>
          </a:p>
        </p:txBody>
      </p:sp>
      <p:sp>
        <p:nvSpPr>
          <p:cNvPr id="11" name="Rectangle 10"/>
          <p:cNvSpPr>
            <a:spLocks noChangeArrowheads="1"/>
          </p:cNvSpPr>
          <p:nvPr/>
        </p:nvSpPr>
        <p:spPr bwMode="auto">
          <a:xfrm>
            <a:off x="6750546" y="8612843"/>
            <a:ext cx="4805299" cy="307777"/>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defTabSz="914400" eaLnBrk="0" fontAlgn="base">
              <a:spcBef>
                <a:spcPct val="0"/>
              </a:spcBef>
              <a:spcAft>
                <a:spcPct val="0"/>
              </a:spcAft>
            </a:pPr>
            <a:r>
              <a:rPr lang="fr-FR" sz="2000" dirty="0">
                <a:solidFill>
                  <a:schemeClr val="bg1"/>
                </a:solidFill>
                <a:latin typeface="Courier New" panose="02070309020205020404" pitchFamily="49" charset="0"/>
              </a:rPr>
              <a:t>Vous êtes dans </a:t>
            </a:r>
            <a:r>
              <a:rPr lang="fr-FR" sz="2000" dirty="0" smtClean="0">
                <a:solidFill>
                  <a:schemeClr val="bg1"/>
                </a:solidFill>
                <a:latin typeface="Courier New" panose="02070309020205020404" pitchFamily="49" charset="0"/>
              </a:rPr>
              <a:t>/home/Esprit</a:t>
            </a:r>
            <a:endParaRPr lang="fr-FR" sz="2000" dirty="0">
              <a:solidFill>
                <a:schemeClr val="bg1"/>
              </a:solidFill>
              <a:latin typeface="Courier New" panose="02070309020205020404" pitchFamily="49" charset="0"/>
            </a:endParaRPr>
          </a:p>
        </p:txBody>
      </p:sp>
    </p:spTree>
    <p:extLst>
      <p:ext uri="{BB962C8B-B14F-4D97-AF65-F5344CB8AC3E}">
        <p14:creationId xmlns="" xmlns:p14="http://schemas.microsoft.com/office/powerpoint/2010/main" val="4201334873"/>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b="1" dirty="0" err="1" smtClean="0"/>
              <a:t>read</a:t>
            </a:r>
            <a:r>
              <a:rPr lang="fr-FR" b="1" dirty="0" smtClean="0"/>
              <a:t> </a:t>
            </a:r>
            <a:r>
              <a:rPr lang="fr-FR" b="1" dirty="0"/>
              <a:t>: saisie des variables </a:t>
            </a:r>
            <a:endParaRPr lang="fr-FR" dirty="0"/>
          </a:p>
        </p:txBody>
      </p:sp>
      <p:sp>
        <p:nvSpPr>
          <p:cNvPr id="4" name="Rectangle 1"/>
          <p:cNvSpPr>
            <a:spLocks noGrp="1" noChangeArrowheads="1"/>
          </p:cNvSpPr>
          <p:nvPr>
            <p:ph type="body" idx="1"/>
          </p:nvPr>
        </p:nvSpPr>
        <p:spPr bwMode="auto">
          <a:xfrm>
            <a:off x="507998" y="2381517"/>
            <a:ext cx="11881478" cy="63632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26979" tIns="0" rIns="26979" bIns="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r>
              <a:rPr lang="fr-FR" sz="2900" dirty="0">
                <a:solidFill>
                  <a:srgbClr val="414141"/>
                </a:solidFill>
                <a:latin typeface="Palatino"/>
              </a:rPr>
              <a:t>La commande </a:t>
            </a:r>
            <a:r>
              <a:rPr lang="fr-FR" sz="2900" dirty="0" err="1">
                <a:solidFill>
                  <a:srgbClr val="414141"/>
                </a:solidFill>
                <a:latin typeface="Palatino"/>
              </a:rPr>
              <a:t>read</a:t>
            </a:r>
            <a:r>
              <a:rPr lang="fr-FR" sz="2900" dirty="0">
                <a:solidFill>
                  <a:srgbClr val="414141"/>
                </a:solidFill>
                <a:latin typeface="Palatino"/>
              </a:rPr>
              <a:t> lit son entrée standard et affecte les valeurs saisies dans la ou les variables passées en argument.</a:t>
            </a:r>
          </a:p>
          <a:p>
            <a:pPr marL="0" marR="0" lvl="0" indent="0" algn="l" defTabSz="914400" rtl="0" eaLnBrk="0" fontAlgn="base" latinLnBrk="0" hangingPunct="0">
              <a:lnSpc>
                <a:spcPct val="150000"/>
              </a:lnSpc>
              <a:spcBef>
                <a:spcPct val="0"/>
              </a:spcBef>
              <a:spcAft>
                <a:spcPct val="0"/>
              </a:spcAft>
              <a:buClrTx/>
              <a:buSzTx/>
              <a:buFontTx/>
              <a:buNone/>
              <a:tabLst/>
            </a:pPr>
            <a:endParaRPr lang="fr-FR" sz="2900" dirty="0">
              <a:solidFill>
                <a:srgbClr val="414141"/>
              </a:solidFill>
              <a:latin typeface="Palatino"/>
            </a:endParaRPr>
          </a:p>
          <a:p>
            <a:pPr marL="0" marR="0" lvl="0" indent="0" algn="l" defTabSz="914400" rtl="0" eaLnBrk="0" fontAlgn="base" latinLnBrk="0" hangingPunct="0">
              <a:lnSpc>
                <a:spcPct val="150000"/>
              </a:lnSpc>
              <a:spcBef>
                <a:spcPct val="0"/>
              </a:spcBef>
              <a:spcAft>
                <a:spcPct val="0"/>
              </a:spcAft>
              <a:buClrTx/>
              <a:buSzTx/>
              <a:buFontTx/>
              <a:buNone/>
              <a:tabLst/>
            </a:pPr>
            <a:endParaRPr lang="fr-FR" sz="2900" dirty="0">
              <a:solidFill>
                <a:srgbClr val="414141"/>
              </a:solidFill>
              <a:latin typeface="Palatino"/>
            </a:endParaRPr>
          </a:p>
          <a:p>
            <a:pPr>
              <a:lnSpc>
                <a:spcPct val="150000"/>
              </a:lnSpc>
            </a:pPr>
            <a:r>
              <a:rPr lang="fr-FR" sz="2900" dirty="0" smtClean="0">
                <a:solidFill>
                  <a:srgbClr val="414141"/>
                </a:solidFill>
                <a:latin typeface="Palatino"/>
              </a:rPr>
              <a:t>Affecte </a:t>
            </a:r>
            <a:r>
              <a:rPr lang="fr-FR" sz="2900" dirty="0">
                <a:solidFill>
                  <a:srgbClr val="414141"/>
                </a:solidFill>
                <a:latin typeface="Palatino"/>
              </a:rPr>
              <a:t>simultanément une valeur à plusieurs variables</a:t>
            </a:r>
          </a:p>
          <a:p>
            <a:pPr marL="0" indent="0">
              <a:lnSpc>
                <a:spcPct val="150000"/>
              </a:lnSpc>
              <a:buNone/>
            </a:pPr>
            <a:endParaRPr lang="fr-FR" sz="2900" dirty="0" smtClean="0">
              <a:solidFill>
                <a:srgbClr val="414141"/>
              </a:solidFill>
              <a:latin typeface="Palatino"/>
            </a:endParaRPr>
          </a:p>
          <a:p>
            <a:pPr marL="0" indent="0">
              <a:lnSpc>
                <a:spcPct val="150000"/>
              </a:lnSpc>
              <a:buNone/>
            </a:pPr>
            <a:endParaRPr lang="fr-FR" sz="2900" dirty="0">
              <a:solidFill>
                <a:srgbClr val="414141"/>
              </a:solidFill>
              <a:latin typeface="Palatino"/>
            </a:endParaRPr>
          </a:p>
          <a:p>
            <a:pPr>
              <a:lnSpc>
                <a:spcPct val="150000"/>
              </a:lnSpc>
            </a:pPr>
            <a:r>
              <a:rPr lang="fr-FR" sz="2900" dirty="0" smtClean="0">
                <a:solidFill>
                  <a:srgbClr val="414141"/>
                </a:solidFill>
                <a:latin typeface="Palatino"/>
              </a:rPr>
              <a:t>affiche </a:t>
            </a:r>
            <a:r>
              <a:rPr lang="fr-FR" sz="2900" dirty="0">
                <a:solidFill>
                  <a:srgbClr val="414141"/>
                </a:solidFill>
                <a:latin typeface="Palatino"/>
              </a:rPr>
              <a:t>un message de </a:t>
            </a:r>
            <a:r>
              <a:rPr lang="fr-FR" sz="2900" dirty="0" smtClean="0">
                <a:solidFill>
                  <a:srgbClr val="414141"/>
                </a:solidFill>
                <a:latin typeface="Palatino"/>
              </a:rPr>
              <a:t>prompt : -p</a:t>
            </a:r>
            <a:endParaRPr lang="fr-FR" sz="2900" dirty="0">
              <a:solidFill>
                <a:srgbClr val="414141"/>
              </a:solidFill>
              <a:latin typeface="Palatino"/>
            </a:endParaRPr>
          </a:p>
          <a:p>
            <a:pPr>
              <a:lnSpc>
                <a:spcPct val="150000"/>
              </a:lnSpc>
            </a:pPr>
            <a:endParaRPr lang="fr-FR" sz="2100" dirty="0">
              <a:solidFill>
                <a:srgbClr val="333333"/>
              </a:solidFill>
              <a:cs typeface="Arial" panose="020B0604020202020204" pitchFamily="34" charset="0"/>
            </a:endParaRPr>
          </a:p>
          <a:p>
            <a:pPr>
              <a:lnSpc>
                <a:spcPct val="150000"/>
              </a:lnSpc>
            </a:pPr>
            <a:endParaRPr lang="fr-FR" sz="2100" dirty="0">
              <a:solidFill>
                <a:srgbClr val="333333"/>
              </a:solidFill>
              <a:cs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endParaRPr lang="fr-FR" sz="2100" dirty="0">
              <a:solidFill>
                <a:srgbClr val="333333"/>
              </a:solidFill>
              <a:cs typeface="Arial" panose="020B0604020202020204" pitchFamily="34" charset="0"/>
            </a:endParaRPr>
          </a:p>
        </p:txBody>
      </p:sp>
      <p:sp>
        <p:nvSpPr>
          <p:cNvPr id="6" name="Rectangle 5"/>
          <p:cNvSpPr>
            <a:spLocks noChangeArrowheads="1"/>
          </p:cNvSpPr>
          <p:nvPr/>
        </p:nvSpPr>
        <p:spPr bwMode="auto">
          <a:xfrm>
            <a:off x="3817870" y="3484264"/>
            <a:ext cx="3999606" cy="923330"/>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algn="l" defTabSz="914400"/>
            <a:r>
              <a:rPr lang="fr-FR" sz="2000" dirty="0">
                <a:solidFill>
                  <a:schemeClr val="bg1"/>
                </a:solidFill>
                <a:latin typeface="Courier New" panose="02070309020205020404" pitchFamily="49" charset="0"/>
              </a:rPr>
              <a:t>#!/bin/</a:t>
            </a:r>
            <a:r>
              <a:rPr lang="fr-FR" sz="2000" dirty="0" err="1">
                <a:solidFill>
                  <a:schemeClr val="bg1"/>
                </a:solidFill>
                <a:latin typeface="Courier New" panose="02070309020205020404" pitchFamily="49" charset="0"/>
              </a:rPr>
              <a:t>bash</a:t>
            </a:r>
            <a:r>
              <a:rPr lang="fr-FR" sz="2000" dirty="0">
                <a:solidFill>
                  <a:schemeClr val="bg1"/>
                </a:solidFill>
                <a:latin typeface="Courier New" panose="02070309020205020404" pitchFamily="49" charset="0"/>
              </a:rPr>
              <a:t> </a:t>
            </a:r>
          </a:p>
          <a:p>
            <a:pPr algn="l" defTabSz="914400"/>
            <a:r>
              <a:rPr lang="fr-FR" sz="2000" dirty="0" err="1">
                <a:solidFill>
                  <a:schemeClr val="bg1"/>
                </a:solidFill>
                <a:latin typeface="Courier New" panose="02070309020205020404" pitchFamily="49" charset="0"/>
              </a:rPr>
              <a:t>read</a:t>
            </a:r>
            <a:r>
              <a:rPr lang="fr-FR" sz="2000" dirty="0">
                <a:solidFill>
                  <a:schemeClr val="bg1"/>
                </a:solidFill>
                <a:latin typeface="Courier New" panose="02070309020205020404" pitchFamily="49" charset="0"/>
              </a:rPr>
              <a:t> nom </a:t>
            </a:r>
            <a:r>
              <a:rPr lang="fr-FR" sz="2000" dirty="0" err="1">
                <a:solidFill>
                  <a:schemeClr val="bg1"/>
                </a:solidFill>
                <a:latin typeface="Courier New" panose="02070309020205020404" pitchFamily="49" charset="0"/>
              </a:rPr>
              <a:t>echo</a:t>
            </a:r>
            <a:r>
              <a:rPr lang="fr-FR" sz="2000" dirty="0">
                <a:solidFill>
                  <a:schemeClr val="bg1"/>
                </a:solidFill>
                <a:latin typeface="Courier New" panose="02070309020205020404" pitchFamily="49" charset="0"/>
              </a:rPr>
              <a:t> "Bonjour $nom "</a:t>
            </a:r>
          </a:p>
        </p:txBody>
      </p:sp>
      <p:sp>
        <p:nvSpPr>
          <p:cNvPr id="7" name="Rectangle 6"/>
          <p:cNvSpPr>
            <a:spLocks noChangeArrowheads="1"/>
          </p:cNvSpPr>
          <p:nvPr/>
        </p:nvSpPr>
        <p:spPr bwMode="auto">
          <a:xfrm>
            <a:off x="3817870" y="5463309"/>
            <a:ext cx="4823854" cy="923330"/>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algn="l" defTabSz="914400"/>
            <a:r>
              <a:rPr lang="fr-FR" sz="2000" dirty="0">
                <a:solidFill>
                  <a:schemeClr val="bg1"/>
                </a:solidFill>
                <a:latin typeface="Courier New" panose="02070309020205020404" pitchFamily="49" charset="0"/>
              </a:rPr>
              <a:t>#!/bin/</a:t>
            </a:r>
            <a:r>
              <a:rPr lang="fr-FR" sz="2000" dirty="0" err="1">
                <a:solidFill>
                  <a:schemeClr val="bg1"/>
                </a:solidFill>
                <a:latin typeface="Courier New" panose="02070309020205020404" pitchFamily="49" charset="0"/>
              </a:rPr>
              <a:t>bash</a:t>
            </a:r>
            <a:r>
              <a:rPr lang="fr-FR" sz="2000" dirty="0">
                <a:solidFill>
                  <a:schemeClr val="bg1"/>
                </a:solidFill>
                <a:latin typeface="Courier New" panose="02070309020205020404" pitchFamily="49" charset="0"/>
              </a:rPr>
              <a:t> </a:t>
            </a:r>
          </a:p>
          <a:p>
            <a:pPr algn="l" defTabSz="914400"/>
            <a:r>
              <a:rPr lang="fr-FR" sz="2000" dirty="0" err="1">
                <a:solidFill>
                  <a:schemeClr val="bg1"/>
                </a:solidFill>
                <a:latin typeface="Courier New" panose="02070309020205020404" pitchFamily="49" charset="0"/>
              </a:rPr>
              <a:t>read</a:t>
            </a:r>
            <a:r>
              <a:rPr lang="fr-FR" sz="2000" dirty="0">
                <a:solidFill>
                  <a:schemeClr val="bg1"/>
                </a:solidFill>
                <a:latin typeface="Courier New" panose="02070309020205020404" pitchFamily="49" charset="0"/>
              </a:rPr>
              <a:t> nom </a:t>
            </a:r>
            <a:r>
              <a:rPr lang="fr-FR" sz="2000" dirty="0" err="1">
                <a:solidFill>
                  <a:schemeClr val="bg1"/>
                </a:solidFill>
                <a:latin typeface="Courier New" panose="02070309020205020404" pitchFamily="49" charset="0"/>
              </a:rPr>
              <a:t>prenom</a:t>
            </a:r>
            <a:r>
              <a:rPr lang="fr-FR" sz="2000" dirty="0">
                <a:solidFill>
                  <a:schemeClr val="bg1"/>
                </a:solidFill>
                <a:latin typeface="Courier New" panose="02070309020205020404" pitchFamily="49" charset="0"/>
              </a:rPr>
              <a:t> </a:t>
            </a:r>
            <a:r>
              <a:rPr lang="fr-FR" sz="2000" dirty="0" err="1">
                <a:solidFill>
                  <a:schemeClr val="bg1"/>
                </a:solidFill>
                <a:latin typeface="Courier New" panose="02070309020205020404" pitchFamily="49" charset="0"/>
              </a:rPr>
              <a:t>echo</a:t>
            </a:r>
            <a:r>
              <a:rPr lang="fr-FR" sz="2000" dirty="0">
                <a:solidFill>
                  <a:schemeClr val="bg1"/>
                </a:solidFill>
                <a:latin typeface="Courier New" panose="02070309020205020404" pitchFamily="49" charset="0"/>
              </a:rPr>
              <a:t> "Bonjour $nom $</a:t>
            </a:r>
            <a:r>
              <a:rPr lang="fr-FR" sz="2000" dirty="0" err="1">
                <a:solidFill>
                  <a:schemeClr val="bg1"/>
                </a:solidFill>
                <a:latin typeface="Courier New" panose="02070309020205020404" pitchFamily="49" charset="0"/>
              </a:rPr>
              <a:t>prenom</a:t>
            </a:r>
            <a:r>
              <a:rPr lang="fr-FR" sz="2000" dirty="0">
                <a:solidFill>
                  <a:schemeClr val="bg1"/>
                </a:solidFill>
                <a:latin typeface="Courier New" panose="02070309020205020404" pitchFamily="49" charset="0"/>
              </a:rPr>
              <a:t>"</a:t>
            </a:r>
          </a:p>
        </p:txBody>
      </p:sp>
      <p:sp>
        <p:nvSpPr>
          <p:cNvPr id="8" name="Rectangle 7"/>
          <p:cNvSpPr>
            <a:spLocks noChangeArrowheads="1"/>
          </p:cNvSpPr>
          <p:nvPr/>
        </p:nvSpPr>
        <p:spPr bwMode="auto">
          <a:xfrm>
            <a:off x="3817870" y="7574970"/>
            <a:ext cx="5970074" cy="923330"/>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algn="l" defTabSz="914400"/>
            <a:r>
              <a:rPr lang="fr-FR" sz="2000" dirty="0">
                <a:solidFill>
                  <a:schemeClr val="bg1"/>
                </a:solidFill>
                <a:latin typeface="Courier New" panose="02070309020205020404" pitchFamily="49" charset="0"/>
              </a:rPr>
              <a:t>#!/bin/</a:t>
            </a:r>
            <a:r>
              <a:rPr lang="fr-FR" sz="2000" dirty="0" err="1">
                <a:solidFill>
                  <a:schemeClr val="bg1"/>
                </a:solidFill>
                <a:latin typeface="Courier New" panose="02070309020205020404" pitchFamily="49" charset="0"/>
              </a:rPr>
              <a:t>bash</a:t>
            </a:r>
            <a:r>
              <a:rPr lang="fr-FR" sz="2000" dirty="0">
                <a:solidFill>
                  <a:schemeClr val="bg1"/>
                </a:solidFill>
                <a:latin typeface="Courier New" panose="02070309020205020404" pitchFamily="49" charset="0"/>
              </a:rPr>
              <a:t> </a:t>
            </a:r>
          </a:p>
          <a:p>
            <a:pPr algn="l" defTabSz="914400"/>
            <a:r>
              <a:rPr lang="fr-FR" sz="2000" dirty="0" err="1">
                <a:solidFill>
                  <a:schemeClr val="bg1"/>
                </a:solidFill>
                <a:latin typeface="Courier New" panose="02070309020205020404" pitchFamily="49" charset="0"/>
              </a:rPr>
              <a:t>read</a:t>
            </a:r>
            <a:r>
              <a:rPr lang="fr-FR" sz="2000" dirty="0">
                <a:solidFill>
                  <a:schemeClr val="bg1"/>
                </a:solidFill>
                <a:latin typeface="Courier New" panose="02070309020205020404" pitchFamily="49" charset="0"/>
              </a:rPr>
              <a:t> -p 'Entrez votre nom : ' nom </a:t>
            </a:r>
            <a:r>
              <a:rPr lang="fr-FR" sz="2000" dirty="0" err="1">
                <a:solidFill>
                  <a:schemeClr val="bg1"/>
                </a:solidFill>
                <a:latin typeface="Courier New" panose="02070309020205020404" pitchFamily="49" charset="0"/>
              </a:rPr>
              <a:t>echo</a:t>
            </a:r>
            <a:r>
              <a:rPr lang="fr-FR" sz="2000" dirty="0">
                <a:solidFill>
                  <a:schemeClr val="bg1"/>
                </a:solidFill>
                <a:latin typeface="Courier New" panose="02070309020205020404" pitchFamily="49" charset="0"/>
              </a:rPr>
              <a:t> "Bonjour $nom "</a:t>
            </a:r>
          </a:p>
        </p:txBody>
      </p:sp>
    </p:spTree>
    <p:extLst>
      <p:ext uri="{BB962C8B-B14F-4D97-AF65-F5344CB8AC3E}">
        <p14:creationId xmlns="" xmlns:p14="http://schemas.microsoft.com/office/powerpoint/2010/main" val="4213294390"/>
      </p:ext>
    </p:extLst>
  </p:cSld>
  <p:clrMapOvr>
    <a:masterClrMapping/>
  </p:clrMapOvr>
  <p:transition spd="med"/>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smtClean="0"/>
              <a:t>Exemple </a:t>
            </a:r>
            <a:endParaRPr lang="fr-FR" dirty="0"/>
          </a:p>
        </p:txBody>
      </p:sp>
      <p:pic>
        <p:nvPicPr>
          <p:cNvPr id="4" name="Picture 2" descr="C:\Users\Samir CHERIF\Desktop\Sans titreç.jpg"/>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4802262" y="5824305"/>
            <a:ext cx="6762966" cy="3650465"/>
          </a:xfrm>
          <a:prstGeom prst="rect">
            <a:avLst/>
          </a:prstGeom>
          <a:noFill/>
          <a:ln>
            <a:solidFill>
              <a:schemeClr val="bg1"/>
            </a:solidFill>
          </a:ln>
          <a:extLst>
            <a:ext uri="{909E8E84-426E-40DD-AFC4-6F175D3DCCD1}">
              <a14:hiddenFill xmlns="" xmlns:a14="http://schemas.microsoft.com/office/drawing/2010/main">
                <a:solidFill>
                  <a:srgbClr val="FFFFFF"/>
                </a:solidFill>
              </a14:hiddenFill>
            </a:ext>
          </a:extLst>
        </p:spPr>
      </p:pic>
      <p:pic>
        <p:nvPicPr>
          <p:cNvPr id="5" name="Picture 3" descr="C:\Users\Samir CHERIF\Desktop\Sans titre.jpg"/>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618185" y="2394462"/>
            <a:ext cx="6636823" cy="4314650"/>
          </a:xfrm>
          <a:prstGeom prst="rect">
            <a:avLst/>
          </a:prstGeom>
          <a:noFill/>
          <a:ln>
            <a:solidFill>
              <a:schemeClr val="bg1"/>
            </a:solidFill>
          </a:ln>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57714539"/>
      </p:ext>
    </p:extLst>
  </p:cSld>
  <p:clrMapOvr>
    <a:masterClrMapping/>
  </p:clrMapOvr>
  <p:transition spd="med"/>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8000" y="774343"/>
            <a:ext cx="11988800" cy="1219200"/>
          </a:xfrm>
        </p:spPr>
        <p:txBody>
          <a:bodyPr>
            <a:normAutofit fontScale="90000"/>
          </a:bodyPr>
          <a:lstStyle/>
          <a:p>
            <a:r>
              <a:rPr lang="fr-FR" b="1" dirty="0"/>
              <a:t>Les variables </a:t>
            </a:r>
            <a:r>
              <a:rPr lang="fr-FR" b="1" dirty="0" smtClean="0"/>
              <a:t>d'environnement</a:t>
            </a:r>
            <a:endParaRPr lang="fr-FR" dirty="0"/>
          </a:p>
        </p:txBody>
      </p:sp>
      <p:sp>
        <p:nvSpPr>
          <p:cNvPr id="4" name="Rectangle 1"/>
          <p:cNvSpPr>
            <a:spLocks noGrp="1" noChangeArrowheads="1"/>
          </p:cNvSpPr>
          <p:nvPr>
            <p:ph type="body" idx="1"/>
          </p:nvPr>
        </p:nvSpPr>
        <p:spPr bwMode="auto">
          <a:xfrm>
            <a:off x="319110" y="1869732"/>
            <a:ext cx="11838546" cy="4685898"/>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26979" tIns="0" rIns="26979" bIns="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defTabSz="914400" hangingPunct="0">
              <a:lnSpc>
                <a:spcPct val="150000"/>
              </a:lnSpc>
              <a:buClrTx/>
              <a:buSzTx/>
            </a:pPr>
            <a:r>
              <a:rPr lang="fr-FR" sz="2900" dirty="0">
                <a:solidFill>
                  <a:srgbClr val="414141"/>
                </a:solidFill>
                <a:latin typeface="Palatino"/>
              </a:rPr>
              <a:t>une variable définie dans un programme A ne sera pas utilisable dans un programme B.</a:t>
            </a:r>
          </a:p>
          <a:p>
            <a:pPr lvl="2" defTabSz="914400" hangingPunct="0">
              <a:lnSpc>
                <a:spcPct val="150000"/>
              </a:lnSpc>
              <a:buClrTx/>
              <a:buSzTx/>
            </a:pPr>
            <a:r>
              <a:rPr lang="fr-FR" sz="2900" dirty="0">
                <a:solidFill>
                  <a:srgbClr val="414141"/>
                </a:solidFill>
                <a:latin typeface="Palatino"/>
              </a:rPr>
              <a:t>Les variables d'environnement sont des variables que l'on peut utiliser dans n'importe quel programme. On parle aussi parfois de variables globales.</a:t>
            </a:r>
          </a:p>
          <a:p>
            <a:pPr lvl="3" defTabSz="914400" hangingPunct="0">
              <a:lnSpc>
                <a:spcPct val="150000"/>
              </a:lnSpc>
              <a:buClrTx/>
              <a:buSzTx/>
              <a:buFont typeface="Wingdings" panose="05000000000000000000" pitchFamily="2" charset="2"/>
              <a:buChar char="Ø"/>
            </a:pPr>
            <a:r>
              <a:rPr lang="fr-FR" sz="2900" dirty="0">
                <a:solidFill>
                  <a:srgbClr val="414141"/>
                </a:solidFill>
                <a:latin typeface="Palatino"/>
              </a:rPr>
              <a:t>la commande </a:t>
            </a:r>
            <a:r>
              <a:rPr lang="fr-FR" sz="2900" dirty="0" err="1">
                <a:solidFill>
                  <a:srgbClr val="414141"/>
                </a:solidFill>
                <a:latin typeface="Palatino"/>
              </a:rPr>
              <a:t>env</a:t>
            </a:r>
            <a:r>
              <a:rPr lang="fr-FR" sz="2900" dirty="0">
                <a:solidFill>
                  <a:srgbClr val="414141"/>
                </a:solidFill>
                <a:latin typeface="Palatino"/>
              </a:rPr>
              <a:t> </a:t>
            </a:r>
            <a:r>
              <a:rPr lang="fr-FR" sz="2900" dirty="0" smtClean="0">
                <a:solidFill>
                  <a:srgbClr val="414141"/>
                </a:solidFill>
                <a:latin typeface="Palatino"/>
              </a:rPr>
              <a:t>:</a:t>
            </a:r>
            <a:endParaRPr lang="fr-FR" sz="2900" dirty="0">
              <a:solidFill>
                <a:srgbClr val="414141"/>
              </a:solidFill>
              <a:latin typeface="Palatino"/>
            </a:endParaRPr>
          </a:p>
          <a:p>
            <a:pPr defTabSz="914400" hangingPunct="0">
              <a:lnSpc>
                <a:spcPct val="150000"/>
              </a:lnSpc>
              <a:buClrTx/>
              <a:buSzTx/>
            </a:pPr>
            <a:endParaRPr lang="fr-FR" sz="2900" dirty="0">
              <a:solidFill>
                <a:srgbClr val="414141"/>
              </a:solidFill>
              <a:latin typeface="Palatino"/>
            </a:endParaRPr>
          </a:p>
        </p:txBody>
      </p:sp>
      <p:sp>
        <p:nvSpPr>
          <p:cNvPr id="5" name="Rectangle 4"/>
          <p:cNvSpPr>
            <a:spLocks noChangeArrowheads="1"/>
          </p:cNvSpPr>
          <p:nvPr/>
        </p:nvSpPr>
        <p:spPr bwMode="auto">
          <a:xfrm>
            <a:off x="5140101" y="5673758"/>
            <a:ext cx="7644328" cy="3693319"/>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marL="180000" algn="l" defTabSz="914400">
              <a:lnSpc>
                <a:spcPct val="150000"/>
              </a:lnSpc>
            </a:pPr>
            <a:r>
              <a:rPr lang="fr-FR" sz="2000" dirty="0">
                <a:solidFill>
                  <a:schemeClr val="bg1"/>
                </a:solidFill>
                <a:latin typeface="Courier New" panose="02070309020205020404" pitchFamily="49" charset="0"/>
              </a:rPr>
              <a:t>$ </a:t>
            </a:r>
            <a:r>
              <a:rPr lang="fr-FR" sz="2000" dirty="0" err="1">
                <a:solidFill>
                  <a:schemeClr val="bg1"/>
                </a:solidFill>
                <a:latin typeface="Courier New" panose="02070309020205020404" pitchFamily="49" charset="0"/>
              </a:rPr>
              <a:t>printenv</a:t>
            </a:r>
            <a:r>
              <a:rPr lang="fr-FR" sz="2000" dirty="0">
                <a:solidFill>
                  <a:schemeClr val="bg1"/>
                </a:solidFill>
                <a:latin typeface="Courier New" panose="02070309020205020404" pitchFamily="49" charset="0"/>
              </a:rPr>
              <a:t> </a:t>
            </a:r>
          </a:p>
          <a:p>
            <a:pPr marL="180000" algn="l" defTabSz="914400">
              <a:lnSpc>
                <a:spcPct val="150000"/>
              </a:lnSpc>
            </a:pPr>
            <a:r>
              <a:rPr lang="fr-FR" sz="2000" dirty="0" smtClean="0">
                <a:solidFill>
                  <a:schemeClr val="bg1"/>
                </a:solidFill>
                <a:latin typeface="Courier New" panose="02070309020205020404" pitchFamily="49" charset="0"/>
              </a:rPr>
              <a:t>TERM=</a:t>
            </a:r>
            <a:r>
              <a:rPr lang="fr-FR" sz="2000" dirty="0" err="1" smtClean="0">
                <a:solidFill>
                  <a:schemeClr val="bg1"/>
                </a:solidFill>
                <a:latin typeface="Courier New" panose="02070309020205020404" pitchFamily="49" charset="0"/>
              </a:rPr>
              <a:t>xterm</a:t>
            </a:r>
            <a:r>
              <a:rPr lang="fr-FR" sz="2000" dirty="0" smtClean="0">
                <a:solidFill>
                  <a:schemeClr val="bg1"/>
                </a:solidFill>
                <a:latin typeface="Courier New" panose="02070309020205020404" pitchFamily="49" charset="0"/>
              </a:rPr>
              <a:t> </a:t>
            </a:r>
            <a:endParaRPr lang="fr-FR" sz="2000" dirty="0">
              <a:solidFill>
                <a:schemeClr val="bg1"/>
              </a:solidFill>
              <a:latin typeface="Courier New" panose="02070309020205020404" pitchFamily="49" charset="0"/>
            </a:endParaRPr>
          </a:p>
          <a:p>
            <a:pPr marL="180000" algn="l" defTabSz="914400">
              <a:lnSpc>
                <a:spcPct val="150000"/>
              </a:lnSpc>
            </a:pPr>
            <a:r>
              <a:rPr lang="fr-FR" sz="2000" dirty="0">
                <a:solidFill>
                  <a:schemeClr val="bg1"/>
                </a:solidFill>
                <a:latin typeface="Courier New" panose="02070309020205020404" pitchFamily="49" charset="0"/>
              </a:rPr>
              <a:t>SHELL=/bin/</a:t>
            </a:r>
            <a:r>
              <a:rPr lang="fr-FR" sz="2000" dirty="0" err="1">
                <a:solidFill>
                  <a:schemeClr val="bg1"/>
                </a:solidFill>
                <a:latin typeface="Courier New" panose="02070309020205020404" pitchFamily="49" charset="0"/>
              </a:rPr>
              <a:t>bash</a:t>
            </a:r>
            <a:r>
              <a:rPr lang="fr-FR" sz="2000" dirty="0">
                <a:solidFill>
                  <a:schemeClr val="bg1"/>
                </a:solidFill>
                <a:latin typeface="Courier New" panose="02070309020205020404" pitchFamily="49" charset="0"/>
              </a:rPr>
              <a:t> </a:t>
            </a:r>
          </a:p>
          <a:p>
            <a:pPr marL="180000" algn="l" defTabSz="914400">
              <a:lnSpc>
                <a:spcPct val="150000"/>
              </a:lnSpc>
            </a:pPr>
            <a:r>
              <a:rPr lang="fr-FR" sz="2000" dirty="0">
                <a:solidFill>
                  <a:schemeClr val="bg1"/>
                </a:solidFill>
                <a:latin typeface="Courier New" panose="02070309020205020404" pitchFamily="49" charset="0"/>
              </a:rPr>
              <a:t>USER=ESPRIT</a:t>
            </a:r>
          </a:p>
          <a:p>
            <a:pPr marL="180000" algn="l" defTabSz="914400">
              <a:lnSpc>
                <a:spcPct val="150000"/>
              </a:lnSpc>
            </a:pPr>
            <a:r>
              <a:rPr lang="fr-FR" sz="2000" dirty="0">
                <a:solidFill>
                  <a:schemeClr val="bg1"/>
                </a:solidFill>
                <a:latin typeface="Courier New" panose="02070309020205020404" pitchFamily="49" charset="0"/>
              </a:rPr>
              <a:t>PATH=/home/esprit/bin:/</a:t>
            </a:r>
            <a:r>
              <a:rPr lang="fr-FR" sz="2000" dirty="0" err="1">
                <a:solidFill>
                  <a:schemeClr val="bg1"/>
                </a:solidFill>
                <a:latin typeface="Courier New" panose="02070309020205020404" pitchFamily="49" charset="0"/>
              </a:rPr>
              <a:t>usr</a:t>
            </a:r>
            <a:r>
              <a:rPr lang="fr-FR" sz="2000" dirty="0">
                <a:solidFill>
                  <a:schemeClr val="bg1"/>
                </a:solidFill>
                <a:latin typeface="Courier New" panose="02070309020205020404" pitchFamily="49" charset="0"/>
              </a:rPr>
              <a:t>/local/</a:t>
            </a:r>
            <a:r>
              <a:rPr lang="fr-FR" sz="2000" dirty="0" err="1">
                <a:solidFill>
                  <a:schemeClr val="bg1"/>
                </a:solidFill>
                <a:latin typeface="Courier New" panose="02070309020205020404" pitchFamily="49" charset="0"/>
              </a:rPr>
              <a:t>sbin</a:t>
            </a:r>
            <a:r>
              <a:rPr lang="fr-FR" sz="2000" dirty="0">
                <a:solidFill>
                  <a:schemeClr val="bg1"/>
                </a:solidFill>
                <a:latin typeface="Courier New" panose="02070309020205020404" pitchFamily="49" charset="0"/>
              </a:rPr>
              <a:t>:/</a:t>
            </a:r>
            <a:r>
              <a:rPr lang="fr-FR" sz="2000" dirty="0" err="1">
                <a:solidFill>
                  <a:schemeClr val="bg1"/>
                </a:solidFill>
                <a:latin typeface="Courier New" panose="02070309020205020404" pitchFamily="49" charset="0"/>
              </a:rPr>
              <a:t>usr</a:t>
            </a:r>
            <a:r>
              <a:rPr lang="fr-FR" sz="2000" dirty="0">
                <a:solidFill>
                  <a:schemeClr val="bg1"/>
                </a:solidFill>
                <a:latin typeface="Courier New" panose="02070309020205020404" pitchFamily="49" charset="0"/>
              </a:rPr>
              <a:t>/local/bin:/</a:t>
            </a:r>
            <a:r>
              <a:rPr lang="fr-FR" sz="2000" dirty="0" err="1">
                <a:solidFill>
                  <a:schemeClr val="bg1"/>
                </a:solidFill>
                <a:latin typeface="Courier New" panose="02070309020205020404" pitchFamily="49" charset="0"/>
              </a:rPr>
              <a:t>usr</a:t>
            </a:r>
            <a:r>
              <a:rPr lang="fr-FR" sz="2000" dirty="0">
                <a:solidFill>
                  <a:schemeClr val="bg1"/>
                </a:solidFill>
                <a:latin typeface="Courier New" panose="02070309020205020404" pitchFamily="49" charset="0"/>
              </a:rPr>
              <a:t>/</a:t>
            </a:r>
            <a:r>
              <a:rPr lang="fr-FR" sz="2000" dirty="0" err="1">
                <a:solidFill>
                  <a:schemeClr val="bg1"/>
                </a:solidFill>
                <a:latin typeface="Courier New" panose="02070309020205020404" pitchFamily="49" charset="0"/>
              </a:rPr>
              <a:t>sbin</a:t>
            </a:r>
            <a:r>
              <a:rPr lang="fr-FR" sz="2000" dirty="0">
                <a:solidFill>
                  <a:schemeClr val="bg1"/>
                </a:solidFill>
                <a:latin typeface="Courier New" panose="02070309020205020404" pitchFamily="49" charset="0"/>
              </a:rPr>
              <a:t>: PWD=/home/mateo21/bin</a:t>
            </a:r>
          </a:p>
          <a:p>
            <a:pPr marL="180000" algn="l" defTabSz="914400">
              <a:lnSpc>
                <a:spcPct val="150000"/>
              </a:lnSpc>
            </a:pPr>
            <a:r>
              <a:rPr lang="fr-FR" sz="2000" dirty="0">
                <a:solidFill>
                  <a:schemeClr val="bg1"/>
                </a:solidFill>
                <a:latin typeface="Courier New" panose="02070309020205020404" pitchFamily="49" charset="0"/>
              </a:rPr>
              <a:t>EDITOR=nano </a:t>
            </a:r>
          </a:p>
          <a:p>
            <a:pPr marL="180000" algn="l" defTabSz="914400">
              <a:lnSpc>
                <a:spcPct val="150000"/>
              </a:lnSpc>
            </a:pPr>
            <a:r>
              <a:rPr lang="fr-FR" sz="2000" dirty="0">
                <a:solidFill>
                  <a:schemeClr val="bg1"/>
                </a:solidFill>
                <a:latin typeface="Courier New" panose="02070309020205020404" pitchFamily="49" charset="0"/>
              </a:rPr>
              <a:t>HOME=/home/esprit</a:t>
            </a:r>
          </a:p>
        </p:txBody>
      </p:sp>
    </p:spTree>
    <p:extLst>
      <p:ext uri="{BB962C8B-B14F-4D97-AF65-F5344CB8AC3E}">
        <p14:creationId xmlns="" xmlns:p14="http://schemas.microsoft.com/office/powerpoint/2010/main" val="71486581"/>
      </p:ext>
    </p:extLst>
  </p:cSld>
  <p:clrMapOvr>
    <a:masterClrMapping/>
  </p:clrMapOvr>
  <p:transition spd="med"/>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b="1" dirty="0"/>
              <a:t>Les variables d'environnement</a:t>
            </a:r>
            <a:endParaRPr lang="fr-FR" dirty="0"/>
          </a:p>
        </p:txBody>
      </p:sp>
      <p:sp>
        <p:nvSpPr>
          <p:cNvPr id="4" name="Rectangle 1"/>
          <p:cNvSpPr>
            <a:spLocks noGrp="1" noChangeArrowheads="1"/>
          </p:cNvSpPr>
          <p:nvPr>
            <p:ph type="body" idx="1"/>
          </p:nvPr>
        </p:nvSpPr>
        <p:spPr bwMode="auto">
          <a:xfrm>
            <a:off x="735527" y="2962771"/>
            <a:ext cx="11533746" cy="510139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26979" tIns="0" rIns="26979" bIns="0" numCol="1" anchor="ctr" anchorCtr="0" compatLnSpc="1">
            <a:prstTxWarp prst="textNoShape">
              <a:avLst/>
            </a:prstTxWarp>
            <a:spAutoFit/>
          </a:bodyPr>
          <a:lstStyle/>
          <a:p>
            <a:pPr marL="0" lvl="0" indent="0" defTabSz="914400" eaLnBrk="0" fontAlgn="base" hangingPunct="0">
              <a:lnSpc>
                <a:spcPct val="150000"/>
              </a:lnSpc>
              <a:spcBef>
                <a:spcPct val="0"/>
              </a:spcBef>
              <a:spcAft>
                <a:spcPct val="0"/>
              </a:spcAft>
              <a:buClrTx/>
              <a:buSzTx/>
              <a:buFontTx/>
              <a:buChar char="•"/>
            </a:pPr>
            <a:r>
              <a:rPr lang="fr-FR" sz="2900" dirty="0"/>
              <a:t>SHELL : indique quel type de </a:t>
            </a:r>
            <a:r>
              <a:rPr lang="fr-FR" sz="2900" dirty="0" err="1"/>
              <a:t>shell</a:t>
            </a:r>
            <a:r>
              <a:rPr lang="fr-FR" sz="2900" dirty="0"/>
              <a:t> est en cours d'utilisation (sh, </a:t>
            </a:r>
            <a:r>
              <a:rPr lang="fr-FR" sz="2900" dirty="0" err="1"/>
              <a:t>bash</a:t>
            </a:r>
            <a:r>
              <a:rPr lang="fr-FR" sz="2900" dirty="0"/>
              <a:t>, </a:t>
            </a:r>
            <a:r>
              <a:rPr lang="fr-FR" sz="2900" dirty="0" err="1"/>
              <a:t>ksh</a:t>
            </a:r>
            <a:r>
              <a:rPr lang="fr-FR" sz="2900" dirty="0"/>
              <a:t>…) ;</a:t>
            </a:r>
          </a:p>
          <a:p>
            <a:pPr marL="0" lvl="0" indent="0" defTabSz="914400" eaLnBrk="0" fontAlgn="base" hangingPunct="0">
              <a:lnSpc>
                <a:spcPct val="150000"/>
              </a:lnSpc>
              <a:spcBef>
                <a:spcPct val="0"/>
              </a:spcBef>
              <a:spcAft>
                <a:spcPct val="0"/>
              </a:spcAft>
              <a:buClrTx/>
              <a:buSzTx/>
              <a:buFontTx/>
              <a:buChar char="•"/>
            </a:pPr>
            <a:r>
              <a:rPr lang="fr-FR" sz="2900" dirty="0"/>
              <a:t>PATH : une liste des répertoires qui contiennent des exécutables que vous souhaitez pouvoir lancer sans indiquer leur répertoire.</a:t>
            </a:r>
          </a:p>
          <a:p>
            <a:pPr marL="0" lvl="0" indent="0" defTabSz="914400" eaLnBrk="0" fontAlgn="base" hangingPunct="0">
              <a:lnSpc>
                <a:spcPct val="150000"/>
              </a:lnSpc>
              <a:spcBef>
                <a:spcPct val="0"/>
              </a:spcBef>
              <a:spcAft>
                <a:spcPct val="0"/>
              </a:spcAft>
              <a:buClrTx/>
              <a:buSzTx/>
              <a:buFontTx/>
              <a:buChar char="•"/>
            </a:pPr>
            <a:r>
              <a:rPr lang="fr-FR" sz="2900" dirty="0" smtClean="0"/>
              <a:t>HOME</a:t>
            </a:r>
            <a:r>
              <a:rPr lang="fr-FR" sz="2900" dirty="0"/>
              <a:t> : la position de votre </a:t>
            </a:r>
            <a:r>
              <a:rPr lang="fr-FR" sz="2900" dirty="0" smtClean="0"/>
              <a:t>dossier home</a:t>
            </a:r>
            <a:r>
              <a:rPr lang="fr-FR" sz="2900" dirty="0"/>
              <a:t> ;</a:t>
            </a:r>
          </a:p>
          <a:p>
            <a:pPr marL="0" lvl="0" indent="0" defTabSz="914400" eaLnBrk="0" fontAlgn="base" hangingPunct="0">
              <a:lnSpc>
                <a:spcPct val="150000"/>
              </a:lnSpc>
              <a:spcBef>
                <a:spcPct val="0"/>
              </a:spcBef>
              <a:spcAft>
                <a:spcPct val="0"/>
              </a:spcAft>
              <a:buClrTx/>
              <a:buSzTx/>
              <a:buFontTx/>
              <a:buChar char="•"/>
            </a:pPr>
            <a:r>
              <a:rPr lang="fr-FR" sz="2900" dirty="0"/>
              <a:t>PWD : le dossier dans lequel vous vous trouvez ;</a:t>
            </a:r>
          </a:p>
          <a:p>
            <a:pPr marL="0" lvl="0" indent="0" defTabSz="914400" eaLnBrk="0" fontAlgn="base" hangingPunct="0">
              <a:lnSpc>
                <a:spcPct val="150000"/>
              </a:lnSpc>
              <a:spcBef>
                <a:spcPct val="0"/>
              </a:spcBef>
              <a:spcAft>
                <a:spcPct val="0"/>
              </a:spcAft>
              <a:buClrTx/>
              <a:buSzTx/>
              <a:buFontTx/>
              <a:buChar char="•"/>
            </a:pPr>
            <a:r>
              <a:rPr lang="fr-FR" sz="2900" dirty="0"/>
              <a:t>OLDPWD : le dossier dans lequel vous vous trouviez auparavant</a:t>
            </a:r>
            <a:r>
              <a:rPr lang="fr-FR" sz="2900" dirty="0" smtClean="0"/>
              <a:t>.</a:t>
            </a:r>
            <a:endParaRPr lang="fr-FR" sz="2700" b="1" dirty="0">
              <a:solidFill>
                <a:srgbClr val="333333"/>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2700" b="0" i="0" u="none" strike="noStrike" cap="none" normalizeH="0" baseline="0" dirty="0" smtClean="0">
              <a:ln>
                <a:noFill/>
              </a:ln>
              <a:solidFill>
                <a:schemeClr val="tx1"/>
              </a:solidFill>
              <a:effectLst/>
              <a:latin typeface="Arial" panose="020B0604020202020204" pitchFamily="34" charset="0"/>
            </a:endParaRPr>
          </a:p>
        </p:txBody>
      </p:sp>
      <p:sp>
        <p:nvSpPr>
          <p:cNvPr id="6" name="Rectangle 5"/>
          <p:cNvSpPr>
            <a:spLocks noChangeArrowheads="1"/>
          </p:cNvSpPr>
          <p:nvPr/>
        </p:nvSpPr>
        <p:spPr bwMode="auto">
          <a:xfrm>
            <a:off x="244697" y="8476228"/>
            <a:ext cx="6774288" cy="830997"/>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marL="180000" algn="l" defTabSz="914400">
              <a:lnSpc>
                <a:spcPct val="150000"/>
              </a:lnSpc>
            </a:pPr>
            <a:r>
              <a:rPr lang="fr-FR" sz="1800" dirty="0">
                <a:solidFill>
                  <a:schemeClr val="bg1"/>
                </a:solidFill>
                <a:latin typeface="Courier New" panose="02070309020205020404" pitchFamily="49" charset="0"/>
              </a:rPr>
              <a:t>#!/bin/</a:t>
            </a:r>
            <a:r>
              <a:rPr lang="fr-FR" sz="1800" dirty="0" err="1">
                <a:solidFill>
                  <a:schemeClr val="bg1"/>
                </a:solidFill>
                <a:latin typeface="Courier New" panose="02070309020205020404" pitchFamily="49" charset="0"/>
              </a:rPr>
              <a:t>bash</a:t>
            </a:r>
            <a:r>
              <a:rPr lang="fr-FR" sz="1800" dirty="0">
                <a:solidFill>
                  <a:schemeClr val="bg1"/>
                </a:solidFill>
                <a:latin typeface="Courier New" panose="02070309020205020404" pitchFamily="49" charset="0"/>
              </a:rPr>
              <a:t> </a:t>
            </a:r>
          </a:p>
          <a:p>
            <a:pPr marL="180000" algn="l" defTabSz="914400">
              <a:lnSpc>
                <a:spcPct val="150000"/>
              </a:lnSpc>
            </a:pPr>
            <a:r>
              <a:rPr lang="fr-FR" sz="1800" dirty="0" err="1">
                <a:solidFill>
                  <a:schemeClr val="bg1"/>
                </a:solidFill>
                <a:latin typeface="Courier New" panose="02070309020205020404" pitchFamily="49" charset="0"/>
              </a:rPr>
              <a:t>echo</a:t>
            </a:r>
            <a:r>
              <a:rPr lang="fr-FR" sz="1800" dirty="0">
                <a:solidFill>
                  <a:schemeClr val="bg1"/>
                </a:solidFill>
                <a:latin typeface="Courier New" panose="02070309020205020404" pitchFamily="49" charset="0"/>
              </a:rPr>
              <a:t> "Votre </a:t>
            </a:r>
            <a:r>
              <a:rPr lang="fr-FR" sz="1800" dirty="0" err="1" smtClean="0">
                <a:solidFill>
                  <a:schemeClr val="bg1"/>
                </a:solidFill>
                <a:latin typeface="Courier New" panose="02070309020205020404" pitchFamily="49" charset="0"/>
              </a:rPr>
              <a:t>shell</a:t>
            </a:r>
            <a:r>
              <a:rPr lang="fr-FR" sz="1800" dirty="0">
                <a:solidFill>
                  <a:schemeClr val="bg1"/>
                </a:solidFill>
                <a:latin typeface="Courier New" panose="02070309020205020404" pitchFamily="49" charset="0"/>
              </a:rPr>
              <a:t> par défaut est </a:t>
            </a:r>
            <a:r>
              <a:rPr lang="fr-FR" sz="1800" dirty="0" smtClean="0">
                <a:solidFill>
                  <a:schemeClr val="bg1"/>
                </a:solidFill>
                <a:latin typeface="Courier New" panose="02070309020205020404" pitchFamily="49" charset="0"/>
              </a:rPr>
              <a:t>$SHELL"</a:t>
            </a:r>
            <a:endParaRPr lang="fr-FR" sz="1800" dirty="0">
              <a:solidFill>
                <a:schemeClr val="bg1"/>
              </a:solidFill>
              <a:latin typeface="Courier New" panose="02070309020205020404" pitchFamily="49" charset="0"/>
            </a:endParaRPr>
          </a:p>
        </p:txBody>
      </p:sp>
    </p:spTree>
    <p:extLst>
      <p:ext uri="{BB962C8B-B14F-4D97-AF65-F5344CB8AC3E}">
        <p14:creationId xmlns="" xmlns:p14="http://schemas.microsoft.com/office/powerpoint/2010/main" val="3927982184"/>
      </p:ext>
    </p:extLst>
  </p:cSld>
  <p:clrMapOvr>
    <a:masterClrMapping/>
  </p:clrMapOvr>
  <p:transition spd="med"/>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b="1" dirty="0"/>
              <a:t>Les variables </a:t>
            </a:r>
            <a:r>
              <a:rPr lang="fr-FR" b="1" dirty="0" smtClean="0"/>
              <a:t>spéciales</a:t>
            </a:r>
            <a:endParaRPr lang="fr-FR" dirty="0"/>
          </a:p>
        </p:txBody>
      </p:sp>
      <p:sp>
        <p:nvSpPr>
          <p:cNvPr id="3" name="Text Placeholder 2"/>
          <p:cNvSpPr>
            <a:spLocks noGrp="1"/>
          </p:cNvSpPr>
          <p:nvPr>
            <p:ph type="body" idx="1"/>
          </p:nvPr>
        </p:nvSpPr>
        <p:spPr>
          <a:xfrm>
            <a:off x="314816" y="1923783"/>
            <a:ext cx="11988800" cy="2768956"/>
          </a:xfrm>
        </p:spPr>
        <p:txBody>
          <a:bodyPr/>
          <a:lstStyle/>
          <a:p>
            <a:r>
              <a:rPr lang="fr-FR" dirty="0"/>
              <a:t>Le </a:t>
            </a:r>
            <a:r>
              <a:rPr lang="fr-FR" dirty="0" smtClean="0"/>
              <a:t>script </a:t>
            </a:r>
            <a:r>
              <a:rPr lang="fr-FR" dirty="0" err="1"/>
              <a:t>shell</a:t>
            </a:r>
            <a:r>
              <a:rPr lang="fr-FR" dirty="0"/>
              <a:t> récupère les </a:t>
            </a:r>
            <a:r>
              <a:rPr lang="fr-FR" dirty="0" smtClean="0"/>
              <a:t>arguments (paramètres) de </a:t>
            </a:r>
            <a:r>
              <a:rPr lang="fr-FR" dirty="0"/>
              <a:t>la ligne de commande dans des variables réservées appelées </a:t>
            </a:r>
            <a:r>
              <a:rPr lang="fr-FR" dirty="0" smtClean="0"/>
              <a:t>Paramètres </a:t>
            </a:r>
            <a:r>
              <a:rPr lang="fr-FR" dirty="0"/>
              <a:t>Positionnels</a:t>
            </a:r>
          </a:p>
        </p:txBody>
      </p:sp>
      <p:graphicFrame>
        <p:nvGraphicFramePr>
          <p:cNvPr id="5" name="Table 4"/>
          <p:cNvGraphicFramePr>
            <a:graphicFrameLocks noGrp="1"/>
          </p:cNvGraphicFramePr>
          <p:nvPr>
            <p:extLst>
              <p:ext uri="{D42A27DB-BD31-4B8C-83A1-F6EECF244321}">
                <p14:modId xmlns="" xmlns:p14="http://schemas.microsoft.com/office/powerpoint/2010/main" val="3405958924"/>
              </p:ext>
            </p:extLst>
          </p:nvPr>
        </p:nvGraphicFramePr>
        <p:xfrm>
          <a:off x="1265943" y="4304763"/>
          <a:ext cx="9681098" cy="1752600"/>
        </p:xfrm>
        <a:graphic>
          <a:graphicData uri="http://schemas.openxmlformats.org/drawingml/2006/table">
            <a:tbl>
              <a:tblPr firstRow="1" bandRow="1">
                <a:tableStyleId>{5940675A-B579-460E-94D1-54222C63F5DA}</a:tableStyleId>
              </a:tblPr>
              <a:tblGrid>
                <a:gridCol w="4840549"/>
                <a:gridCol w="4840549"/>
              </a:tblGrid>
              <a:tr h="370840">
                <a:tc>
                  <a:txBody>
                    <a:bodyPr/>
                    <a:lstStyle/>
                    <a:p>
                      <a:r>
                        <a:rPr lang="fr-FR" dirty="0" smtClean="0"/>
                        <a:t>$#</a:t>
                      </a:r>
                      <a:endParaRPr lang="fr-FR" dirty="0"/>
                    </a:p>
                  </a:txBody>
                  <a:tcPr/>
                </a:tc>
                <a:tc>
                  <a:txBody>
                    <a:bodyPr/>
                    <a:lstStyle/>
                    <a:p>
                      <a:r>
                        <a:rPr lang="fr-FR" dirty="0" smtClean="0"/>
                        <a:t>Nombre d’arguments reçus par le script</a:t>
                      </a:r>
                      <a:endParaRPr lang="fr-FR" dirty="0"/>
                    </a:p>
                  </a:txBody>
                  <a:tcPr/>
                </a:tc>
              </a:tr>
              <a:tr h="370840">
                <a:tc>
                  <a:txBody>
                    <a:bodyPr/>
                    <a:lstStyle/>
                    <a:p>
                      <a:r>
                        <a:rPr lang="fr-FR" dirty="0" smtClean="0"/>
                        <a:t>$0</a:t>
                      </a:r>
                      <a:endParaRPr lang="fr-FR" dirty="0"/>
                    </a:p>
                  </a:txBody>
                  <a:tcPr/>
                </a:tc>
                <a:tc>
                  <a:txBody>
                    <a:bodyPr/>
                    <a:lstStyle/>
                    <a:p>
                      <a:pPr marL="0" marR="0" indent="0" algn="ctr" defTabSz="584200" eaLnBrk="1" fontAlgn="auto" latinLnBrk="0" hangingPunct="1">
                        <a:lnSpc>
                          <a:spcPct val="100000"/>
                        </a:lnSpc>
                        <a:spcBef>
                          <a:spcPts val="0"/>
                        </a:spcBef>
                        <a:spcAft>
                          <a:spcPts val="0"/>
                        </a:spcAft>
                        <a:buClrTx/>
                        <a:buSzTx/>
                        <a:buFontTx/>
                        <a:buNone/>
                        <a:tabLst/>
                        <a:defRPr/>
                      </a:pPr>
                      <a:r>
                        <a:rPr lang="fr-FR" dirty="0" smtClean="0"/>
                        <a:t>Le nom du script lui-même (./script.sh)</a:t>
                      </a:r>
                    </a:p>
                  </a:txBody>
                  <a:tcPr/>
                </a:tc>
              </a:tr>
              <a:tr h="370840">
                <a:tc>
                  <a:txBody>
                    <a:bodyPr/>
                    <a:lstStyle/>
                    <a:p>
                      <a:r>
                        <a:rPr lang="fr-FR" dirty="0" smtClean="0"/>
                        <a:t>$1 $2 … $9 ${10}</a:t>
                      </a:r>
                      <a:endParaRPr lang="fr-FR" dirty="0"/>
                    </a:p>
                  </a:txBody>
                  <a:tcPr/>
                </a:tc>
                <a:tc>
                  <a:txBody>
                    <a:bodyPr/>
                    <a:lstStyle/>
                    <a:p>
                      <a:r>
                        <a:rPr lang="fr-FR" dirty="0" smtClean="0"/>
                        <a:t>$1 est la valeur du premier argument, $2 la valeur du second….</a:t>
                      </a:r>
                      <a:endParaRPr lang="fr-FR" dirty="0"/>
                    </a:p>
                  </a:txBody>
                  <a:tcPr/>
                </a:tc>
              </a:tr>
              <a:tr h="370840">
                <a:tc>
                  <a:txBody>
                    <a:bodyPr/>
                    <a:lstStyle/>
                    <a:p>
                      <a:r>
                        <a:rPr lang="fr-FR" dirty="0" smtClean="0"/>
                        <a:t>$*</a:t>
                      </a:r>
                      <a:endParaRPr lang="fr-FR" dirty="0"/>
                    </a:p>
                  </a:txBody>
                  <a:tcPr/>
                </a:tc>
                <a:tc>
                  <a:txBody>
                    <a:bodyPr/>
                    <a:lstStyle/>
                    <a:p>
                      <a:r>
                        <a:rPr lang="fr-FR" dirty="0" smtClean="0"/>
                        <a:t>Liste des arguments</a:t>
                      </a:r>
                      <a:endParaRPr lang="fr-FR" dirty="0"/>
                    </a:p>
                  </a:txBody>
                  <a:tcPr/>
                </a:tc>
              </a:tr>
            </a:tbl>
          </a:graphicData>
        </a:graphic>
      </p:graphicFrame>
      <p:pic>
        <p:nvPicPr>
          <p:cNvPr id="1028" name="Picture 4"/>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796712" y="6617368"/>
            <a:ext cx="5869515" cy="149615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5637918" y="8354151"/>
            <a:ext cx="7145743" cy="10981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733970754"/>
      </p:ext>
    </p:extLst>
  </p:cSld>
  <p:clrMapOvr>
    <a:masterClrMapping/>
  </p:clrMapOvr>
  <p:transition spd="med"/>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dirty="0" smtClean="0"/>
              <a:t>Tableaux</a:t>
            </a:r>
            <a:endParaRPr lang="fr-FR" dirty="0"/>
          </a:p>
        </p:txBody>
      </p:sp>
      <p:sp>
        <p:nvSpPr>
          <p:cNvPr id="3" name="Text Placeholder 2"/>
          <p:cNvSpPr>
            <a:spLocks noGrp="1"/>
          </p:cNvSpPr>
          <p:nvPr>
            <p:ph type="body" idx="1"/>
          </p:nvPr>
        </p:nvSpPr>
        <p:spPr>
          <a:xfrm>
            <a:off x="508000" y="2340125"/>
            <a:ext cx="11988800" cy="6546986"/>
          </a:xfrm>
        </p:spPr>
        <p:txBody>
          <a:bodyPr>
            <a:normAutofit fontScale="55000" lnSpcReduction="20000"/>
          </a:bodyPr>
          <a:lstStyle/>
          <a:p>
            <a:r>
              <a:rPr lang="fr-FR" sz="5300" dirty="0" smtClean="0"/>
              <a:t>Trois </a:t>
            </a:r>
            <a:r>
              <a:rPr lang="fr-FR" sz="5300" dirty="0"/>
              <a:t>méthodes pour créer un tableau</a:t>
            </a:r>
          </a:p>
          <a:p>
            <a:pPr lvl="1">
              <a:lnSpc>
                <a:spcPct val="150000"/>
              </a:lnSpc>
              <a:buFont typeface="Wingdings" panose="05000000000000000000" pitchFamily="2" charset="2"/>
              <a:buChar char="Ø"/>
            </a:pPr>
            <a:r>
              <a:rPr lang="fr-FR" sz="5300" dirty="0"/>
              <a:t>Avec la commande </a:t>
            </a:r>
            <a:r>
              <a:rPr lang="fr-FR" sz="5300" dirty="0" err="1"/>
              <a:t>declare</a:t>
            </a:r>
            <a:r>
              <a:rPr lang="fr-FR" sz="5300" dirty="0"/>
              <a:t> et l'option -a </a:t>
            </a:r>
            <a:r>
              <a:rPr lang="fr-FR" sz="5300" dirty="0" smtClean="0"/>
              <a:t>:</a:t>
            </a:r>
            <a:endParaRPr lang="fr-FR" sz="5300" dirty="0"/>
          </a:p>
          <a:p>
            <a:pPr lvl="1">
              <a:lnSpc>
                <a:spcPct val="150000"/>
              </a:lnSpc>
              <a:buFont typeface="Wingdings" panose="05000000000000000000" pitchFamily="2" charset="2"/>
              <a:buChar char="Ø"/>
            </a:pPr>
            <a:r>
              <a:rPr lang="fr-FR" sz="5300" dirty="0"/>
              <a:t>Directement </a:t>
            </a:r>
            <a:r>
              <a:rPr lang="fr-FR" sz="5300" dirty="0" smtClean="0"/>
              <a:t>: =</a:t>
            </a:r>
            <a:endParaRPr lang="fr-FR" sz="5300" dirty="0"/>
          </a:p>
          <a:p>
            <a:pPr lvl="1">
              <a:lnSpc>
                <a:spcPct val="150000"/>
              </a:lnSpc>
              <a:buFont typeface="Wingdings" panose="05000000000000000000" pitchFamily="2" charset="2"/>
              <a:buChar char="Ø"/>
            </a:pPr>
            <a:r>
              <a:rPr lang="fr-FR" sz="5300" dirty="0"/>
              <a:t>Autre syntaxe :</a:t>
            </a:r>
          </a:p>
          <a:p>
            <a:endParaRPr lang="fr-FR" sz="5300" dirty="0"/>
          </a:p>
          <a:p>
            <a:r>
              <a:rPr lang="fr-FR" sz="5300" dirty="0"/>
              <a:t>Assigner un élément</a:t>
            </a:r>
          </a:p>
          <a:p>
            <a:endParaRPr lang="fr-FR" sz="5300" dirty="0"/>
          </a:p>
          <a:p>
            <a:r>
              <a:rPr lang="fr-FR" sz="5300" dirty="0"/>
              <a:t>Affichage de les éléments d’indice 0 et d’indice 2</a:t>
            </a:r>
            <a:r>
              <a:rPr lang="fr-FR" sz="2400" i="1" dirty="0" smtClean="0"/>
              <a:t>:</a:t>
            </a:r>
            <a:endParaRPr lang="fr-FR" sz="2400" dirty="0" smtClean="0"/>
          </a:p>
          <a:p>
            <a:pPr marL="0" indent="0">
              <a:buNone/>
            </a:pPr>
            <a:r>
              <a:rPr lang="fr-FR" sz="2400" dirty="0"/>
              <a:t/>
            </a:r>
            <a:br>
              <a:rPr lang="fr-FR" sz="2400" dirty="0"/>
            </a:br>
            <a:endParaRPr lang="fr-FR" sz="2400" dirty="0"/>
          </a:p>
        </p:txBody>
      </p:sp>
      <p:sp>
        <p:nvSpPr>
          <p:cNvPr id="6" name="Rectangle 5"/>
          <p:cNvSpPr>
            <a:spLocks noChangeArrowheads="1"/>
          </p:cNvSpPr>
          <p:nvPr/>
        </p:nvSpPr>
        <p:spPr bwMode="auto">
          <a:xfrm>
            <a:off x="1429554" y="3765256"/>
            <a:ext cx="8822028" cy="276999"/>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defTabSz="914400" eaLnBrk="0" fontAlgn="base">
              <a:spcBef>
                <a:spcPct val="0"/>
              </a:spcBef>
              <a:spcAft>
                <a:spcPct val="0"/>
              </a:spcAft>
            </a:pPr>
            <a:r>
              <a:rPr lang="fr-FR" sz="1800" dirty="0" err="1">
                <a:solidFill>
                  <a:schemeClr val="bg1"/>
                </a:solidFill>
                <a:latin typeface="Courier New" panose="02070309020205020404" pitchFamily="49" charset="0"/>
              </a:rPr>
              <a:t>declare</a:t>
            </a:r>
            <a:r>
              <a:rPr lang="fr-FR" sz="1800" dirty="0">
                <a:solidFill>
                  <a:schemeClr val="bg1"/>
                </a:solidFill>
                <a:latin typeface="Courier New" panose="02070309020205020404" pitchFamily="49" charset="0"/>
              </a:rPr>
              <a:t> -a nom-tableau=(valeur0 valeur1 valeur2 </a:t>
            </a:r>
            <a:r>
              <a:rPr lang="fr-FR" sz="1800" dirty="0" smtClean="0">
                <a:solidFill>
                  <a:schemeClr val="bg1"/>
                </a:solidFill>
                <a:latin typeface="Courier New" panose="02070309020205020404" pitchFamily="49" charset="0"/>
              </a:rPr>
              <a:t>...)</a:t>
            </a:r>
            <a:endParaRPr lang="fr-FR" sz="1800" dirty="0">
              <a:solidFill>
                <a:schemeClr val="bg1"/>
              </a:solidFill>
              <a:latin typeface="Courier New" panose="02070309020205020404" pitchFamily="49" charset="0"/>
            </a:endParaRPr>
          </a:p>
        </p:txBody>
      </p:sp>
      <p:sp>
        <p:nvSpPr>
          <p:cNvPr id="8" name="Rectangle 7"/>
          <p:cNvSpPr>
            <a:spLocks noChangeArrowheads="1"/>
          </p:cNvSpPr>
          <p:nvPr/>
        </p:nvSpPr>
        <p:spPr bwMode="auto">
          <a:xfrm>
            <a:off x="1429554" y="4635335"/>
            <a:ext cx="8822028" cy="276999"/>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defTabSz="914400" eaLnBrk="0" fontAlgn="base">
              <a:spcBef>
                <a:spcPct val="0"/>
              </a:spcBef>
              <a:spcAft>
                <a:spcPct val="0"/>
              </a:spcAft>
            </a:pPr>
            <a:r>
              <a:rPr lang="fr-FR" sz="1800" dirty="0">
                <a:solidFill>
                  <a:schemeClr val="bg1"/>
                </a:solidFill>
                <a:latin typeface="Courier New" panose="02070309020205020404" pitchFamily="49" charset="0"/>
              </a:rPr>
              <a:t>nom-tableau(valeur0 valeur1 </a:t>
            </a:r>
            <a:r>
              <a:rPr lang="fr-FR" sz="1800" dirty="0" smtClean="0">
                <a:solidFill>
                  <a:schemeClr val="bg1"/>
                </a:solidFill>
                <a:latin typeface="Courier New" panose="02070309020205020404" pitchFamily="49" charset="0"/>
              </a:rPr>
              <a:t>...)</a:t>
            </a:r>
            <a:endParaRPr lang="fr-FR" sz="1800" dirty="0">
              <a:solidFill>
                <a:schemeClr val="bg1"/>
              </a:solidFill>
              <a:latin typeface="Courier New" panose="02070309020205020404" pitchFamily="49" charset="0"/>
            </a:endParaRPr>
          </a:p>
        </p:txBody>
      </p:sp>
      <p:sp>
        <p:nvSpPr>
          <p:cNvPr id="9" name="Rectangle 4"/>
          <p:cNvSpPr>
            <a:spLocks noChangeArrowheads="1"/>
          </p:cNvSpPr>
          <p:nvPr/>
        </p:nvSpPr>
        <p:spPr bwMode="auto">
          <a:xfrm>
            <a:off x="6502367" y="-22074"/>
            <a:ext cx="65" cy="501349"/>
          </a:xfrm>
          <a:prstGeom prst="rect">
            <a:avLst/>
          </a:prstGeom>
          <a:solidFill>
            <a:srgbClr val="FBFAF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0" tIns="0" rIns="0" bIns="222180" numCol="1" anchor="ctr" anchorCtr="0" compatLnSpc="1">
            <a:prstTxWarp prst="textNoShape">
              <a:avLst/>
            </a:prstTxWarp>
            <a:spAutoFit/>
          </a:bodyPr>
          <a:lstStyle>
            <a:lvl1pPr algn="l" eaLnBrk="0" fontAlgn="base">
              <a:spcBef>
                <a:spcPct val="0"/>
              </a:spcBef>
              <a:spcAft>
                <a:spcPct val="0"/>
              </a:spcAft>
              <a:defRPr>
                <a:solidFill>
                  <a:schemeClr val="tx1"/>
                </a:solidFill>
                <a:latin typeface="Arial" panose="020B0604020202020204" pitchFamily="34" charset="0"/>
              </a:defRPr>
            </a:lvl1pPr>
            <a:lvl2pPr marL="457200" algn="l" eaLnBrk="0" fontAlgn="base">
              <a:spcBef>
                <a:spcPct val="0"/>
              </a:spcBef>
              <a:spcAft>
                <a:spcPct val="0"/>
              </a:spcAft>
              <a:defRPr>
                <a:solidFill>
                  <a:schemeClr val="tx1"/>
                </a:solidFill>
                <a:latin typeface="Arial" panose="020B0604020202020204" pitchFamily="34" charset="0"/>
              </a:defRPr>
            </a:lvl2pPr>
            <a:lvl3pPr marL="914400" algn="l" eaLnBrk="0" fontAlgn="base">
              <a:spcBef>
                <a:spcPct val="0"/>
              </a:spcBef>
              <a:spcAft>
                <a:spcPct val="0"/>
              </a:spcAft>
              <a:defRPr>
                <a:solidFill>
                  <a:schemeClr val="tx1"/>
                </a:solidFill>
                <a:latin typeface="Arial" panose="020B0604020202020204" pitchFamily="34" charset="0"/>
              </a:defRPr>
            </a:lvl3pPr>
            <a:lvl4pPr marL="1371600" algn="l" eaLnBrk="0" fontAlgn="base">
              <a:spcBef>
                <a:spcPct val="0"/>
              </a:spcBef>
              <a:spcAft>
                <a:spcPct val="0"/>
              </a:spcAft>
              <a:defRPr>
                <a:solidFill>
                  <a:schemeClr val="tx1"/>
                </a:solidFill>
                <a:latin typeface="Arial" panose="020B0604020202020204" pitchFamily="34" charset="0"/>
              </a:defRPr>
            </a:lvl4pPr>
            <a:lvl5pPr marL="1828800" algn="l" eaLnBrk="0" fontAlgn="base">
              <a:spcBef>
                <a:spcPct val="0"/>
              </a:spcBef>
              <a:spcAft>
                <a:spcPct val="0"/>
              </a:spcAft>
              <a:defRPr>
                <a:solidFill>
                  <a:schemeClr val="tx1"/>
                </a:solidFill>
                <a:latin typeface="Arial" panose="020B0604020202020204" pitchFamily="34" charset="0"/>
              </a:defRPr>
            </a:lvl5pPr>
            <a:lvl6pPr marL="2286000" algn="l" eaLnBrk="0" fontAlgn="base">
              <a:spcBef>
                <a:spcPct val="0"/>
              </a:spcBef>
              <a:spcAft>
                <a:spcPct val="0"/>
              </a:spcAft>
              <a:defRPr>
                <a:solidFill>
                  <a:schemeClr val="tx1"/>
                </a:solidFill>
                <a:latin typeface="Arial" panose="020B0604020202020204" pitchFamily="34" charset="0"/>
              </a:defRPr>
            </a:lvl6pPr>
            <a:lvl7pPr marL="2743200" algn="l" eaLnBrk="0" fontAlgn="base">
              <a:spcBef>
                <a:spcPct val="0"/>
              </a:spcBef>
              <a:spcAft>
                <a:spcPct val="0"/>
              </a:spcAft>
              <a:defRPr>
                <a:solidFill>
                  <a:schemeClr val="tx1"/>
                </a:solidFill>
                <a:latin typeface="Arial" panose="020B0604020202020204" pitchFamily="34" charset="0"/>
              </a:defRPr>
            </a:lvl7pPr>
            <a:lvl8pPr marL="3200400" algn="l" eaLnBrk="0" fontAlgn="base">
              <a:spcBef>
                <a:spcPct val="0"/>
              </a:spcBef>
              <a:spcAft>
                <a:spcPct val="0"/>
              </a:spcAft>
              <a:defRPr>
                <a:solidFill>
                  <a:schemeClr val="tx1"/>
                </a:solidFill>
                <a:latin typeface="Arial" panose="020B0604020202020204" pitchFamily="34" charset="0"/>
              </a:defRPr>
            </a:lvl8pPr>
            <a:lvl9pPr marL="3657600" algn="l" eaLnBrk="0" fontAlgn="base">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smtClean="0">
              <a:ln>
                <a:noFill/>
              </a:ln>
              <a:solidFill>
                <a:schemeClr val="tx1"/>
              </a:solidFill>
              <a:effectLst/>
              <a:latin typeface="Arial" panose="020B0604020202020204" pitchFamily="34" charset="0"/>
            </a:endParaRPr>
          </a:p>
        </p:txBody>
      </p:sp>
      <p:sp>
        <p:nvSpPr>
          <p:cNvPr id="10" name="Rectangle 9"/>
          <p:cNvSpPr>
            <a:spLocks noChangeArrowheads="1"/>
          </p:cNvSpPr>
          <p:nvPr/>
        </p:nvSpPr>
        <p:spPr bwMode="auto">
          <a:xfrm>
            <a:off x="1429554" y="5659282"/>
            <a:ext cx="8822028" cy="276999"/>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defTabSz="914400" eaLnBrk="0" fontAlgn="base">
              <a:spcBef>
                <a:spcPct val="0"/>
              </a:spcBef>
              <a:spcAft>
                <a:spcPct val="0"/>
              </a:spcAft>
            </a:pPr>
            <a:r>
              <a:rPr lang="fr-FR" sz="1800" dirty="0">
                <a:solidFill>
                  <a:schemeClr val="bg1"/>
                </a:solidFill>
                <a:latin typeface="Courier New" panose="02070309020205020404" pitchFamily="49" charset="0"/>
              </a:rPr>
              <a:t>nom-tableau=([indice0]=valeur0 [indice1]=valeur1 ...)</a:t>
            </a:r>
          </a:p>
        </p:txBody>
      </p:sp>
      <p:sp>
        <p:nvSpPr>
          <p:cNvPr id="13" name="Rectangle 12"/>
          <p:cNvSpPr>
            <a:spLocks noChangeArrowheads="1"/>
          </p:cNvSpPr>
          <p:nvPr/>
        </p:nvSpPr>
        <p:spPr bwMode="auto">
          <a:xfrm>
            <a:off x="1429554" y="6875333"/>
            <a:ext cx="8822028" cy="276999"/>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a:r>
              <a:rPr lang="fr-FR" sz="1800" dirty="0" err="1">
                <a:solidFill>
                  <a:schemeClr val="bg1"/>
                </a:solidFill>
                <a:latin typeface="Courier New" panose="02070309020205020404" pitchFamily="49" charset="0"/>
              </a:rPr>
              <a:t>nomtableau</a:t>
            </a:r>
            <a:r>
              <a:rPr lang="fr-FR" sz="1800" dirty="0">
                <a:solidFill>
                  <a:schemeClr val="bg1"/>
                </a:solidFill>
                <a:latin typeface="Courier New" panose="02070309020205020404" pitchFamily="49" charset="0"/>
              </a:rPr>
              <a:t>[indice]=valeur </a:t>
            </a:r>
          </a:p>
        </p:txBody>
      </p:sp>
      <p:sp>
        <p:nvSpPr>
          <p:cNvPr id="16" name="Rectangle 15"/>
          <p:cNvSpPr>
            <a:spLocks noChangeArrowheads="1"/>
          </p:cNvSpPr>
          <p:nvPr/>
        </p:nvSpPr>
        <p:spPr bwMode="auto">
          <a:xfrm>
            <a:off x="1429554" y="7152332"/>
            <a:ext cx="8822028" cy="276999"/>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just" defTabSz="914400" eaLnBrk="0" fontAlgn="base">
              <a:spcBef>
                <a:spcPct val="0"/>
              </a:spcBef>
              <a:spcAft>
                <a:spcPct val="0"/>
              </a:spcAft>
            </a:pPr>
            <a:r>
              <a:rPr lang="fr-FR" sz="1800" dirty="0">
                <a:solidFill>
                  <a:schemeClr val="bg1"/>
                </a:solidFill>
                <a:latin typeface="Courier New" panose="02070309020205020404" pitchFamily="49" charset="0"/>
              </a:rPr>
              <a:t>$ tab[0]=10  $ tab[2]=12 </a:t>
            </a:r>
          </a:p>
        </p:txBody>
      </p:sp>
      <p:sp>
        <p:nvSpPr>
          <p:cNvPr id="17" name="Rectangle 8"/>
          <p:cNvSpPr>
            <a:spLocks noChangeArrowheads="1"/>
          </p:cNvSpPr>
          <p:nvPr/>
        </p:nvSpPr>
        <p:spPr bwMode="auto">
          <a:xfrm>
            <a:off x="6467914" y="-1242"/>
            <a:ext cx="68972" cy="459684"/>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68241" tIns="90459" rIns="0" bIns="90459"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smtClean="0">
              <a:ln>
                <a:noFill/>
              </a:ln>
              <a:solidFill>
                <a:schemeClr val="tx1"/>
              </a:solidFill>
              <a:effectLst/>
              <a:latin typeface="Arial" panose="020B0604020202020204" pitchFamily="34" charset="0"/>
            </a:endParaRPr>
          </a:p>
        </p:txBody>
      </p:sp>
      <p:sp>
        <p:nvSpPr>
          <p:cNvPr id="18" name="Rectangle 17"/>
          <p:cNvSpPr>
            <a:spLocks noChangeArrowheads="1"/>
          </p:cNvSpPr>
          <p:nvPr/>
        </p:nvSpPr>
        <p:spPr bwMode="auto">
          <a:xfrm>
            <a:off x="1429554" y="8285455"/>
            <a:ext cx="8822028" cy="553998"/>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a:r>
              <a:rPr lang="fr-FR" sz="1800" dirty="0">
                <a:solidFill>
                  <a:schemeClr val="bg1"/>
                </a:solidFill>
                <a:latin typeface="Courier New" panose="02070309020205020404" pitchFamily="49" charset="0"/>
              </a:rPr>
              <a:t>$ </a:t>
            </a:r>
            <a:r>
              <a:rPr lang="fr-FR" sz="1800" dirty="0" err="1">
                <a:solidFill>
                  <a:schemeClr val="bg1"/>
                </a:solidFill>
                <a:latin typeface="Courier New" panose="02070309020205020404" pitchFamily="49" charset="0"/>
              </a:rPr>
              <a:t>echo</a:t>
            </a:r>
            <a:r>
              <a:rPr lang="fr-FR" sz="1800" dirty="0">
                <a:solidFill>
                  <a:schemeClr val="bg1"/>
                </a:solidFill>
                <a:latin typeface="Courier New" panose="02070309020205020404" pitchFamily="49" charset="0"/>
              </a:rPr>
              <a:t> ${tab[0]} </a:t>
            </a:r>
            <a:endParaRPr lang="fr-FR" sz="1800" dirty="0" smtClean="0">
              <a:solidFill>
                <a:schemeClr val="bg1"/>
              </a:solidFill>
              <a:latin typeface="Courier New" panose="02070309020205020404" pitchFamily="49" charset="0"/>
            </a:endParaRPr>
          </a:p>
          <a:p>
            <a:pPr lvl="0" algn="l"/>
            <a:r>
              <a:rPr lang="fr-FR" sz="1800" dirty="0" smtClean="0">
                <a:solidFill>
                  <a:schemeClr val="bg1"/>
                </a:solidFill>
                <a:latin typeface="Courier New" panose="02070309020205020404" pitchFamily="49" charset="0"/>
              </a:rPr>
              <a:t> </a:t>
            </a:r>
            <a:r>
              <a:rPr lang="fr-FR" sz="1800" dirty="0">
                <a:solidFill>
                  <a:schemeClr val="bg1"/>
                </a:solidFill>
                <a:latin typeface="Courier New" panose="02070309020205020404" pitchFamily="49" charset="0"/>
              </a:rPr>
              <a:t>10 </a:t>
            </a:r>
          </a:p>
        </p:txBody>
      </p:sp>
      <p:sp>
        <p:nvSpPr>
          <p:cNvPr id="19" name="Rectangle 18"/>
          <p:cNvSpPr>
            <a:spLocks noChangeArrowheads="1"/>
          </p:cNvSpPr>
          <p:nvPr/>
        </p:nvSpPr>
        <p:spPr bwMode="auto">
          <a:xfrm>
            <a:off x="1429554" y="8839453"/>
            <a:ext cx="8822028" cy="553998"/>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a:r>
              <a:rPr lang="fr-FR" sz="1800" dirty="0">
                <a:solidFill>
                  <a:schemeClr val="bg1"/>
                </a:solidFill>
                <a:latin typeface="Courier New" panose="02070309020205020404" pitchFamily="49" charset="0"/>
              </a:rPr>
              <a:t>$ </a:t>
            </a:r>
            <a:r>
              <a:rPr lang="fr-FR" sz="1800" dirty="0" err="1">
                <a:solidFill>
                  <a:schemeClr val="bg1"/>
                </a:solidFill>
                <a:latin typeface="Courier New" panose="02070309020205020404" pitchFamily="49" charset="0"/>
              </a:rPr>
              <a:t>echo</a:t>
            </a:r>
            <a:r>
              <a:rPr lang="fr-FR" sz="1800" dirty="0">
                <a:solidFill>
                  <a:schemeClr val="bg1"/>
                </a:solidFill>
                <a:latin typeface="Courier New" panose="02070309020205020404" pitchFamily="49" charset="0"/>
              </a:rPr>
              <a:t> ${</a:t>
            </a:r>
            <a:r>
              <a:rPr lang="fr-FR" sz="1800" dirty="0" smtClean="0">
                <a:solidFill>
                  <a:schemeClr val="bg1"/>
                </a:solidFill>
                <a:latin typeface="Courier New" panose="02070309020205020404" pitchFamily="49" charset="0"/>
              </a:rPr>
              <a:t>tab[2]}</a:t>
            </a:r>
          </a:p>
          <a:p>
            <a:pPr lvl="0" algn="l"/>
            <a:r>
              <a:rPr lang="fr-FR" sz="1800" dirty="0">
                <a:solidFill>
                  <a:schemeClr val="bg1"/>
                </a:solidFill>
                <a:latin typeface="Courier New" panose="02070309020205020404" pitchFamily="49" charset="0"/>
              </a:rPr>
              <a:t> </a:t>
            </a:r>
            <a:r>
              <a:rPr lang="fr-FR" sz="1800" dirty="0" smtClean="0">
                <a:solidFill>
                  <a:schemeClr val="bg1"/>
                </a:solidFill>
                <a:latin typeface="Courier New" panose="02070309020205020404" pitchFamily="49" charset="0"/>
              </a:rPr>
              <a:t>12</a:t>
            </a:r>
            <a:endParaRPr lang="fr-FR" sz="1800" dirty="0">
              <a:solidFill>
                <a:schemeClr val="bg1"/>
              </a:solidFill>
              <a:latin typeface="Courier New" panose="02070309020205020404" pitchFamily="49" charset="0"/>
            </a:endParaRPr>
          </a:p>
        </p:txBody>
      </p:sp>
    </p:spTree>
    <p:extLst>
      <p:ext uri="{BB962C8B-B14F-4D97-AF65-F5344CB8AC3E}">
        <p14:creationId xmlns="" xmlns:p14="http://schemas.microsoft.com/office/powerpoint/2010/main" val="3413858562"/>
      </p:ext>
    </p:extLst>
  </p:cSld>
  <p:clrMapOvr>
    <a:masterClrMapping/>
  </p:clrMapOvr>
  <p:transition spd="med"/>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Tableaux</a:t>
            </a:r>
          </a:p>
        </p:txBody>
      </p:sp>
      <p:sp>
        <p:nvSpPr>
          <p:cNvPr id="3" name="Text Placeholder 2"/>
          <p:cNvSpPr>
            <a:spLocks noGrp="1"/>
          </p:cNvSpPr>
          <p:nvPr>
            <p:ph type="body" idx="1"/>
          </p:nvPr>
        </p:nvSpPr>
        <p:spPr>
          <a:xfrm>
            <a:off x="393520" y="2340713"/>
            <a:ext cx="11988800" cy="6721162"/>
          </a:xfrm>
        </p:spPr>
        <p:txBody>
          <a:bodyPr>
            <a:noAutofit/>
          </a:bodyPr>
          <a:lstStyle/>
          <a:p>
            <a:r>
              <a:rPr lang="fr-FR" sz="2900" b="1" dirty="0"/>
              <a:t>Valeurs de toutes les cases</a:t>
            </a:r>
          </a:p>
          <a:p>
            <a:pPr lvl="1">
              <a:buFont typeface="Wingdings" panose="05000000000000000000" pitchFamily="2" charset="2"/>
              <a:buChar char="Ø"/>
            </a:pPr>
            <a:r>
              <a:rPr lang="fr-FR" sz="2900" dirty="0"/>
              <a:t>Tous les éléments d'un tableau sont accessibles avec chacune de ces deux syntaxes </a:t>
            </a:r>
            <a:r>
              <a:rPr lang="fr-FR" sz="2900" dirty="0" smtClean="0"/>
              <a:t>:</a:t>
            </a:r>
          </a:p>
          <a:p>
            <a:pPr marL="469900" lvl="1" indent="0">
              <a:buNone/>
            </a:pPr>
            <a:endParaRPr lang="fr-FR" sz="1100" dirty="0"/>
          </a:p>
          <a:p>
            <a:r>
              <a:rPr lang="fr-FR" sz="2900" b="1" dirty="0" smtClean="0"/>
              <a:t>Nombre </a:t>
            </a:r>
            <a:r>
              <a:rPr lang="fr-FR" sz="2900" b="1" dirty="0"/>
              <a:t>d'éléments d'un tableau</a:t>
            </a:r>
          </a:p>
          <a:p>
            <a:pPr lvl="1">
              <a:buFont typeface="Wingdings" panose="05000000000000000000" pitchFamily="2" charset="2"/>
              <a:buChar char="Ø"/>
            </a:pPr>
            <a:r>
              <a:rPr lang="fr-FR" sz="2900" dirty="0"/>
              <a:t>Le nombre d'éléments d'un tableau est accessible par chacune de ces deux syntaxes </a:t>
            </a:r>
            <a:r>
              <a:rPr lang="fr-FR" sz="2900" dirty="0" smtClean="0"/>
              <a:t>:</a:t>
            </a:r>
          </a:p>
          <a:p>
            <a:pPr lvl="1">
              <a:buFont typeface="Wingdings" panose="05000000000000000000" pitchFamily="2" charset="2"/>
              <a:buChar char="Ø"/>
            </a:pPr>
            <a:endParaRPr lang="fr-FR" sz="1200" dirty="0"/>
          </a:p>
          <a:p>
            <a:r>
              <a:rPr lang="fr-FR" sz="2900" b="1" dirty="0" smtClean="0"/>
              <a:t>n° des cases utilisées</a:t>
            </a:r>
          </a:p>
          <a:p>
            <a:pPr lvl="1">
              <a:buFont typeface="Wingdings" panose="05000000000000000000" pitchFamily="2" charset="2"/>
              <a:buChar char="Ø"/>
            </a:pPr>
            <a:r>
              <a:rPr lang="fr-FR" sz="2900" dirty="0" smtClean="0"/>
              <a:t>Il est possible de récupérer le numéro des cases qui ont été  utilisées dans un tableau</a:t>
            </a:r>
            <a:endParaRPr lang="fr-FR" sz="2900" dirty="0"/>
          </a:p>
        </p:txBody>
      </p:sp>
      <p:sp>
        <p:nvSpPr>
          <p:cNvPr id="4" name="Rectangle 1"/>
          <p:cNvSpPr>
            <a:spLocks noChangeArrowheads="1"/>
          </p:cNvSpPr>
          <p:nvPr/>
        </p:nvSpPr>
        <p:spPr bwMode="auto">
          <a:xfrm>
            <a:off x="0" y="-22074"/>
            <a:ext cx="65" cy="501349"/>
          </a:xfrm>
          <a:prstGeom prst="rect">
            <a:avLst/>
          </a:prstGeom>
          <a:solidFill>
            <a:srgbClr val="FBFAF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0" tIns="0" rIns="0" bIns="22218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4"/>
          <p:cNvSpPr>
            <a:spLocks noChangeArrowheads="1"/>
          </p:cNvSpPr>
          <p:nvPr/>
        </p:nvSpPr>
        <p:spPr bwMode="auto">
          <a:xfrm>
            <a:off x="2846231" y="4393196"/>
            <a:ext cx="3026535" cy="276999"/>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a:r>
              <a:rPr lang="fr-FR" sz="1800" dirty="0">
                <a:solidFill>
                  <a:schemeClr val="bg1"/>
                </a:solidFill>
                <a:latin typeface="Courier New" panose="02070309020205020404" pitchFamily="49" charset="0"/>
              </a:rPr>
              <a:t>${nom-tableau[*]} </a:t>
            </a:r>
          </a:p>
        </p:txBody>
      </p:sp>
      <p:sp>
        <p:nvSpPr>
          <p:cNvPr id="6" name="Rectangle 5"/>
          <p:cNvSpPr>
            <a:spLocks noChangeArrowheads="1"/>
          </p:cNvSpPr>
          <p:nvPr/>
        </p:nvSpPr>
        <p:spPr bwMode="auto">
          <a:xfrm>
            <a:off x="6523149" y="4393195"/>
            <a:ext cx="3026535" cy="276999"/>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a:r>
              <a:rPr lang="fr-FR" sz="1800" dirty="0">
                <a:solidFill>
                  <a:schemeClr val="bg1"/>
                </a:solidFill>
                <a:latin typeface="Courier New" panose="02070309020205020404" pitchFamily="49" charset="0"/>
              </a:rPr>
              <a:t>${nom-tableau</a:t>
            </a:r>
            <a:r>
              <a:rPr lang="fr-FR" sz="1800" dirty="0" smtClean="0">
                <a:solidFill>
                  <a:schemeClr val="bg1"/>
                </a:solidFill>
                <a:latin typeface="Courier New" panose="02070309020205020404" pitchFamily="49" charset="0"/>
              </a:rPr>
              <a:t>[@]} </a:t>
            </a:r>
            <a:endParaRPr lang="fr-FR" sz="1800" dirty="0">
              <a:solidFill>
                <a:schemeClr val="bg1"/>
              </a:solidFill>
              <a:latin typeface="Courier New" panose="02070309020205020404" pitchFamily="49" charset="0"/>
            </a:endParaRPr>
          </a:p>
        </p:txBody>
      </p:sp>
      <p:sp>
        <p:nvSpPr>
          <p:cNvPr id="7" name="Rectangle 6"/>
          <p:cNvSpPr>
            <a:spLocks noChangeArrowheads="1"/>
          </p:cNvSpPr>
          <p:nvPr/>
        </p:nvSpPr>
        <p:spPr bwMode="auto">
          <a:xfrm>
            <a:off x="2846230" y="6690703"/>
            <a:ext cx="3026536" cy="276999"/>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a:r>
              <a:rPr lang="fr-FR" sz="1800" dirty="0">
                <a:solidFill>
                  <a:schemeClr val="bg1"/>
                </a:solidFill>
                <a:latin typeface="Courier New" panose="02070309020205020404" pitchFamily="49" charset="0"/>
              </a:rPr>
              <a:t>${#</a:t>
            </a:r>
            <a:r>
              <a:rPr lang="fr-FR" sz="1800" dirty="0" err="1">
                <a:solidFill>
                  <a:schemeClr val="bg1"/>
                </a:solidFill>
                <a:latin typeface="Courier New" panose="02070309020205020404" pitchFamily="49" charset="0"/>
              </a:rPr>
              <a:t>nomtableau</a:t>
            </a:r>
            <a:r>
              <a:rPr lang="fr-FR" sz="1800" dirty="0">
                <a:solidFill>
                  <a:schemeClr val="bg1"/>
                </a:solidFill>
                <a:latin typeface="Courier New" panose="02070309020205020404" pitchFamily="49" charset="0"/>
              </a:rPr>
              <a:t>[*]}</a:t>
            </a:r>
          </a:p>
        </p:txBody>
      </p:sp>
      <p:sp>
        <p:nvSpPr>
          <p:cNvPr id="8" name="Rectangle 7"/>
          <p:cNvSpPr>
            <a:spLocks noChangeArrowheads="1"/>
          </p:cNvSpPr>
          <p:nvPr/>
        </p:nvSpPr>
        <p:spPr bwMode="auto">
          <a:xfrm>
            <a:off x="6387920" y="6693858"/>
            <a:ext cx="3065172" cy="276999"/>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a:r>
              <a:rPr lang="fr-FR" sz="1800" dirty="0">
                <a:solidFill>
                  <a:schemeClr val="bg1"/>
                </a:solidFill>
                <a:latin typeface="Courier New" panose="02070309020205020404" pitchFamily="49" charset="0"/>
              </a:rPr>
              <a:t>${#</a:t>
            </a:r>
            <a:r>
              <a:rPr lang="fr-FR" sz="1800" dirty="0" err="1">
                <a:solidFill>
                  <a:schemeClr val="bg1"/>
                </a:solidFill>
                <a:latin typeface="Courier New" panose="02070309020205020404" pitchFamily="49" charset="0"/>
              </a:rPr>
              <a:t>nomtableau</a:t>
            </a:r>
            <a:r>
              <a:rPr lang="fr-FR" sz="1800" dirty="0" smtClean="0">
                <a:solidFill>
                  <a:schemeClr val="bg1"/>
                </a:solidFill>
                <a:latin typeface="Courier New" panose="02070309020205020404" pitchFamily="49" charset="0"/>
              </a:rPr>
              <a:t>[@]}</a:t>
            </a:r>
            <a:endParaRPr lang="fr-FR" sz="1800" dirty="0">
              <a:solidFill>
                <a:schemeClr val="bg1"/>
              </a:solidFill>
              <a:latin typeface="Courier New" panose="02070309020205020404" pitchFamily="49" charset="0"/>
            </a:endParaRPr>
          </a:p>
        </p:txBody>
      </p:sp>
      <p:sp>
        <p:nvSpPr>
          <p:cNvPr id="9" name="Rectangle 8"/>
          <p:cNvSpPr>
            <a:spLocks noChangeArrowheads="1"/>
          </p:cNvSpPr>
          <p:nvPr/>
        </p:nvSpPr>
        <p:spPr bwMode="auto">
          <a:xfrm>
            <a:off x="4662152" y="9061875"/>
            <a:ext cx="3142446" cy="276999"/>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a:r>
              <a:rPr lang="fr-FR" sz="1800" dirty="0">
                <a:solidFill>
                  <a:schemeClr val="bg1"/>
                </a:solidFill>
                <a:latin typeface="Courier New" panose="02070309020205020404" pitchFamily="49" charset="0"/>
              </a:rPr>
              <a:t>${!nom-tableau[*]}</a:t>
            </a:r>
          </a:p>
        </p:txBody>
      </p:sp>
    </p:spTree>
    <p:extLst>
      <p:ext uri="{BB962C8B-B14F-4D97-AF65-F5344CB8AC3E}">
        <p14:creationId xmlns="" xmlns:p14="http://schemas.microsoft.com/office/powerpoint/2010/main" val="1872860695"/>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Tableaux</a:t>
            </a:r>
          </a:p>
        </p:txBody>
      </p:sp>
      <p:sp>
        <p:nvSpPr>
          <p:cNvPr id="3" name="Text Placeholder 2"/>
          <p:cNvSpPr>
            <a:spLocks noGrp="1"/>
          </p:cNvSpPr>
          <p:nvPr>
            <p:ph type="body" idx="1"/>
          </p:nvPr>
        </p:nvSpPr>
        <p:spPr>
          <a:xfrm>
            <a:off x="508000" y="1984393"/>
            <a:ext cx="11988800" cy="2741590"/>
          </a:xfrm>
        </p:spPr>
        <p:txBody>
          <a:bodyPr/>
          <a:lstStyle/>
          <a:p>
            <a:pPr lvl="0"/>
            <a:r>
              <a:rPr lang="fr-FR" sz="2900" dirty="0"/>
              <a:t>A</a:t>
            </a:r>
            <a:r>
              <a:rPr lang="fr-FR" sz="2900" dirty="0" smtClean="0"/>
              <a:t>jout d’un </a:t>
            </a:r>
            <a:r>
              <a:rPr lang="fr-FR" sz="2900" dirty="0"/>
              <a:t>élément à </a:t>
            </a:r>
            <a:r>
              <a:rPr lang="fr-FR" sz="2900" dirty="0" smtClean="0"/>
              <a:t>la fin d’un </a:t>
            </a:r>
            <a:r>
              <a:rPr lang="fr-FR" sz="2900" dirty="0"/>
              <a:t>tableau</a:t>
            </a:r>
            <a:r>
              <a:rPr lang="fr-FR" sz="1900" dirty="0" smtClean="0">
                <a:solidFill>
                  <a:srgbClr val="333333"/>
                </a:solidFill>
                <a:latin typeface="Arial" panose="020B0604020202020204" pitchFamily="34" charset="0"/>
                <a:cs typeface="Arial" panose="020B0604020202020204" pitchFamily="34" charset="0"/>
              </a:rPr>
              <a:t>:</a:t>
            </a:r>
            <a:r>
              <a:rPr lang="fr-FR" dirty="0"/>
              <a:t/>
            </a:r>
            <a:br>
              <a:rPr lang="fr-FR" dirty="0"/>
            </a:br>
            <a:endParaRPr lang="fr-FR" dirty="0"/>
          </a:p>
        </p:txBody>
      </p:sp>
      <p:sp>
        <p:nvSpPr>
          <p:cNvPr id="4" name="Rectangle 1"/>
          <p:cNvSpPr>
            <a:spLocks noChangeArrowheads="1"/>
          </p:cNvSpPr>
          <p:nvPr/>
        </p:nvSpPr>
        <p:spPr bwMode="auto">
          <a:xfrm>
            <a:off x="0" y="-426079"/>
            <a:ext cx="65" cy="852159"/>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none" lIns="0" tIns="0" rIns="0" bIns="-952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000" b="1"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
            </a:r>
            <a:br>
              <a:rPr kumimoji="0" lang="fr-FR" sz="1000" b="1"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br>
            <a:endParaRPr kumimoji="0" lang="fr-FR" sz="1000" b="1"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smtClean="0">
              <a:ln>
                <a:noFill/>
              </a:ln>
              <a:solidFill>
                <a:schemeClr val="tx1"/>
              </a:solidFill>
              <a:effectLst/>
              <a:latin typeface="Arial" panose="020B0604020202020204" pitchFamily="34" charset="0"/>
            </a:endParaRPr>
          </a:p>
        </p:txBody>
      </p:sp>
      <p:sp>
        <p:nvSpPr>
          <p:cNvPr id="5" name="Rectangle 4"/>
          <p:cNvSpPr>
            <a:spLocks noChangeArrowheads="1"/>
          </p:cNvSpPr>
          <p:nvPr/>
        </p:nvSpPr>
        <p:spPr bwMode="auto">
          <a:xfrm>
            <a:off x="4003898" y="3608189"/>
            <a:ext cx="4997003" cy="276999"/>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a:r>
              <a:rPr lang="fr-FR" sz="1800" dirty="0">
                <a:solidFill>
                  <a:srgbClr val="333333"/>
                </a:solidFill>
                <a:latin typeface="Arial" panose="020B0604020202020204" pitchFamily="34" charset="0"/>
                <a:cs typeface="Arial" panose="020B0604020202020204" pitchFamily="34" charset="0"/>
              </a:rPr>
              <a:t> </a:t>
            </a:r>
            <a:r>
              <a:rPr lang="fr-FR" sz="1800" dirty="0">
                <a:solidFill>
                  <a:schemeClr val="bg1"/>
                </a:solidFill>
                <a:latin typeface="Courier New" panose="02070309020205020404" pitchFamily="49" charset="0"/>
              </a:rPr>
              <a:t>tableau[${#tableau[*]}]=élément</a:t>
            </a:r>
          </a:p>
        </p:txBody>
      </p:sp>
      <p:pic>
        <p:nvPicPr>
          <p:cNvPr id="6" name="Picture 5"/>
          <p:cNvPicPr>
            <a:picLocks noChangeAspect="1"/>
          </p:cNvPicPr>
          <p:nvPr/>
        </p:nvPicPr>
        <p:blipFill rotWithShape="1">
          <a:blip r:embed="rId2"/>
          <a:srcRect l="17685" t="16989" r="56626" b="61964"/>
          <a:stretch/>
        </p:blipFill>
        <p:spPr>
          <a:xfrm>
            <a:off x="218941" y="4208124"/>
            <a:ext cx="9026664" cy="4159875"/>
          </a:xfrm>
          <a:prstGeom prst="rect">
            <a:avLst/>
          </a:prstGeom>
          <a:ln>
            <a:solidFill>
              <a:schemeClr val="bg1"/>
            </a:solidFill>
          </a:ln>
        </p:spPr>
      </p:pic>
      <p:pic>
        <p:nvPicPr>
          <p:cNvPr id="7" name="Picture 6"/>
          <p:cNvPicPr>
            <a:picLocks noChangeAspect="1"/>
          </p:cNvPicPr>
          <p:nvPr/>
        </p:nvPicPr>
        <p:blipFill rotWithShape="1">
          <a:blip r:embed="rId2"/>
          <a:srcRect l="43670" t="17366" r="22055" b="73534"/>
          <a:stretch/>
        </p:blipFill>
        <p:spPr>
          <a:xfrm>
            <a:off x="5592527" y="8172180"/>
            <a:ext cx="7306155" cy="1091130"/>
          </a:xfrm>
          <a:prstGeom prst="rect">
            <a:avLst/>
          </a:prstGeom>
          <a:ln>
            <a:solidFill>
              <a:schemeClr val="bg1"/>
            </a:solidFill>
          </a:ln>
        </p:spPr>
      </p:pic>
    </p:spTree>
    <p:extLst>
      <p:ext uri="{BB962C8B-B14F-4D97-AF65-F5344CB8AC3E}">
        <p14:creationId xmlns="" xmlns:p14="http://schemas.microsoft.com/office/powerpoint/2010/main" val="2037118935"/>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a:t>Tableaux</a:t>
            </a:r>
          </a:p>
        </p:txBody>
      </p:sp>
      <p:sp>
        <p:nvSpPr>
          <p:cNvPr id="4" name="Rectangle 1"/>
          <p:cNvSpPr>
            <a:spLocks noGrp="1" noChangeArrowheads="1"/>
          </p:cNvSpPr>
          <p:nvPr>
            <p:ph type="body" idx="1"/>
          </p:nvPr>
        </p:nvSpPr>
        <p:spPr bwMode="auto">
          <a:xfrm>
            <a:off x="508000" y="2500840"/>
            <a:ext cx="9408732" cy="160621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9522" numCol="1" anchor="ctr" anchorCtr="0" compatLnSpc="1">
            <a:prstTxWarp prst="textNoShape">
              <a:avLst/>
            </a:prstTxWarp>
            <a:spAutoFit/>
          </a:bodyPr>
          <a:lstStyle/>
          <a:p>
            <a:pPr eaLnBrk="0" fontAlgn="base" hangingPunct="0">
              <a:buFont typeface="Wingdings" panose="05000000000000000000" pitchFamily="2" charset="2"/>
              <a:buChar char="v"/>
            </a:pPr>
            <a:r>
              <a:rPr lang="fr-FR" sz="2900" dirty="0"/>
              <a:t>A</a:t>
            </a:r>
            <a:r>
              <a:rPr lang="fr-FR" sz="2900" dirty="0" smtClean="0"/>
              <a:t>jout d’un </a:t>
            </a:r>
            <a:r>
              <a:rPr lang="fr-FR" sz="2900" dirty="0"/>
              <a:t>élément au début d'un tableau : </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lang="fr-FR" sz="1900" dirty="0">
              <a:solidFill>
                <a:srgbClr val="333333"/>
              </a:solidFill>
              <a:latin typeface="Arial" panose="020B0604020202020204" pitchFamily="34" charset="0"/>
              <a:cs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lang="fr-FR" sz="1900" dirty="0">
              <a:solidFill>
                <a:srgbClr val="333333"/>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000" b="1"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t/>
            </a:r>
            <a:br>
              <a:rPr kumimoji="0" lang="fr-FR" sz="1000" b="1"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rPr>
            </a:br>
            <a:endParaRPr kumimoji="0" lang="fr-FR" sz="1000" b="1" i="0" u="none" strike="noStrike" cap="none" normalizeH="0" baseline="0" dirty="0" smtClean="0">
              <a:ln>
                <a:noFill/>
              </a:ln>
              <a:solidFill>
                <a:srgbClr val="000000"/>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rotWithShape="1">
          <a:blip r:embed="rId2"/>
          <a:srcRect l="17614" t="16865" r="56400" b="50334"/>
          <a:stretch/>
        </p:blipFill>
        <p:spPr>
          <a:xfrm>
            <a:off x="379212" y="3966694"/>
            <a:ext cx="7232202" cy="4961314"/>
          </a:xfrm>
          <a:prstGeom prst="rect">
            <a:avLst/>
          </a:prstGeom>
          <a:ln>
            <a:solidFill>
              <a:schemeClr val="bg1"/>
            </a:solidFill>
          </a:ln>
        </p:spPr>
      </p:pic>
      <p:pic>
        <p:nvPicPr>
          <p:cNvPr id="7" name="Picture 6"/>
          <p:cNvPicPr>
            <a:picLocks noChangeAspect="1"/>
          </p:cNvPicPr>
          <p:nvPr/>
        </p:nvPicPr>
        <p:blipFill rotWithShape="1">
          <a:blip r:embed="rId3"/>
          <a:srcRect l="43529" t="16865" r="22175" b="73870"/>
          <a:stretch/>
        </p:blipFill>
        <p:spPr>
          <a:xfrm>
            <a:off x="5956520" y="7972023"/>
            <a:ext cx="7048279" cy="1265658"/>
          </a:xfrm>
          <a:prstGeom prst="rect">
            <a:avLst/>
          </a:prstGeom>
          <a:ln>
            <a:solidFill>
              <a:schemeClr val="bg1"/>
            </a:solidFill>
          </a:ln>
        </p:spPr>
      </p:pic>
      <p:sp>
        <p:nvSpPr>
          <p:cNvPr id="8" name="Rectangle 7"/>
          <p:cNvSpPr>
            <a:spLocks noChangeArrowheads="1"/>
          </p:cNvSpPr>
          <p:nvPr/>
        </p:nvSpPr>
        <p:spPr bwMode="auto">
          <a:xfrm>
            <a:off x="3907307" y="3298020"/>
            <a:ext cx="5190186" cy="276999"/>
          </a:xfrm>
          <a:prstGeom prst="rect">
            <a:avLst/>
          </a:prstGeom>
          <a:solidFill>
            <a:srgbClr val="E9E9E9"/>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317400" tIns="0" rIns="317400" bIns="0" numCol="1" anchor="ctr" anchorCtr="0" compatLnSpc="1">
            <a:prstTxWarp prst="textNoShape">
              <a:avLst/>
            </a:prstTxWarp>
            <a:spAutoFit/>
          </a:bodyPr>
          <a:lstStyle/>
          <a:p>
            <a:pPr lvl="0" algn="l"/>
            <a:r>
              <a:rPr lang="fr-FR" sz="1800" dirty="0">
                <a:solidFill>
                  <a:schemeClr val="bg1"/>
                </a:solidFill>
                <a:latin typeface="Courier New" panose="02070309020205020404" pitchFamily="49" charset="0"/>
              </a:rPr>
              <a:t>tableau=( </a:t>
            </a:r>
            <a:r>
              <a:rPr lang="fr-FR" sz="1800" dirty="0" err="1">
                <a:solidFill>
                  <a:schemeClr val="bg1"/>
                </a:solidFill>
                <a:latin typeface="Courier New" panose="02070309020205020404" pitchFamily="49" charset="0"/>
              </a:rPr>
              <a:t>element</a:t>
            </a:r>
            <a:r>
              <a:rPr lang="fr-FR" sz="1800" dirty="0">
                <a:solidFill>
                  <a:schemeClr val="bg1"/>
                </a:solidFill>
                <a:latin typeface="Courier New" panose="02070309020205020404" pitchFamily="49" charset="0"/>
              </a:rPr>
              <a:t> ${tableau[*]} )</a:t>
            </a:r>
          </a:p>
        </p:txBody>
      </p:sp>
    </p:spTree>
    <p:extLst>
      <p:ext uri="{BB962C8B-B14F-4D97-AF65-F5344CB8AC3E}">
        <p14:creationId xmlns="" xmlns:p14="http://schemas.microsoft.com/office/powerpoint/2010/main" val="1097408698"/>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FR" dirty="0"/>
              <a:t>Expr : </a:t>
            </a:r>
            <a:r>
              <a:rPr lang="fr-FR" dirty="0" smtClean="0"/>
              <a:t>arithmétique</a:t>
            </a:r>
            <a:endParaRPr lang="fr-FR" dirty="0"/>
          </a:p>
        </p:txBody>
      </p:sp>
      <p:sp>
        <p:nvSpPr>
          <p:cNvPr id="4" name="Rectangle 1"/>
          <p:cNvSpPr>
            <a:spLocks noGrp="1" noChangeArrowheads="1"/>
          </p:cNvSpPr>
          <p:nvPr>
            <p:ph type="body" idx="1"/>
          </p:nvPr>
        </p:nvSpPr>
        <p:spPr bwMode="auto">
          <a:xfrm>
            <a:off x="147391" y="2379906"/>
            <a:ext cx="11585263" cy="6607581"/>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9522" numCol="1" anchor="ctr" anchorCtr="0" compatLnSpc="1">
            <a:prstTxWarp prst="textNoShape">
              <a:avLst/>
            </a:prstTxWarp>
            <a:spAutoFit/>
          </a:bodyPr>
          <a:lstStyle/>
          <a:p>
            <a:r>
              <a:rPr lang="fr-FR" sz="2800" dirty="0"/>
              <a:t>La commande « </a:t>
            </a:r>
            <a:r>
              <a:rPr lang="fr-FR" sz="2800" dirty="0" err="1"/>
              <a:t>expr</a:t>
            </a:r>
            <a:r>
              <a:rPr lang="fr-FR" sz="2800" dirty="0"/>
              <a:t> » évalue ses arguments et écrit le résultat sur la sortie standard. La première utilisation de « </a:t>
            </a:r>
            <a:r>
              <a:rPr lang="fr-FR" sz="2800" dirty="0" err="1"/>
              <a:t>expr</a:t>
            </a:r>
            <a:r>
              <a:rPr lang="fr-FR" sz="2800" dirty="0"/>
              <a:t> » concerne les opérations arithmétiques simples. </a:t>
            </a:r>
          </a:p>
          <a:p>
            <a:r>
              <a:rPr lang="fr-FR" sz="2800" dirty="0"/>
              <a:t>Les opérateurs arithmétiques sont </a:t>
            </a:r>
            <a:r>
              <a:rPr lang="fr-FR" sz="2900" dirty="0"/>
              <a:t>:</a:t>
            </a:r>
          </a:p>
          <a:p>
            <a:r>
              <a:rPr lang="fr-FR" sz="2900" dirty="0"/>
              <a:t>+ : addition ;</a:t>
            </a:r>
          </a:p>
          <a:p>
            <a:r>
              <a:rPr lang="fr-FR" sz="2900" dirty="0"/>
              <a:t>- : soustraction ;</a:t>
            </a:r>
          </a:p>
          <a:p>
            <a:r>
              <a:rPr lang="fr-FR" sz="2900" dirty="0"/>
              <a:t>\* : multiplication ;</a:t>
            </a:r>
          </a:p>
          <a:p>
            <a:r>
              <a:rPr lang="fr-FR" sz="2900" dirty="0"/>
              <a:t>/ : division entière ;</a:t>
            </a:r>
          </a:p>
          <a:p>
            <a:r>
              <a:rPr lang="fr-FR" sz="2900" dirty="0"/>
              <a:t>% : reste de la division </a:t>
            </a:r>
            <a:r>
              <a:rPr lang="fr-FR" sz="2900" dirty="0" smtClean="0"/>
              <a:t>;</a:t>
            </a:r>
            <a:endParaRPr lang="fr-FR" sz="2900" dirty="0"/>
          </a:p>
          <a:p>
            <a:r>
              <a:rPr lang="fr-FR" sz="2900" dirty="0"/>
              <a:t>\( et \) : parenthèses.</a:t>
            </a:r>
          </a:p>
        </p:txBody>
      </p:sp>
      <p:pic>
        <p:nvPicPr>
          <p:cNvPr id="6" name="Picture 5"/>
          <p:cNvPicPr>
            <a:picLocks noChangeAspect="1"/>
          </p:cNvPicPr>
          <p:nvPr/>
        </p:nvPicPr>
        <p:blipFill rotWithShape="1">
          <a:blip r:embed="rId2"/>
          <a:srcRect l="15712" t="34643" r="50204" b="29802"/>
          <a:stretch/>
        </p:blipFill>
        <p:spPr>
          <a:xfrm>
            <a:off x="6276304" y="3783078"/>
            <a:ext cx="6478160" cy="3801235"/>
          </a:xfrm>
          <a:prstGeom prst="rect">
            <a:avLst/>
          </a:prstGeom>
          <a:ln>
            <a:solidFill>
              <a:schemeClr val="bg1"/>
            </a:solidFill>
          </a:ln>
        </p:spPr>
      </p:pic>
      <p:pic>
        <p:nvPicPr>
          <p:cNvPr id="2050" name="Picture 2"/>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6502400" y="7675885"/>
            <a:ext cx="3810524" cy="173317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2049542076"/>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dirty="0"/>
              <a:t>Expr : manipulation </a:t>
            </a:r>
            <a:r>
              <a:rPr lang="fr-FR" dirty="0" smtClean="0"/>
              <a:t>des </a:t>
            </a:r>
            <a:r>
              <a:rPr lang="fr-FR" dirty="0"/>
              <a:t>chaînes</a:t>
            </a:r>
          </a:p>
        </p:txBody>
      </p:sp>
      <p:sp>
        <p:nvSpPr>
          <p:cNvPr id="4" name="Rectangle 1"/>
          <p:cNvSpPr>
            <a:spLocks noGrp="1" noChangeArrowheads="1"/>
          </p:cNvSpPr>
          <p:nvPr>
            <p:ph type="body" idx="1"/>
          </p:nvPr>
        </p:nvSpPr>
        <p:spPr bwMode="auto">
          <a:xfrm>
            <a:off x="508000" y="2053200"/>
            <a:ext cx="11585263" cy="6484470"/>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0" tIns="0" rIns="0" bIns="-9522" numCol="1" anchor="ctr" anchorCtr="0" compatLnSpc="1">
            <a:prstTxWarp prst="textNoShape">
              <a:avLst/>
            </a:prstTxWarp>
            <a:spAutoFit/>
          </a:bodyPr>
          <a:lstStyle/>
          <a:p>
            <a:r>
              <a:rPr lang="fr-FR" sz="2800" b="1" dirty="0"/>
              <a:t>Longueur de chaînes de caractères</a:t>
            </a:r>
          </a:p>
          <a:p>
            <a:pPr lvl="1">
              <a:buFont typeface="Wingdings" panose="05000000000000000000" pitchFamily="2" charset="2"/>
              <a:buChar char="Ø"/>
            </a:pPr>
            <a:r>
              <a:rPr lang="fr-FR" sz="2800" i="1" dirty="0"/>
              <a:t>${#chaine}</a:t>
            </a:r>
          </a:p>
          <a:p>
            <a:pPr lvl="1">
              <a:buFont typeface="Wingdings" panose="05000000000000000000" pitchFamily="2" charset="2"/>
              <a:buChar char="Ø"/>
            </a:pPr>
            <a:r>
              <a:rPr lang="fr-FR" sz="2800" b="1" i="1" dirty="0"/>
              <a:t> </a:t>
            </a:r>
            <a:r>
              <a:rPr lang="fr-FR" sz="2800" b="1" i="1" dirty="0" err="1"/>
              <a:t>expr</a:t>
            </a:r>
            <a:r>
              <a:rPr lang="fr-FR" sz="2800" b="1" i="1" dirty="0"/>
              <a:t> </a:t>
            </a:r>
            <a:r>
              <a:rPr lang="fr-FR" sz="2800" b="1" i="1" dirty="0" err="1"/>
              <a:t>length</a:t>
            </a:r>
            <a:r>
              <a:rPr lang="fr-FR" sz="2800" b="1" i="1" dirty="0"/>
              <a:t> </a:t>
            </a:r>
            <a:r>
              <a:rPr lang="fr-FR" sz="2800" i="1" dirty="0"/>
              <a:t>$chaine </a:t>
            </a:r>
          </a:p>
          <a:p>
            <a:pPr lvl="1">
              <a:buFont typeface="Wingdings" panose="05000000000000000000" pitchFamily="2" charset="2"/>
              <a:buChar char="Ø"/>
            </a:pPr>
            <a:r>
              <a:rPr lang="fr-FR" sz="2800" b="1" i="1" dirty="0" err="1"/>
              <a:t>expr</a:t>
            </a:r>
            <a:r>
              <a:rPr lang="fr-FR" sz="2800" i="1" dirty="0"/>
              <a:t> "$chaine" : '.*‘</a:t>
            </a:r>
          </a:p>
          <a:p>
            <a:pPr marL="0" indent="0">
              <a:buNone/>
            </a:pPr>
            <a:endParaRPr lang="fr-FR" sz="1200" i="1" dirty="0" smtClean="0">
              <a:solidFill>
                <a:srgbClr val="333333"/>
              </a:solidFill>
              <a:latin typeface="Arial" panose="020B0604020202020204" pitchFamily="34" charset="0"/>
              <a:cs typeface="Arial" panose="020B0604020202020204" pitchFamily="34" charset="0"/>
            </a:endParaRPr>
          </a:p>
          <a:p>
            <a:pPr marL="0" indent="0">
              <a:buNone/>
            </a:pPr>
            <a:endParaRPr lang="fr-FR" sz="1200" dirty="0">
              <a:solidFill>
                <a:srgbClr val="333333"/>
              </a:solidFill>
              <a:latin typeface="Arial" panose="020B0604020202020204" pitchFamily="34" charset="0"/>
              <a:cs typeface="Arial" panose="020B0604020202020204" pitchFamily="34" charset="0"/>
            </a:endParaRPr>
          </a:p>
          <a:p>
            <a:pPr>
              <a:buFont typeface="Wingdings" panose="05000000000000000000" pitchFamily="2" charset="2"/>
              <a:buChar char="v"/>
            </a:pPr>
            <a:r>
              <a:rPr lang="fr-FR" sz="2800" b="1" dirty="0"/>
              <a:t>Longueur de sous-chaînes correspondant à un motif au début d'une chaîne</a:t>
            </a:r>
          </a:p>
          <a:p>
            <a:pPr lvl="1">
              <a:buFont typeface="Wingdings" panose="05000000000000000000" pitchFamily="2" charset="2"/>
              <a:buChar char="Ø"/>
            </a:pPr>
            <a:r>
              <a:rPr lang="fr-FR" sz="2800" b="1" i="1" dirty="0" err="1"/>
              <a:t>expr</a:t>
            </a:r>
            <a:r>
              <a:rPr lang="fr-FR" sz="2800" b="1" i="1" dirty="0"/>
              <a:t> match</a:t>
            </a:r>
            <a:r>
              <a:rPr lang="fr-FR" sz="2800" i="1" dirty="0"/>
              <a:t> "$chaine" '$</a:t>
            </a:r>
            <a:r>
              <a:rPr lang="fr-FR" sz="2800" i="1" dirty="0" err="1"/>
              <a:t>souschaine</a:t>
            </a:r>
            <a:r>
              <a:rPr lang="fr-FR" sz="2800" i="1" dirty="0"/>
              <a:t>‘</a:t>
            </a:r>
          </a:p>
          <a:p>
            <a:pPr lvl="1">
              <a:buFont typeface="Wingdings" panose="05000000000000000000" pitchFamily="2" charset="2"/>
              <a:buChar char="Ø"/>
            </a:pPr>
            <a:r>
              <a:rPr lang="fr-FR" sz="2800" b="1" i="1" dirty="0" err="1"/>
              <a:t>expr</a:t>
            </a:r>
            <a:r>
              <a:rPr lang="fr-FR" sz="2800" b="1" i="1" dirty="0"/>
              <a:t> </a:t>
            </a:r>
            <a:r>
              <a:rPr lang="fr-FR" sz="2800" i="1" dirty="0"/>
              <a:t>"$chaine" : '$</a:t>
            </a:r>
            <a:r>
              <a:rPr lang="fr-FR" sz="2800" i="1" dirty="0" err="1"/>
              <a:t>souschaine</a:t>
            </a:r>
            <a:r>
              <a:rPr lang="fr-FR" sz="2800" i="1" dirty="0"/>
              <a:t>'</a:t>
            </a:r>
          </a:p>
        </p:txBody>
      </p:sp>
      <p:pic>
        <p:nvPicPr>
          <p:cNvPr id="15" name="Picture 14"/>
          <p:cNvPicPr>
            <a:picLocks noChangeAspect="1"/>
          </p:cNvPicPr>
          <p:nvPr/>
        </p:nvPicPr>
        <p:blipFill rotWithShape="1">
          <a:blip r:embed="rId3"/>
          <a:srcRect l="49867" t="39400" r="15556" b="51586"/>
          <a:stretch/>
        </p:blipFill>
        <p:spPr>
          <a:xfrm>
            <a:off x="178873" y="8571569"/>
            <a:ext cx="6323527" cy="1092557"/>
          </a:xfrm>
          <a:prstGeom prst="rect">
            <a:avLst/>
          </a:prstGeom>
          <a:ln>
            <a:solidFill>
              <a:schemeClr val="bg1"/>
            </a:solidFill>
          </a:ln>
        </p:spPr>
      </p:pic>
      <p:pic>
        <p:nvPicPr>
          <p:cNvPr id="13" name="Picture 12"/>
          <p:cNvPicPr>
            <a:picLocks noChangeAspect="1"/>
          </p:cNvPicPr>
          <p:nvPr/>
        </p:nvPicPr>
        <p:blipFill rotWithShape="1">
          <a:blip r:embed="rId4"/>
          <a:srcRect l="15783" t="36270" r="50274" b="45577"/>
          <a:stretch/>
        </p:blipFill>
        <p:spPr>
          <a:xfrm>
            <a:off x="6502400" y="7796689"/>
            <a:ext cx="6207615" cy="1867438"/>
          </a:xfrm>
          <a:prstGeom prst="rect">
            <a:avLst/>
          </a:prstGeom>
          <a:ln>
            <a:solidFill>
              <a:schemeClr val="bg1"/>
            </a:solidFill>
          </a:ln>
        </p:spPr>
      </p:pic>
      <p:pic>
        <p:nvPicPr>
          <p:cNvPr id="3074" name="Picture 2"/>
          <p:cNvPicPr>
            <a:picLocks noChangeAspect="1" noChangeArrowheads="1"/>
          </p:cNvPicPr>
          <p:nvPr/>
        </p:nvPicPr>
        <p:blipFill>
          <a:blip r:embed="rId5">
            <a:extLst>
              <a:ext uri="{28A0092B-C50C-407E-A947-70E740481C1C}">
                <a14:useLocalDpi xmlns="" xmlns:a14="http://schemas.microsoft.com/office/drawing/2010/main" val="0"/>
              </a:ext>
            </a:extLst>
          </a:blip>
          <a:srcRect/>
          <a:stretch>
            <a:fillRect/>
          </a:stretch>
        </p:blipFill>
        <p:spPr bwMode="auto">
          <a:xfrm>
            <a:off x="6224925" y="3853543"/>
            <a:ext cx="5868338" cy="166551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6">
            <a:extLst>
              <a:ext uri="{28A0092B-C50C-407E-A947-70E740481C1C}">
                <a14:useLocalDpi xmlns="" xmlns:a14="http://schemas.microsoft.com/office/drawing/2010/main" val="0"/>
              </a:ext>
            </a:extLst>
          </a:blip>
          <a:srcRect/>
          <a:stretch>
            <a:fillRect/>
          </a:stretch>
        </p:blipFill>
        <p:spPr bwMode="auto">
          <a:xfrm>
            <a:off x="1407206" y="4953001"/>
            <a:ext cx="4493500" cy="91372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6583680" y="9409143"/>
            <a:ext cx="2926080" cy="245806"/>
          </a:xfrm>
          <a:prstGeom prst="rect">
            <a:avLst/>
          </a:prstGeom>
          <a:solidFill>
            <a:srgbClr val="F8F8F8"/>
          </a:solidFill>
          <a:ln w="12700" cap="flat">
            <a:solidFill>
              <a:srgbClr val="FFFFFF"/>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fr-FR" sz="3200" b="0" i="0" u="none" strike="noStrike" cap="none" spc="0" normalizeH="0" baseline="0">
              <a:ln>
                <a:noFill/>
              </a:ln>
              <a:solidFill>
                <a:srgbClr val="FFFFFF"/>
              </a:solidFill>
              <a:effectLst>
                <a:outerShdw blurRad="25400" dist="33948" dir="2700000" rotWithShape="0">
                  <a:srgbClr val="3B3936"/>
                </a:outerShdw>
              </a:effectLst>
              <a:uFillTx/>
              <a:latin typeface="Palatino"/>
              <a:ea typeface="Palatino"/>
              <a:cs typeface="Palatino"/>
              <a:sym typeface="Palatino"/>
            </a:endParaRPr>
          </a:p>
        </p:txBody>
      </p:sp>
      <p:sp>
        <p:nvSpPr>
          <p:cNvPr id="5" name="Rectangle 4"/>
          <p:cNvSpPr/>
          <p:nvPr/>
        </p:nvSpPr>
        <p:spPr>
          <a:xfrm>
            <a:off x="199193" y="9521886"/>
            <a:ext cx="176727" cy="132080"/>
          </a:xfrm>
          <a:prstGeom prst="rect">
            <a:avLst/>
          </a:prstGeom>
          <a:solidFill>
            <a:srgbClr val="F8F8F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endParaRPr kumimoji="0" lang="fr-FR" sz="3200" b="0" i="0" u="none" strike="noStrike" cap="none" spc="0" normalizeH="0" baseline="0">
              <a:ln>
                <a:noFill/>
              </a:ln>
              <a:solidFill>
                <a:srgbClr val="FFFFFF"/>
              </a:solidFill>
              <a:effectLst>
                <a:outerShdw blurRad="25400" dist="33948" dir="2700000" rotWithShape="0">
                  <a:srgbClr val="3B3936"/>
                </a:outerShdw>
              </a:effectLst>
              <a:uFillTx/>
              <a:latin typeface="Palatino"/>
              <a:ea typeface="Palatino"/>
              <a:cs typeface="Palatino"/>
              <a:sym typeface="Palatino"/>
            </a:endParaRPr>
          </a:p>
        </p:txBody>
      </p:sp>
    </p:spTree>
    <p:extLst>
      <p:ext uri="{BB962C8B-B14F-4D97-AF65-F5344CB8AC3E}">
        <p14:creationId xmlns="" xmlns:p14="http://schemas.microsoft.com/office/powerpoint/2010/main" val="2580311349"/>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dirty="0"/>
              <a:t>Expr : manipulation des chaînes</a:t>
            </a:r>
          </a:p>
        </p:txBody>
      </p:sp>
      <p:sp>
        <p:nvSpPr>
          <p:cNvPr id="3" name="Text Placeholder 2"/>
          <p:cNvSpPr>
            <a:spLocks noGrp="1"/>
          </p:cNvSpPr>
          <p:nvPr>
            <p:ph type="body" idx="1"/>
          </p:nvPr>
        </p:nvSpPr>
        <p:spPr>
          <a:xfrm>
            <a:off x="508000" y="1954907"/>
            <a:ext cx="11988800" cy="6096000"/>
          </a:xfrm>
        </p:spPr>
        <p:txBody>
          <a:bodyPr>
            <a:normAutofit/>
          </a:bodyPr>
          <a:lstStyle/>
          <a:p>
            <a:r>
              <a:rPr lang="fr-FR" sz="2800" b="1" dirty="0" err="1"/>
              <a:t>expr</a:t>
            </a:r>
            <a:r>
              <a:rPr lang="fr-FR" sz="2800" b="1" dirty="0"/>
              <a:t> index $chaine $</a:t>
            </a:r>
            <a:r>
              <a:rPr lang="fr-FR" sz="2800" b="1" dirty="0" err="1"/>
              <a:t>souschaine</a:t>
            </a:r>
            <a:endParaRPr lang="fr-FR" sz="2800" b="1" dirty="0"/>
          </a:p>
          <a:p>
            <a:pPr lvl="1">
              <a:buFont typeface="Wingdings" panose="05000000000000000000" pitchFamily="2" charset="2"/>
              <a:buChar char="Ø"/>
            </a:pPr>
            <a:r>
              <a:rPr lang="fr-FR" sz="2800" dirty="0"/>
              <a:t>Position numérique dans $chaine du premier caractère dans $</a:t>
            </a:r>
            <a:r>
              <a:rPr lang="fr-FR" sz="2800" dirty="0" err="1"/>
              <a:t>souschaine</a:t>
            </a:r>
            <a:r>
              <a:rPr lang="fr-FR" sz="2800" dirty="0"/>
              <a:t> qui correspond.</a:t>
            </a:r>
          </a:p>
          <a:p>
            <a:pPr marL="0" indent="0">
              <a:buNone/>
            </a:pPr>
            <a:r>
              <a:rPr lang="fr-FR" sz="2400" dirty="0"/>
              <a:t/>
            </a:r>
            <a:br>
              <a:rPr lang="fr-FR" sz="2400" dirty="0"/>
            </a:br>
            <a:endParaRPr lang="fr-FR" sz="2400" dirty="0" smtClean="0"/>
          </a:p>
          <a:p>
            <a:pPr marL="0" indent="0">
              <a:buNone/>
            </a:pPr>
            <a:endParaRPr lang="fr-FR" sz="2400" dirty="0">
              <a:solidFill>
                <a:srgbClr val="333333"/>
              </a:solidFill>
              <a:latin typeface="Arial" panose="020B0604020202020204" pitchFamily="34" charset="0"/>
              <a:cs typeface="Arial" panose="020B0604020202020204" pitchFamily="34" charset="0"/>
            </a:endParaRPr>
          </a:p>
          <a:p>
            <a:pPr marL="0" indent="0">
              <a:buNone/>
            </a:pPr>
            <a:endParaRPr lang="fr-FR" sz="2400" dirty="0" smtClean="0">
              <a:solidFill>
                <a:srgbClr val="333333"/>
              </a:solidFill>
              <a:latin typeface="Arial" panose="020B0604020202020204" pitchFamily="34" charset="0"/>
              <a:cs typeface="Arial" panose="020B0604020202020204" pitchFamily="34" charset="0"/>
            </a:endParaRPr>
          </a:p>
          <a:p>
            <a:pPr marL="0" indent="0">
              <a:buNone/>
            </a:pPr>
            <a:endParaRPr lang="fr-FR" sz="2400" dirty="0">
              <a:solidFill>
                <a:srgbClr val="333333"/>
              </a:solidFill>
              <a:latin typeface="Arial" panose="020B0604020202020204" pitchFamily="34" charset="0"/>
              <a:cs typeface="Arial" panose="020B0604020202020204" pitchFamily="34" charset="0"/>
            </a:endParaRPr>
          </a:p>
        </p:txBody>
      </p:sp>
      <p:pic>
        <p:nvPicPr>
          <p:cNvPr id="4" name="Picture 3"/>
          <p:cNvPicPr>
            <a:picLocks noChangeAspect="1"/>
          </p:cNvPicPr>
          <p:nvPr/>
        </p:nvPicPr>
        <p:blipFill rotWithShape="1">
          <a:blip r:embed="rId2"/>
          <a:srcRect l="15993" t="36145" r="50204" b="41695"/>
          <a:stretch/>
        </p:blipFill>
        <p:spPr>
          <a:xfrm>
            <a:off x="174937" y="5002907"/>
            <a:ext cx="6181859" cy="2711538"/>
          </a:xfrm>
          <a:prstGeom prst="rect">
            <a:avLst/>
          </a:prstGeom>
          <a:ln>
            <a:solidFill>
              <a:schemeClr val="bg1"/>
            </a:solidFill>
          </a:ln>
        </p:spPr>
      </p:pic>
      <p:pic>
        <p:nvPicPr>
          <p:cNvPr id="5" name="Picture 4"/>
          <p:cNvPicPr>
            <a:picLocks noChangeAspect="1"/>
          </p:cNvPicPr>
          <p:nvPr/>
        </p:nvPicPr>
        <p:blipFill rotWithShape="1">
          <a:blip r:embed="rId2"/>
          <a:srcRect l="49797" t="39150" r="15907" b="51210"/>
          <a:stretch/>
        </p:blipFill>
        <p:spPr>
          <a:xfrm>
            <a:off x="6356796" y="5962917"/>
            <a:ext cx="6272012" cy="991674"/>
          </a:xfrm>
          <a:prstGeom prst="rect">
            <a:avLst/>
          </a:prstGeom>
          <a:ln>
            <a:solidFill>
              <a:schemeClr val="bg1"/>
            </a:solidFill>
          </a:ln>
        </p:spPr>
      </p:pic>
    </p:spTree>
    <p:extLst>
      <p:ext uri="{BB962C8B-B14F-4D97-AF65-F5344CB8AC3E}">
        <p14:creationId xmlns="" xmlns:p14="http://schemas.microsoft.com/office/powerpoint/2010/main" val="3483663862"/>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dirty="0"/>
              <a:t>Expr : manipulation des chaînes</a:t>
            </a:r>
          </a:p>
        </p:txBody>
      </p:sp>
      <p:sp>
        <p:nvSpPr>
          <p:cNvPr id="3" name="Text Placeholder 2"/>
          <p:cNvSpPr>
            <a:spLocks noGrp="1"/>
          </p:cNvSpPr>
          <p:nvPr>
            <p:ph type="body" idx="1"/>
          </p:nvPr>
        </p:nvSpPr>
        <p:spPr>
          <a:xfrm>
            <a:off x="496552" y="2059546"/>
            <a:ext cx="11988800" cy="3990841"/>
          </a:xfrm>
        </p:spPr>
        <p:txBody>
          <a:bodyPr>
            <a:normAutofit/>
          </a:bodyPr>
          <a:lstStyle/>
          <a:p>
            <a:pPr>
              <a:buFont typeface="Wingdings" panose="05000000000000000000" pitchFamily="2" charset="2"/>
              <a:buChar char="v"/>
            </a:pPr>
            <a:r>
              <a:rPr lang="fr-FR" sz="2800" b="1" dirty="0"/>
              <a:t>Extraction d'une sous-chaîne</a:t>
            </a:r>
          </a:p>
          <a:p>
            <a:pPr lvl="1">
              <a:buFont typeface="Wingdings" panose="05000000000000000000" pitchFamily="2" charset="2"/>
              <a:buChar char="Ø"/>
            </a:pPr>
            <a:r>
              <a:rPr lang="fr-FR" sz="2800" dirty="0"/>
              <a:t>${</a:t>
            </a:r>
            <a:r>
              <a:rPr lang="fr-FR" sz="2800" dirty="0" err="1"/>
              <a:t>chaine:position:longueur</a:t>
            </a:r>
            <a:r>
              <a:rPr lang="fr-FR" sz="2800" dirty="0"/>
              <a:t>}</a:t>
            </a:r>
          </a:p>
          <a:p>
            <a:pPr lvl="1">
              <a:buFont typeface="Wingdings" panose="05000000000000000000" pitchFamily="2" charset="2"/>
              <a:buChar char="Ø"/>
            </a:pPr>
            <a:r>
              <a:rPr lang="fr-FR" sz="2800" dirty="0"/>
              <a:t>Extrait $longueur caractères d'une sous-chaîne de $chaine à la position $position.</a:t>
            </a:r>
          </a:p>
          <a:p>
            <a:pPr marL="0" indent="0">
              <a:buNone/>
            </a:pPr>
            <a:endParaRPr lang="fr-FR" sz="2400" dirty="0">
              <a:solidFill>
                <a:srgbClr val="333333"/>
              </a:solidFill>
              <a:latin typeface="Arial" panose="020B0604020202020204" pitchFamily="34" charset="0"/>
              <a:cs typeface="Arial" panose="020B0604020202020204" pitchFamily="34" charset="0"/>
            </a:endParaRPr>
          </a:p>
          <a:p>
            <a:endParaRPr lang="fr-FR" sz="2400" dirty="0"/>
          </a:p>
        </p:txBody>
      </p:sp>
      <p:pic>
        <p:nvPicPr>
          <p:cNvPr id="4" name="Picture 3"/>
          <p:cNvPicPr>
            <a:picLocks noChangeAspect="1"/>
          </p:cNvPicPr>
          <p:nvPr/>
        </p:nvPicPr>
        <p:blipFill rotWithShape="1">
          <a:blip r:embed="rId2"/>
          <a:srcRect l="15712" t="35644" r="50204" b="18034"/>
          <a:stretch/>
        </p:blipFill>
        <p:spPr>
          <a:xfrm>
            <a:off x="269026" y="4846749"/>
            <a:ext cx="6233374" cy="4765184"/>
          </a:xfrm>
          <a:prstGeom prst="rect">
            <a:avLst/>
          </a:prstGeom>
          <a:ln>
            <a:solidFill>
              <a:schemeClr val="bg1"/>
            </a:solidFill>
          </a:ln>
        </p:spPr>
      </p:pic>
      <p:pic>
        <p:nvPicPr>
          <p:cNvPr id="5" name="Picture 4"/>
          <p:cNvPicPr>
            <a:picLocks noChangeAspect="1"/>
          </p:cNvPicPr>
          <p:nvPr/>
        </p:nvPicPr>
        <p:blipFill rotWithShape="1">
          <a:blip r:embed="rId2"/>
          <a:srcRect l="49938" t="39024" r="15978" b="44826"/>
          <a:stretch/>
        </p:blipFill>
        <p:spPr>
          <a:xfrm>
            <a:off x="6619741" y="5834129"/>
            <a:ext cx="6233375" cy="1661375"/>
          </a:xfrm>
          <a:prstGeom prst="rect">
            <a:avLst/>
          </a:prstGeom>
          <a:ln>
            <a:solidFill>
              <a:schemeClr val="bg1"/>
            </a:solidFill>
          </a:ln>
        </p:spPr>
      </p:pic>
    </p:spTree>
    <p:extLst>
      <p:ext uri="{BB962C8B-B14F-4D97-AF65-F5344CB8AC3E}">
        <p14:creationId xmlns="" xmlns:p14="http://schemas.microsoft.com/office/powerpoint/2010/main" val="914993944"/>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dirty="0"/>
              <a:t>Expr : manipulation des chaînes</a:t>
            </a:r>
          </a:p>
        </p:txBody>
      </p:sp>
      <p:sp>
        <p:nvSpPr>
          <p:cNvPr id="3" name="Text Placeholder 2"/>
          <p:cNvSpPr>
            <a:spLocks noGrp="1"/>
          </p:cNvSpPr>
          <p:nvPr>
            <p:ph type="body" idx="1"/>
          </p:nvPr>
        </p:nvSpPr>
        <p:spPr>
          <a:xfrm>
            <a:off x="496552" y="2059546"/>
            <a:ext cx="11988800" cy="3990841"/>
          </a:xfrm>
        </p:spPr>
        <p:txBody>
          <a:bodyPr>
            <a:normAutofit/>
          </a:bodyPr>
          <a:lstStyle/>
          <a:p>
            <a:pPr>
              <a:buFont typeface="Wingdings" panose="05000000000000000000" pitchFamily="2" charset="2"/>
              <a:buChar char="v"/>
            </a:pPr>
            <a:r>
              <a:rPr lang="fr-FR" sz="2800" b="1" dirty="0"/>
              <a:t>Extraction d'une sous-chaîne</a:t>
            </a:r>
          </a:p>
          <a:p>
            <a:pPr lvl="1">
              <a:buFont typeface="Wingdings" panose="05000000000000000000" pitchFamily="2" charset="2"/>
              <a:buChar char="Ø"/>
            </a:pPr>
            <a:r>
              <a:rPr lang="fr-FR" sz="2800" b="1" dirty="0" err="1"/>
              <a:t>expr</a:t>
            </a:r>
            <a:r>
              <a:rPr lang="fr-FR" sz="2800" b="1" dirty="0"/>
              <a:t> </a:t>
            </a:r>
            <a:r>
              <a:rPr lang="fr-FR" sz="2800" b="1" dirty="0" err="1"/>
              <a:t>substr</a:t>
            </a:r>
            <a:r>
              <a:rPr lang="fr-FR" sz="2800" b="1" dirty="0"/>
              <a:t> </a:t>
            </a:r>
            <a:r>
              <a:rPr lang="fr-FR" sz="2800" i="1" dirty="0"/>
              <a:t>$chaine $position $longueur</a:t>
            </a:r>
          </a:p>
          <a:p>
            <a:pPr lvl="1">
              <a:buFont typeface="Wingdings" panose="05000000000000000000" pitchFamily="2" charset="2"/>
              <a:buChar char="Ø"/>
            </a:pPr>
            <a:r>
              <a:rPr lang="fr-FR" sz="2800" dirty="0"/>
              <a:t>Extrait $longueur </a:t>
            </a:r>
            <a:r>
              <a:rPr lang="fr-FR" sz="2800" dirty="0" smtClean="0"/>
              <a:t>de caractères </a:t>
            </a:r>
            <a:r>
              <a:rPr lang="fr-FR" sz="2800" dirty="0"/>
              <a:t>à partir de </a:t>
            </a:r>
            <a:r>
              <a:rPr lang="fr-FR" sz="2800" dirty="0" smtClean="0"/>
              <a:t>la $chaine </a:t>
            </a:r>
            <a:r>
              <a:rPr lang="fr-FR" sz="2800" dirty="0"/>
              <a:t>en commençant </a:t>
            </a:r>
            <a:r>
              <a:rPr lang="fr-FR" sz="2800" dirty="0" smtClean="0"/>
              <a:t>par </a:t>
            </a:r>
            <a:r>
              <a:rPr lang="fr-FR" sz="2800" dirty="0"/>
              <a:t>$position.</a:t>
            </a:r>
          </a:p>
        </p:txBody>
      </p:sp>
      <p:pic>
        <p:nvPicPr>
          <p:cNvPr id="7" name="Picture 6"/>
          <p:cNvPicPr>
            <a:picLocks noChangeAspect="1"/>
          </p:cNvPicPr>
          <p:nvPr/>
        </p:nvPicPr>
        <p:blipFill rotWithShape="1">
          <a:blip r:embed="rId2"/>
          <a:srcRect l="15924" t="36145" r="50344" b="42572"/>
          <a:stretch/>
        </p:blipFill>
        <p:spPr>
          <a:xfrm>
            <a:off x="321971" y="5640945"/>
            <a:ext cx="6495577" cy="2305319"/>
          </a:xfrm>
          <a:prstGeom prst="rect">
            <a:avLst/>
          </a:prstGeom>
          <a:ln>
            <a:solidFill>
              <a:schemeClr val="bg1"/>
            </a:solidFill>
          </a:ln>
        </p:spPr>
      </p:pic>
      <p:pic>
        <p:nvPicPr>
          <p:cNvPr id="8" name="Picture 7"/>
          <p:cNvPicPr>
            <a:picLocks noChangeAspect="1"/>
          </p:cNvPicPr>
          <p:nvPr/>
        </p:nvPicPr>
        <p:blipFill rotWithShape="1">
          <a:blip r:embed="rId2"/>
          <a:srcRect l="49867" t="39024" r="15838" b="51086"/>
          <a:stretch/>
        </p:blipFill>
        <p:spPr>
          <a:xfrm>
            <a:off x="5759421" y="7377750"/>
            <a:ext cx="7009268" cy="1137027"/>
          </a:xfrm>
          <a:prstGeom prst="rect">
            <a:avLst/>
          </a:prstGeom>
          <a:ln>
            <a:solidFill>
              <a:schemeClr val="bg1"/>
            </a:solidFill>
          </a:ln>
        </p:spPr>
      </p:pic>
    </p:spTree>
    <p:extLst>
      <p:ext uri="{BB962C8B-B14F-4D97-AF65-F5344CB8AC3E}">
        <p14:creationId xmlns="" xmlns:p14="http://schemas.microsoft.com/office/powerpoint/2010/main" val="2396258270"/>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dirty="0"/>
              <a:t>Expr : manipulation des chaînes</a:t>
            </a:r>
          </a:p>
        </p:txBody>
      </p:sp>
      <p:sp>
        <p:nvSpPr>
          <p:cNvPr id="4" name="Rectangle 1"/>
          <p:cNvSpPr>
            <a:spLocks noGrp="1" noChangeArrowheads="1"/>
          </p:cNvSpPr>
          <p:nvPr>
            <p:ph type="body" idx="1"/>
          </p:nvPr>
        </p:nvSpPr>
        <p:spPr bwMode="auto">
          <a:xfrm>
            <a:off x="357745" y="2297458"/>
            <a:ext cx="12647055" cy="596219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58700" tIns="52371" rIns="0" bIns="0" numCol="1" anchor="ctr" anchorCtr="0" compatLnSpc="1">
            <a:prstTxWarp prst="textNoShape">
              <a:avLst/>
            </a:prstTxWarp>
            <a:spAutoFit/>
          </a:bodyPr>
          <a:lstStyle/>
          <a:p>
            <a:pPr lvl="0" eaLnBrk="0" fontAlgn="base" hangingPunct="0">
              <a:buFont typeface="Wingdings" panose="05000000000000000000" pitchFamily="2" charset="2"/>
              <a:buChar char="v"/>
            </a:pPr>
            <a:r>
              <a:rPr lang="fr-FR" sz="2800" b="1" dirty="0"/>
              <a:t>Suppression de </a:t>
            </a:r>
            <a:r>
              <a:rPr lang="fr-FR" sz="2800" b="1" dirty="0" smtClean="0"/>
              <a:t>sous-chaînes</a:t>
            </a:r>
            <a:endParaRPr lang="fr-FR" sz="2800" b="1" dirty="0"/>
          </a:p>
          <a:p>
            <a:pPr lvl="1" eaLnBrk="0" fontAlgn="base" hangingPunct="0">
              <a:buFont typeface="Wingdings" panose="05000000000000000000" pitchFamily="2" charset="2"/>
              <a:buChar char="Ø"/>
            </a:pPr>
            <a:r>
              <a:rPr lang="fr-FR" sz="2800" dirty="0" smtClean="0"/>
              <a:t>${</a:t>
            </a:r>
            <a:r>
              <a:rPr lang="fr-FR" sz="2800" dirty="0" err="1"/>
              <a:t>chaine#souschaine</a:t>
            </a:r>
            <a:r>
              <a:rPr lang="fr-FR" sz="2800" dirty="0"/>
              <a:t>}	</a:t>
            </a:r>
          </a:p>
          <a:p>
            <a:pPr marL="1397000" lvl="3" eaLnBrk="0" fontAlgn="base" hangingPunct="0">
              <a:buFont typeface="Wingdings" panose="05000000000000000000" pitchFamily="2" charset="2"/>
              <a:buChar char="Ø"/>
            </a:pPr>
            <a:r>
              <a:rPr lang="fr-FR" sz="2800" dirty="0"/>
              <a:t>Supprime la correspondance la plus petite de $</a:t>
            </a:r>
            <a:r>
              <a:rPr lang="fr-FR" sz="2800" dirty="0" err="1"/>
              <a:t>souschaine</a:t>
            </a:r>
            <a:r>
              <a:rPr lang="fr-FR" sz="2800" dirty="0"/>
              <a:t> à partir du début de $chaine</a:t>
            </a:r>
            <a:r>
              <a:rPr lang="fr-FR" sz="2800" dirty="0" smtClean="0"/>
              <a:t>.</a:t>
            </a:r>
            <a:endParaRPr lang="fr-FR" sz="2800" dirty="0"/>
          </a:p>
          <a:p>
            <a:pPr lvl="1" eaLnBrk="0" fontAlgn="base" hangingPunct="0">
              <a:buFont typeface="Wingdings" panose="05000000000000000000" pitchFamily="2" charset="2"/>
              <a:buChar char="Ø"/>
            </a:pPr>
            <a:r>
              <a:rPr lang="fr-FR" sz="2800" dirty="0" smtClean="0"/>
              <a:t>${</a:t>
            </a:r>
            <a:r>
              <a:rPr lang="fr-FR" sz="2800" dirty="0"/>
              <a:t>chaine##</a:t>
            </a:r>
            <a:r>
              <a:rPr lang="fr-FR" sz="2800" dirty="0" err="1"/>
              <a:t>souschaine</a:t>
            </a:r>
            <a:r>
              <a:rPr lang="fr-FR" sz="2800" dirty="0"/>
              <a:t>}</a:t>
            </a:r>
          </a:p>
          <a:p>
            <a:pPr marL="1397000" lvl="3" eaLnBrk="0" fontAlgn="base" hangingPunct="0">
              <a:buFont typeface="Wingdings" panose="05000000000000000000" pitchFamily="2" charset="2"/>
              <a:buChar char="Ø"/>
            </a:pPr>
            <a:r>
              <a:rPr lang="fr-FR" sz="2800" dirty="0"/>
              <a:t>Supprime la correspondance la plus grande de $</a:t>
            </a:r>
            <a:r>
              <a:rPr lang="fr-FR" sz="2800" dirty="0" err="1"/>
              <a:t>souschaine</a:t>
            </a:r>
            <a:r>
              <a:rPr lang="fr-FR" sz="2800" dirty="0"/>
              <a:t> à partir du début de $chaine</a:t>
            </a:r>
            <a:r>
              <a:rPr lang="fr-FR" sz="2400" dirty="0">
                <a:solidFill>
                  <a:srgbClr val="333333"/>
                </a:solidFill>
                <a:latin typeface="Arial" panose="020B0604020202020204" pitchFamily="34" charset="0"/>
                <a:cs typeface="Arial" panose="020B0604020202020204" pitchFamily="34" charset="0"/>
              </a:rPr>
              <a:t>.</a:t>
            </a:r>
          </a:p>
          <a:p>
            <a:pPr marL="0" lvl="0" indent="0" defTabSz="914400" eaLnBrk="0" fontAlgn="base" hangingPunct="0">
              <a:spcBef>
                <a:spcPct val="0"/>
              </a:spcBef>
              <a:spcAft>
                <a:spcPct val="0"/>
              </a:spcAft>
              <a:buClrTx/>
              <a:buSzTx/>
              <a:buNone/>
            </a:pPr>
            <a:endParaRPr lang="fr-FR" sz="1800"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fr-FR" sz="2400" dirty="0" smtClean="0">
              <a:solidFill>
                <a:srgbClr val="333333"/>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fr-FR" sz="2400" dirty="0">
              <a:solidFill>
                <a:srgbClr val="333333"/>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200" b="1" i="0" u="none" strike="noStrike" cap="none" normalizeH="0" baseline="0" dirty="0" smtClean="0">
                <a:ln>
                  <a:noFill/>
                </a:ln>
                <a:solidFill>
                  <a:srgbClr val="333333"/>
                </a:solidFill>
                <a:effectLst/>
                <a:latin typeface="Arial" panose="020B0604020202020204" pitchFamily="34" charset="0"/>
                <a:cs typeface="Arial" panose="020B0604020202020204" pitchFamily="34" charset="0"/>
              </a:rPr>
              <a:t/>
            </a:r>
            <a:br>
              <a:rPr kumimoji="0" lang="fr-FR" sz="1200" b="1" i="0" u="none" strike="noStrike" cap="none" normalizeH="0" baseline="0" dirty="0" smtClean="0">
                <a:ln>
                  <a:noFill/>
                </a:ln>
                <a:solidFill>
                  <a:srgbClr val="333333"/>
                </a:solidFill>
                <a:effectLst/>
                <a:latin typeface="Arial" panose="020B0604020202020204" pitchFamily="34" charset="0"/>
                <a:cs typeface="Arial" panose="020B0604020202020204" pitchFamily="34" charset="0"/>
              </a:rPr>
            </a:br>
            <a:endParaRPr kumimoji="0" lang="fr-FR" sz="1200" b="1" i="0" u="none" strike="noStrike" cap="none" normalizeH="0" baseline="0" dirty="0" smtClean="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smtClean="0">
              <a:ln>
                <a:noFill/>
              </a:ln>
              <a:solidFill>
                <a:schemeClr val="tx1"/>
              </a:solidFill>
              <a:effectLst/>
              <a:latin typeface="Arial" panose="020B0604020202020204" pitchFamily="34" charset="0"/>
            </a:endParaRPr>
          </a:p>
        </p:txBody>
      </p:sp>
      <p:pic>
        <p:nvPicPr>
          <p:cNvPr id="7" name="Picture 6"/>
          <p:cNvPicPr>
            <a:picLocks noChangeAspect="1"/>
          </p:cNvPicPr>
          <p:nvPr/>
        </p:nvPicPr>
        <p:blipFill rotWithShape="1">
          <a:blip r:embed="rId2"/>
          <a:srcRect l="49867" t="39525" r="15907" b="50960"/>
          <a:stretch/>
        </p:blipFill>
        <p:spPr>
          <a:xfrm>
            <a:off x="6552484" y="7881870"/>
            <a:ext cx="6259133" cy="1600339"/>
          </a:xfrm>
          <a:prstGeom prst="rect">
            <a:avLst/>
          </a:prstGeom>
          <a:ln>
            <a:solidFill>
              <a:schemeClr val="bg1"/>
            </a:solidFill>
          </a:ln>
        </p:spPr>
      </p:pic>
      <p:pic>
        <p:nvPicPr>
          <p:cNvPr id="9" name="Picture 8"/>
          <p:cNvPicPr>
            <a:picLocks noChangeAspect="1"/>
          </p:cNvPicPr>
          <p:nvPr/>
        </p:nvPicPr>
        <p:blipFill rotWithShape="1">
          <a:blip r:embed="rId3"/>
          <a:srcRect l="15712" t="36020" r="50204" b="34935"/>
          <a:stretch/>
        </p:blipFill>
        <p:spPr>
          <a:xfrm>
            <a:off x="269026" y="6612905"/>
            <a:ext cx="6283458" cy="3011907"/>
          </a:xfrm>
          <a:prstGeom prst="rect">
            <a:avLst/>
          </a:prstGeom>
          <a:ln>
            <a:solidFill>
              <a:schemeClr val="bg1"/>
            </a:solidFill>
          </a:ln>
        </p:spPr>
      </p:pic>
    </p:spTree>
    <p:extLst>
      <p:ext uri="{BB962C8B-B14F-4D97-AF65-F5344CB8AC3E}">
        <p14:creationId xmlns="" xmlns:p14="http://schemas.microsoft.com/office/powerpoint/2010/main" val="2707511323"/>
      </p:ext>
    </p:extLst>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dirty="0"/>
              <a:t>Expr : manipulation des chaînes</a:t>
            </a:r>
          </a:p>
        </p:txBody>
      </p:sp>
      <p:sp>
        <p:nvSpPr>
          <p:cNvPr id="4" name="Rectangle 1"/>
          <p:cNvSpPr>
            <a:spLocks noGrp="1" noChangeArrowheads="1"/>
          </p:cNvSpPr>
          <p:nvPr>
            <p:ph type="body" idx="1"/>
          </p:nvPr>
        </p:nvSpPr>
        <p:spPr bwMode="auto">
          <a:xfrm>
            <a:off x="190321" y="2259407"/>
            <a:ext cx="11799910" cy="6300747"/>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58700" tIns="52371" rIns="0" bIns="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fr-FR" sz="2600" b="1" dirty="0"/>
              <a:t>Suppression de sous-chaînes</a:t>
            </a:r>
          </a:p>
          <a:p>
            <a:pPr marL="0" lvl="0" indent="0" defTabSz="914400" eaLnBrk="0" fontAlgn="base" hangingPunct="0">
              <a:spcBef>
                <a:spcPct val="0"/>
              </a:spcBef>
              <a:spcAft>
                <a:spcPct val="0"/>
              </a:spcAft>
              <a:buClrTx/>
              <a:buSzTx/>
              <a:buNone/>
            </a:pPr>
            <a:endParaRPr lang="fr-FR" sz="2600" dirty="0"/>
          </a:p>
          <a:p>
            <a:pPr lvl="1" defTabSz="914400" eaLnBrk="0" fontAlgn="base" hangingPunct="0">
              <a:spcBef>
                <a:spcPct val="0"/>
              </a:spcBef>
              <a:spcAft>
                <a:spcPct val="0"/>
              </a:spcAft>
              <a:buClrTx/>
              <a:buSzTx/>
              <a:buFont typeface="Wingdings" panose="05000000000000000000" pitchFamily="2" charset="2"/>
              <a:buChar char="Ø"/>
            </a:pPr>
            <a:r>
              <a:rPr lang="fr-FR" sz="2600" dirty="0"/>
              <a:t>${</a:t>
            </a:r>
            <a:r>
              <a:rPr lang="fr-FR" sz="2600" dirty="0" err="1"/>
              <a:t>chaine%souschaine</a:t>
            </a:r>
            <a:r>
              <a:rPr lang="fr-FR" sz="2600" dirty="0"/>
              <a:t>}</a:t>
            </a:r>
          </a:p>
          <a:p>
            <a:pPr marL="469900" lvl="1" indent="0" defTabSz="914400" eaLnBrk="0" fontAlgn="base" hangingPunct="0">
              <a:spcBef>
                <a:spcPct val="0"/>
              </a:spcBef>
              <a:spcAft>
                <a:spcPct val="0"/>
              </a:spcAft>
              <a:buClrTx/>
              <a:buSzTx/>
              <a:buNone/>
            </a:pPr>
            <a:r>
              <a:rPr lang="fr-FR" sz="2600" dirty="0"/>
              <a:t>	</a:t>
            </a:r>
          </a:p>
          <a:p>
            <a:pPr marL="1397000" lvl="3" indent="-457200" defTabSz="914400" eaLnBrk="0" fontAlgn="base" hangingPunct="0">
              <a:spcBef>
                <a:spcPct val="0"/>
              </a:spcBef>
              <a:spcAft>
                <a:spcPct val="0"/>
              </a:spcAft>
              <a:buClrTx/>
              <a:buSzTx/>
              <a:buFont typeface="Wingdings" panose="05000000000000000000" pitchFamily="2" charset="2"/>
              <a:buChar char="Ø"/>
            </a:pPr>
            <a:r>
              <a:rPr lang="fr-FR" sz="2600" dirty="0"/>
              <a:t>Supprime la plus petite correspondance de $</a:t>
            </a:r>
            <a:r>
              <a:rPr lang="fr-FR" sz="2600" dirty="0" err="1"/>
              <a:t>souschaine</a:t>
            </a:r>
            <a:r>
              <a:rPr lang="fr-FR" sz="2600" dirty="0"/>
              <a:t> à partir de la fin de $chaine.</a:t>
            </a:r>
          </a:p>
          <a:p>
            <a:pPr marL="939800" lvl="3" indent="0" defTabSz="914400" eaLnBrk="0" fontAlgn="base" hangingPunct="0">
              <a:spcBef>
                <a:spcPct val="0"/>
              </a:spcBef>
              <a:spcAft>
                <a:spcPct val="0"/>
              </a:spcAft>
              <a:buClrTx/>
              <a:buSzTx/>
              <a:buNone/>
            </a:pPr>
            <a:endParaRPr lang="fr-FR" sz="2600" dirty="0"/>
          </a:p>
          <a:p>
            <a:pPr lvl="1" defTabSz="914400" eaLnBrk="0" fontAlgn="base" hangingPunct="0">
              <a:spcBef>
                <a:spcPct val="0"/>
              </a:spcBef>
              <a:spcAft>
                <a:spcPct val="0"/>
              </a:spcAft>
              <a:buClrTx/>
              <a:buSzTx/>
              <a:buFont typeface="Wingdings" panose="05000000000000000000" pitchFamily="2" charset="2"/>
              <a:buChar char="Ø"/>
            </a:pPr>
            <a:r>
              <a:rPr lang="fr-FR" sz="2600" dirty="0"/>
              <a:t>${chaine%%</a:t>
            </a:r>
            <a:r>
              <a:rPr lang="fr-FR" sz="2600" dirty="0" err="1"/>
              <a:t>souschaine</a:t>
            </a:r>
            <a:r>
              <a:rPr lang="fr-FR" sz="2600" dirty="0"/>
              <a:t>}</a:t>
            </a:r>
          </a:p>
          <a:p>
            <a:pPr lvl="1" defTabSz="914400" eaLnBrk="0" fontAlgn="base" hangingPunct="0">
              <a:spcBef>
                <a:spcPct val="0"/>
              </a:spcBef>
              <a:spcAft>
                <a:spcPct val="0"/>
              </a:spcAft>
              <a:buClrTx/>
              <a:buSzTx/>
              <a:buFont typeface="Wingdings" panose="05000000000000000000" pitchFamily="2" charset="2"/>
              <a:buChar char="Ø"/>
            </a:pPr>
            <a:endParaRPr lang="fr-FR" sz="2600" dirty="0"/>
          </a:p>
          <a:p>
            <a:pPr lvl="2" defTabSz="914400" eaLnBrk="0" fontAlgn="base" hangingPunct="0">
              <a:spcBef>
                <a:spcPct val="0"/>
              </a:spcBef>
              <a:spcAft>
                <a:spcPct val="0"/>
              </a:spcAft>
              <a:buClrTx/>
              <a:buSzTx/>
              <a:buFont typeface="Wingdings" panose="05000000000000000000" pitchFamily="2" charset="2"/>
              <a:buChar char="Ø"/>
            </a:pPr>
            <a:r>
              <a:rPr lang="fr-FR" sz="2600" dirty="0"/>
              <a:t>Supprime la plus grande correspondance de $</a:t>
            </a:r>
            <a:r>
              <a:rPr lang="fr-FR" sz="2600" dirty="0" err="1"/>
              <a:t>souschaine</a:t>
            </a:r>
            <a:r>
              <a:rPr lang="fr-FR" sz="2600" dirty="0"/>
              <a:t> à partir de la fin de $chaine.</a:t>
            </a:r>
          </a:p>
          <a:p>
            <a:pPr marL="0" marR="0" lvl="0" indent="0" algn="l" defTabSz="914400" rtl="0" eaLnBrk="0" fontAlgn="base" latinLnBrk="0" hangingPunct="0">
              <a:lnSpc>
                <a:spcPct val="100000"/>
              </a:lnSpc>
              <a:spcBef>
                <a:spcPct val="0"/>
              </a:spcBef>
              <a:spcAft>
                <a:spcPct val="0"/>
              </a:spcAft>
              <a:buClrTx/>
              <a:buSzTx/>
              <a:buFontTx/>
              <a:buNone/>
              <a:tabLst/>
            </a:pPr>
            <a:endParaRPr lang="fr-FR" sz="2400" dirty="0" smtClean="0">
              <a:solidFill>
                <a:srgbClr val="333333"/>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fr-FR" sz="2400" dirty="0">
              <a:solidFill>
                <a:srgbClr val="333333"/>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2400" b="1" i="0" u="none" strike="noStrike" cap="none" normalizeH="0" baseline="0" dirty="0" smtClean="0">
                <a:ln>
                  <a:noFill/>
                </a:ln>
                <a:solidFill>
                  <a:srgbClr val="333333"/>
                </a:solidFill>
                <a:effectLst/>
                <a:latin typeface="Arial" panose="020B0604020202020204" pitchFamily="34" charset="0"/>
                <a:cs typeface="Arial" panose="020B0604020202020204" pitchFamily="34" charset="0"/>
              </a:rPr>
              <a:t/>
            </a:r>
            <a:br>
              <a:rPr kumimoji="0" lang="fr-FR" sz="2400" b="1" i="0" u="none" strike="noStrike" cap="none" normalizeH="0" baseline="0" dirty="0" smtClean="0">
                <a:ln>
                  <a:noFill/>
                </a:ln>
                <a:solidFill>
                  <a:srgbClr val="333333"/>
                </a:solidFill>
                <a:effectLst/>
                <a:latin typeface="Arial" panose="020B0604020202020204" pitchFamily="34" charset="0"/>
                <a:cs typeface="Arial" panose="020B0604020202020204" pitchFamily="34" charset="0"/>
              </a:rPr>
            </a:br>
            <a:endParaRPr kumimoji="0" lang="fr-FR" sz="2400" b="1" i="0" u="none" strike="noStrike" cap="none" normalizeH="0" baseline="0" dirty="0" smtClean="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2400" b="0" i="0" u="none" strike="noStrike" cap="none" normalizeH="0" baseline="0" dirty="0" smtClean="0">
              <a:ln>
                <a:noFill/>
              </a:ln>
              <a:solidFill>
                <a:schemeClr val="tx1"/>
              </a:solidFill>
              <a:effectLst/>
              <a:latin typeface="Arial" panose="020B0604020202020204" pitchFamily="34" charset="0"/>
            </a:endParaRPr>
          </a:p>
        </p:txBody>
      </p:sp>
      <p:pic>
        <p:nvPicPr>
          <p:cNvPr id="5" name="Picture 4"/>
          <p:cNvPicPr>
            <a:picLocks noChangeAspect="1"/>
          </p:cNvPicPr>
          <p:nvPr/>
        </p:nvPicPr>
        <p:blipFill rotWithShape="1">
          <a:blip r:embed="rId3"/>
          <a:srcRect l="15993" t="34768" r="50204" b="32806"/>
          <a:stretch/>
        </p:blipFill>
        <p:spPr>
          <a:xfrm>
            <a:off x="357747" y="6681428"/>
            <a:ext cx="5907110" cy="3072172"/>
          </a:xfrm>
          <a:prstGeom prst="rect">
            <a:avLst/>
          </a:prstGeom>
          <a:ln>
            <a:solidFill>
              <a:schemeClr val="bg1"/>
            </a:solidFill>
          </a:ln>
        </p:spPr>
      </p:pic>
      <p:pic>
        <p:nvPicPr>
          <p:cNvPr id="6" name="Picture 5"/>
          <p:cNvPicPr>
            <a:picLocks noChangeAspect="1"/>
          </p:cNvPicPr>
          <p:nvPr/>
        </p:nvPicPr>
        <p:blipFill rotWithShape="1">
          <a:blip r:embed="rId3"/>
          <a:srcRect l="49867" t="39150" r="15838" b="51461"/>
          <a:stretch/>
        </p:blipFill>
        <p:spPr>
          <a:xfrm>
            <a:off x="6264857" y="8088699"/>
            <a:ext cx="6439437" cy="991700"/>
          </a:xfrm>
          <a:prstGeom prst="rect">
            <a:avLst/>
          </a:prstGeom>
          <a:ln>
            <a:solidFill>
              <a:schemeClr val="bg1"/>
            </a:solidFill>
          </a:ln>
        </p:spPr>
      </p:pic>
    </p:spTree>
    <p:extLst>
      <p:ext uri="{BB962C8B-B14F-4D97-AF65-F5344CB8AC3E}">
        <p14:creationId xmlns="" xmlns:p14="http://schemas.microsoft.com/office/powerpoint/2010/main" val="3660520077"/>
      </p:ext>
    </p:extLst>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fr-FR" dirty="0"/>
              <a:t>Expr : manipulation des chaînes</a:t>
            </a:r>
          </a:p>
        </p:txBody>
      </p:sp>
      <p:sp>
        <p:nvSpPr>
          <p:cNvPr id="4" name="Rectangle 1"/>
          <p:cNvSpPr>
            <a:spLocks noGrp="1" noChangeArrowheads="1"/>
          </p:cNvSpPr>
          <p:nvPr>
            <p:ph type="body" idx="1"/>
          </p:nvPr>
        </p:nvSpPr>
        <p:spPr bwMode="auto">
          <a:xfrm>
            <a:off x="0" y="2577104"/>
            <a:ext cx="11799910" cy="4392532"/>
          </a:xfrm>
          <a:prstGeom prst="rect">
            <a:avLst/>
          </a:prstGeom>
          <a:solidFill>
            <a:srgbClr val="FFFFFF"/>
          </a:soli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158700" tIns="52371" rIns="0" bIns="0" numCol="1" anchor="ctr" anchorCtr="0" compatLnSpc="1">
            <a:prstTxWarp prst="textNoShape">
              <a:avLst/>
            </a:prstTxWarp>
            <a:spAutoFit/>
          </a:bodyPr>
          <a:lstStyle/>
          <a:p>
            <a:pPr lvl="0" defTabSz="914400" eaLnBrk="0" fontAlgn="base" hangingPunct="0">
              <a:spcBef>
                <a:spcPct val="0"/>
              </a:spcBef>
              <a:spcAft>
                <a:spcPct val="0"/>
              </a:spcAft>
              <a:buClrTx/>
              <a:buSzTx/>
              <a:buFont typeface="Wingdings" panose="05000000000000000000" pitchFamily="2" charset="2"/>
              <a:buChar char="v"/>
            </a:pPr>
            <a:r>
              <a:rPr lang="fr-FR" sz="2400" b="1" dirty="0"/>
              <a:t>Remplacement de sous-chaîne</a:t>
            </a:r>
          </a:p>
          <a:p>
            <a:pPr lvl="0" defTabSz="914400" eaLnBrk="0" fontAlgn="base" hangingPunct="0">
              <a:spcBef>
                <a:spcPct val="0"/>
              </a:spcBef>
              <a:spcAft>
                <a:spcPct val="0"/>
              </a:spcAft>
              <a:buClrTx/>
              <a:buSzTx/>
              <a:buFont typeface="Wingdings" panose="05000000000000000000" pitchFamily="2" charset="2"/>
              <a:buChar char="v"/>
            </a:pPr>
            <a:endParaRPr lang="fr-FR" sz="2400" dirty="0"/>
          </a:p>
          <a:p>
            <a:pPr lvl="1" defTabSz="914400" eaLnBrk="0" fontAlgn="base" hangingPunct="0">
              <a:spcBef>
                <a:spcPct val="0"/>
              </a:spcBef>
              <a:spcAft>
                <a:spcPct val="0"/>
              </a:spcAft>
              <a:buClrTx/>
              <a:buSzTx/>
              <a:buFont typeface="Wingdings" panose="05000000000000000000" pitchFamily="2" charset="2"/>
              <a:buChar char="Ø"/>
            </a:pPr>
            <a:r>
              <a:rPr lang="fr-FR" sz="2400" dirty="0"/>
              <a:t>${chaine/</a:t>
            </a:r>
            <a:r>
              <a:rPr lang="fr-FR" sz="2400" dirty="0" err="1"/>
              <a:t>souschaine</a:t>
            </a:r>
            <a:r>
              <a:rPr lang="fr-FR" sz="2400" dirty="0"/>
              <a:t>/remplacement}</a:t>
            </a:r>
          </a:p>
          <a:p>
            <a:pPr lvl="1" defTabSz="914400" eaLnBrk="0" fontAlgn="base" hangingPunct="0">
              <a:spcBef>
                <a:spcPct val="0"/>
              </a:spcBef>
              <a:spcAft>
                <a:spcPct val="0"/>
              </a:spcAft>
              <a:buClrTx/>
              <a:buSzTx/>
              <a:buFont typeface="Wingdings" panose="05000000000000000000" pitchFamily="2" charset="2"/>
              <a:buChar char="Ø"/>
            </a:pPr>
            <a:endParaRPr lang="fr-FR" sz="2400" dirty="0"/>
          </a:p>
          <a:p>
            <a:pPr marL="1397000" lvl="3" indent="-457200" defTabSz="914400" eaLnBrk="0" fontAlgn="base" hangingPunct="0">
              <a:spcBef>
                <a:spcPct val="0"/>
              </a:spcBef>
              <a:spcAft>
                <a:spcPct val="0"/>
              </a:spcAft>
              <a:buClrTx/>
              <a:buSzTx/>
              <a:buFont typeface="Wingdings" panose="05000000000000000000" pitchFamily="2" charset="2"/>
              <a:buChar char="Ø"/>
            </a:pPr>
            <a:r>
              <a:rPr lang="fr-FR" sz="2400" dirty="0"/>
              <a:t>Remplace la première correspondance de $</a:t>
            </a:r>
            <a:r>
              <a:rPr lang="fr-FR" sz="2400" dirty="0" err="1"/>
              <a:t>souschaine</a:t>
            </a:r>
            <a:r>
              <a:rPr lang="fr-FR" sz="2400" dirty="0"/>
              <a:t> par $remplacement.</a:t>
            </a:r>
          </a:p>
          <a:p>
            <a:pPr marL="1397000" lvl="3" indent="-457200" defTabSz="914400" eaLnBrk="0" fontAlgn="base" hangingPunct="0">
              <a:spcBef>
                <a:spcPct val="0"/>
              </a:spcBef>
              <a:spcAft>
                <a:spcPct val="0"/>
              </a:spcAft>
              <a:buClrTx/>
              <a:buSzTx/>
              <a:buFont typeface="Wingdings" panose="05000000000000000000" pitchFamily="2" charset="2"/>
              <a:buChar char="Ø"/>
            </a:pPr>
            <a:endParaRPr lang="fr-FR" sz="2400" dirty="0"/>
          </a:p>
          <a:p>
            <a:pPr lvl="1" defTabSz="914400" eaLnBrk="0" fontAlgn="base" hangingPunct="0">
              <a:spcBef>
                <a:spcPct val="0"/>
              </a:spcBef>
              <a:spcAft>
                <a:spcPct val="0"/>
              </a:spcAft>
              <a:buClrTx/>
              <a:buSzTx/>
              <a:buFont typeface="Wingdings" panose="05000000000000000000" pitchFamily="2" charset="2"/>
              <a:buChar char="Ø"/>
            </a:pPr>
            <a:r>
              <a:rPr lang="fr-FR" sz="2400" dirty="0"/>
              <a:t>${chaine//</a:t>
            </a:r>
            <a:r>
              <a:rPr lang="fr-FR" sz="2400" dirty="0" err="1"/>
              <a:t>souschaine</a:t>
            </a:r>
            <a:r>
              <a:rPr lang="fr-FR" sz="2400" dirty="0"/>
              <a:t>/remplacement}</a:t>
            </a:r>
          </a:p>
          <a:p>
            <a:pPr lvl="1" defTabSz="914400" eaLnBrk="0" fontAlgn="base" hangingPunct="0">
              <a:spcBef>
                <a:spcPct val="0"/>
              </a:spcBef>
              <a:spcAft>
                <a:spcPct val="0"/>
              </a:spcAft>
              <a:buClrTx/>
              <a:buSzTx/>
              <a:buFont typeface="Wingdings" panose="05000000000000000000" pitchFamily="2" charset="2"/>
              <a:buChar char="Ø"/>
            </a:pPr>
            <a:endParaRPr lang="fr-FR" sz="2400" dirty="0"/>
          </a:p>
          <a:p>
            <a:pPr lvl="2" defTabSz="914400" eaLnBrk="0" fontAlgn="base" hangingPunct="0">
              <a:spcBef>
                <a:spcPct val="0"/>
              </a:spcBef>
              <a:spcAft>
                <a:spcPct val="0"/>
              </a:spcAft>
              <a:buClrTx/>
              <a:buSzTx/>
              <a:buFont typeface="Wingdings" panose="05000000000000000000" pitchFamily="2" charset="2"/>
              <a:buChar char="Ø"/>
            </a:pPr>
            <a:r>
              <a:rPr lang="fr-FR" sz="2400" dirty="0"/>
              <a:t>Remplace toutes les correspondances de $</a:t>
            </a:r>
            <a:r>
              <a:rPr lang="fr-FR" sz="2400" dirty="0" err="1"/>
              <a:t>souschaine</a:t>
            </a:r>
            <a:r>
              <a:rPr lang="fr-FR" sz="2400" dirty="0"/>
              <a:t> avec $remplacement.</a:t>
            </a:r>
          </a:p>
          <a:p>
            <a:pPr marL="0" marR="0" lvl="0" indent="0" algn="l" defTabSz="914400" rtl="0" eaLnBrk="0" fontAlgn="base" latinLnBrk="0" hangingPunct="0">
              <a:lnSpc>
                <a:spcPct val="100000"/>
              </a:lnSpc>
              <a:spcBef>
                <a:spcPct val="0"/>
              </a:spcBef>
              <a:spcAft>
                <a:spcPct val="0"/>
              </a:spcAft>
              <a:buClrTx/>
              <a:buSzTx/>
              <a:buFontTx/>
              <a:buNone/>
              <a:tabLst/>
            </a:pPr>
            <a:endParaRPr lang="fr-FR" sz="2400" dirty="0">
              <a:solidFill>
                <a:srgbClr val="333333"/>
              </a:solidFill>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r-FR" sz="1200" b="1" i="0" u="none" strike="noStrike" cap="none" normalizeH="0" baseline="0" dirty="0" smtClean="0">
                <a:ln>
                  <a:noFill/>
                </a:ln>
                <a:solidFill>
                  <a:srgbClr val="333333"/>
                </a:solidFill>
                <a:effectLst/>
                <a:latin typeface="Arial" panose="020B0604020202020204" pitchFamily="34" charset="0"/>
                <a:cs typeface="Arial" panose="020B0604020202020204" pitchFamily="34" charset="0"/>
              </a:rPr>
              <a:t/>
            </a:r>
            <a:br>
              <a:rPr kumimoji="0" lang="fr-FR" sz="1200" b="1" i="0" u="none" strike="noStrike" cap="none" normalizeH="0" baseline="0" dirty="0" smtClean="0">
                <a:ln>
                  <a:noFill/>
                </a:ln>
                <a:solidFill>
                  <a:srgbClr val="333333"/>
                </a:solidFill>
                <a:effectLst/>
                <a:latin typeface="Arial" panose="020B0604020202020204" pitchFamily="34" charset="0"/>
                <a:cs typeface="Arial" panose="020B0604020202020204" pitchFamily="34" charset="0"/>
              </a:rPr>
            </a:br>
            <a:endParaRPr kumimoji="0" lang="fr-FR" sz="1200" b="1" i="0" u="none" strike="noStrike" cap="none" normalizeH="0" baseline="0" dirty="0" smtClean="0">
              <a:ln>
                <a:noFill/>
              </a:ln>
              <a:solidFill>
                <a:srgbClr val="333333"/>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fr-FR" sz="1800" b="0" i="0" u="none" strike="noStrike" cap="none" normalizeH="0" baseline="0" dirty="0" smtClean="0">
              <a:ln>
                <a:noFill/>
              </a:ln>
              <a:solidFill>
                <a:schemeClr val="tx1"/>
              </a:solidFill>
              <a:effectLst/>
              <a:latin typeface="Arial" panose="020B0604020202020204" pitchFamily="34" charset="0"/>
            </a:endParaRPr>
          </a:p>
        </p:txBody>
      </p:sp>
      <p:pic>
        <p:nvPicPr>
          <p:cNvPr id="8" name="Picture 7"/>
          <p:cNvPicPr>
            <a:picLocks noChangeAspect="1"/>
          </p:cNvPicPr>
          <p:nvPr/>
        </p:nvPicPr>
        <p:blipFill rotWithShape="1">
          <a:blip r:embed="rId3"/>
          <a:srcRect l="15853" t="34768" r="50274" b="32431"/>
          <a:stretch/>
        </p:blipFill>
        <p:spPr>
          <a:xfrm>
            <a:off x="257577" y="6379335"/>
            <a:ext cx="6194738" cy="3374265"/>
          </a:xfrm>
          <a:prstGeom prst="rect">
            <a:avLst/>
          </a:prstGeom>
          <a:ln>
            <a:solidFill>
              <a:schemeClr val="bg1"/>
            </a:solidFill>
          </a:ln>
        </p:spPr>
      </p:pic>
      <p:pic>
        <p:nvPicPr>
          <p:cNvPr id="9" name="Picture 8"/>
          <p:cNvPicPr>
            <a:picLocks noChangeAspect="1"/>
          </p:cNvPicPr>
          <p:nvPr/>
        </p:nvPicPr>
        <p:blipFill rotWithShape="1">
          <a:blip r:embed="rId3"/>
          <a:srcRect l="49938" t="39150" r="15907" b="51586"/>
          <a:stretch/>
        </p:blipFill>
        <p:spPr>
          <a:xfrm>
            <a:off x="6452315" y="8525814"/>
            <a:ext cx="6246254" cy="1094705"/>
          </a:xfrm>
          <a:prstGeom prst="rect">
            <a:avLst/>
          </a:prstGeom>
          <a:ln>
            <a:solidFill>
              <a:schemeClr val="bg1"/>
            </a:solidFill>
          </a:ln>
        </p:spPr>
      </p:pic>
    </p:spTree>
    <p:extLst>
      <p:ext uri="{BB962C8B-B14F-4D97-AF65-F5344CB8AC3E}">
        <p14:creationId xmlns="" xmlns:p14="http://schemas.microsoft.com/office/powerpoint/2010/main" val="2826284018"/>
      </p:ext>
    </p:extLst>
  </p:cSld>
  <p:clrMapOvr>
    <a:masterClrMapping/>
  </p:clrMapOvr>
  <p:transition spd="med"/>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New_Template4">
  <a:themeElements>
    <a:clrScheme name="New_Template4">
      <a:dk1>
        <a:srgbClr val="414141"/>
      </a:dk1>
      <a:lt1>
        <a:srgbClr val="004141"/>
      </a:lt1>
      <a:dk2>
        <a:srgbClr val="66635F"/>
      </a:dk2>
      <a:lt2>
        <a:srgbClr val="C9C3BA"/>
      </a:lt2>
      <a:accent1>
        <a:srgbClr val="738FAF"/>
      </a:accent1>
      <a:accent2>
        <a:srgbClr val="74B6A8"/>
      </a:accent2>
      <a:accent3>
        <a:srgbClr val="A0AA69"/>
      </a:accent3>
      <a:accent4>
        <a:srgbClr val="CBA968"/>
      </a:accent4>
      <a:accent5>
        <a:srgbClr val="D08A7A"/>
      </a:accent5>
      <a:accent6>
        <a:srgbClr val="9E95A9"/>
      </a:accent6>
      <a:hlink>
        <a:srgbClr val="0000FF"/>
      </a:hlink>
      <a:folHlink>
        <a:srgbClr val="FF00FF"/>
      </a:folHlink>
    </a:clrScheme>
    <a:fontScheme name="New_Template4">
      <a:majorFont>
        <a:latin typeface="Bodoni SvtyTwo ITC TT-Book"/>
        <a:ea typeface="Bodoni SvtyTwo ITC TT-Book"/>
        <a:cs typeface="Bodoni SvtyTwo ITC TT-Book"/>
      </a:majorFont>
      <a:minorFont>
        <a:latin typeface="Bodoni SvtyTwo ITC TT-Book"/>
        <a:ea typeface="Bodoni SvtyTwo ITC TT-Book"/>
        <a:cs typeface="Bodoni SvtyTwo ITC TT-Book"/>
      </a:minorFont>
    </a:fontScheme>
    <a:fmtScheme name="New_Template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outerShdw blurRad="25400" dist="33948" dir="2700000" rotWithShape="0">
                <a:srgbClr val="3B3936"/>
              </a:outerShdw>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14141"/>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New_Template4">
  <a:themeElements>
    <a:clrScheme name="New_Template4">
      <a:dk1>
        <a:srgbClr val="000000"/>
      </a:dk1>
      <a:lt1>
        <a:srgbClr val="FFFFFF"/>
      </a:lt1>
      <a:dk2>
        <a:srgbClr val="66635F"/>
      </a:dk2>
      <a:lt2>
        <a:srgbClr val="C9C3BA"/>
      </a:lt2>
      <a:accent1>
        <a:srgbClr val="738FAF"/>
      </a:accent1>
      <a:accent2>
        <a:srgbClr val="74B6A8"/>
      </a:accent2>
      <a:accent3>
        <a:srgbClr val="A0AA69"/>
      </a:accent3>
      <a:accent4>
        <a:srgbClr val="CBA968"/>
      </a:accent4>
      <a:accent5>
        <a:srgbClr val="D08A7A"/>
      </a:accent5>
      <a:accent6>
        <a:srgbClr val="9E95A9"/>
      </a:accent6>
      <a:hlink>
        <a:srgbClr val="0000FF"/>
      </a:hlink>
      <a:folHlink>
        <a:srgbClr val="FF00FF"/>
      </a:folHlink>
    </a:clrScheme>
    <a:fontScheme name="New_Template4">
      <a:majorFont>
        <a:latin typeface="Bodoni SvtyTwo ITC TT-Book"/>
        <a:ea typeface="Bodoni SvtyTwo ITC TT-Book"/>
        <a:cs typeface="Bodoni SvtyTwo ITC TT-Book"/>
      </a:majorFont>
      <a:minorFont>
        <a:latin typeface="Bodoni SvtyTwo ITC TT-Book"/>
        <a:ea typeface="Bodoni SvtyTwo ITC TT-Book"/>
        <a:cs typeface="Bodoni SvtyTwo ITC TT-Book"/>
      </a:minorFont>
    </a:fontScheme>
    <a:fmtScheme name="New_Template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outerShdw blurRad="25400" dist="33948" dir="2700000" rotWithShape="0">
                <a:srgbClr val="3B3936"/>
              </a:outerShdw>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414141"/>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2400" b="0" i="0" u="none" strike="noStrike" cap="none" spc="0" normalizeH="0" baseline="0">
            <a:ln>
              <a:noFill/>
            </a:ln>
            <a:solidFill>
              <a:srgbClr val="414141"/>
            </a:solidFill>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Override1.xml><?xml version="1.0" encoding="utf-8"?>
<a:themeOverride xmlns:a="http://schemas.openxmlformats.org/drawingml/2006/main">
  <a:clrScheme name="New_Template4">
    <a:dk1>
      <a:srgbClr val="414141"/>
    </a:dk1>
    <a:lt1>
      <a:srgbClr val="004141"/>
    </a:lt1>
    <a:dk2>
      <a:srgbClr val="66635F"/>
    </a:dk2>
    <a:lt2>
      <a:srgbClr val="C9C3BA"/>
    </a:lt2>
    <a:accent1>
      <a:srgbClr val="738FAF"/>
    </a:accent1>
    <a:accent2>
      <a:srgbClr val="74B6A8"/>
    </a:accent2>
    <a:accent3>
      <a:srgbClr val="A0AA69"/>
    </a:accent3>
    <a:accent4>
      <a:srgbClr val="CBA968"/>
    </a:accent4>
    <a:accent5>
      <a:srgbClr val="D08A7A"/>
    </a:accent5>
    <a:accent6>
      <a:srgbClr val="9E95A9"/>
    </a:accent6>
    <a:hlink>
      <a:srgbClr val="0000FF"/>
    </a:hlink>
    <a:folHlink>
      <a:srgbClr val="FF00FF"/>
    </a:folHlink>
  </a:clrScheme>
</a:themeOverride>
</file>

<file path=docProps/app.xml><?xml version="1.0" encoding="utf-8"?>
<Properties xmlns="http://schemas.openxmlformats.org/officeDocument/2006/extended-properties" xmlns:vt="http://schemas.openxmlformats.org/officeDocument/2006/docPropsVTypes">
  <Template/>
  <TotalTime>5125</TotalTime>
  <Words>1212</Words>
  <Application>Microsoft Office PowerPoint</Application>
  <PresentationFormat>Personnalisé</PresentationFormat>
  <Paragraphs>283</Paragraphs>
  <Slides>31</Slides>
  <Notes>15</Notes>
  <HiddenSlides>0</HiddenSlides>
  <MMClips>0</MMClips>
  <ScaleCrop>false</ScaleCrop>
  <HeadingPairs>
    <vt:vector size="4" baseType="variant">
      <vt:variant>
        <vt:lpstr>Thème</vt:lpstr>
      </vt:variant>
      <vt:variant>
        <vt:i4>1</vt:i4>
      </vt:variant>
      <vt:variant>
        <vt:lpstr>Titres des diapositives</vt:lpstr>
      </vt:variant>
      <vt:variant>
        <vt:i4>31</vt:i4>
      </vt:variant>
    </vt:vector>
  </HeadingPairs>
  <TitlesOfParts>
    <vt:vector size="32" baseType="lpstr">
      <vt:lpstr>New_Template4</vt:lpstr>
      <vt:lpstr>Module : Système et Scripting</vt:lpstr>
      <vt:lpstr>Planification &amp; Informations</vt:lpstr>
      <vt:lpstr>Diapositive 3</vt:lpstr>
      <vt:lpstr>Plan</vt:lpstr>
      <vt:lpstr>Le principe des scripts</vt:lpstr>
      <vt:lpstr>Fonctionnement des scripts</vt:lpstr>
      <vt:lpstr>Fonctionnement des scripts</vt:lpstr>
      <vt:lpstr>Exécution  des scripts</vt:lpstr>
      <vt:lpstr>composants des scripts</vt:lpstr>
      <vt:lpstr>syntaxe</vt:lpstr>
      <vt:lpstr>Déclaration des variables</vt:lpstr>
      <vt:lpstr>echo : affichage des variables</vt:lpstr>
      <vt:lpstr>echo : affichage des variables</vt:lpstr>
      <vt:lpstr>les « quotes »</vt:lpstr>
      <vt:lpstr>read : saisie des variables </vt:lpstr>
      <vt:lpstr>Exemple </vt:lpstr>
      <vt:lpstr>Les variables d'environnement</vt:lpstr>
      <vt:lpstr>Les variables d'environnement</vt:lpstr>
      <vt:lpstr>Les variables spéciales</vt:lpstr>
      <vt:lpstr>Tableaux</vt:lpstr>
      <vt:lpstr>Tableaux</vt:lpstr>
      <vt:lpstr>Tableaux</vt:lpstr>
      <vt:lpstr>Tableaux</vt:lpstr>
      <vt:lpstr>Expr : arithmétique</vt:lpstr>
      <vt:lpstr>Expr : manipulation des chaînes</vt:lpstr>
      <vt:lpstr>Expr : manipulation des chaînes</vt:lpstr>
      <vt:lpstr>Expr : manipulation des chaînes</vt:lpstr>
      <vt:lpstr>Expr : manipulation des chaînes</vt:lpstr>
      <vt:lpstr>Expr : manipulation des chaînes</vt:lpstr>
      <vt:lpstr>Expr : manipulation des chaînes</vt:lpstr>
      <vt:lpstr>Expr : manipulation des chaînes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Administration &amp; Sécurité des Systèmes d’Exploitation</dc:title>
  <dc:creator>kalthoum</dc:creator>
  <cp:lastModifiedBy>Manel</cp:lastModifiedBy>
  <cp:revision>228</cp:revision>
  <dcterms:modified xsi:type="dcterms:W3CDTF">2021-02-19T07:17:40Z</dcterms:modified>
</cp:coreProperties>
</file>