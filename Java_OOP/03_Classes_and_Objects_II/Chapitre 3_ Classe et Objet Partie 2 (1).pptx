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Barlow Condensed Medium"/>
      <p:regular r:id="rId29"/>
      <p:bold r:id="rId30"/>
      <p:italic r:id="rId31"/>
      <p:boldItalic r:id="rId32"/>
    </p:embeddedFont>
    <p:embeddedFont>
      <p:font typeface="Barlow Condensed"/>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BE450D-3483-4777-A277-FFBD32F30267}">
  <a:tblStyle styleId="{26BE450D-3483-4777-A277-FFBD32F3026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CD15C0B-5C9D-4ECD-BFD3-1CDC92890789}"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6E6E6"/>
          </a:solidFill>
        </a:fill>
      </a:tcStyle>
    </a:wholeTbl>
    <a:band1H>
      <a:tcTxStyle b="off" i="off"/>
      <a:tcStyle>
        <a:fill>
          <a:solidFill>
            <a:srgbClr val="CACACA"/>
          </a:solidFill>
        </a:fill>
      </a:tcStyle>
    </a:band1H>
    <a:band2H>
      <a:tcTxStyle b="off" i="off"/>
    </a:band2H>
    <a:band1V>
      <a:tcTxStyle b="off" i="off"/>
      <a:tcStyle>
        <a:fill>
          <a:solidFill>
            <a:srgbClr val="CACACA"/>
          </a:solidFill>
        </a:fill>
      </a:tcStyle>
    </a:band1V>
    <a:band2V>
      <a:tcTxStyle b="off" i="off"/>
    </a:band2V>
    <a:lastCol>
      <a:tcTxStyle b="on" i="off">
        <a:font>
          <a:latin typeface="Arial"/>
          <a:ea typeface="Arial"/>
          <a:cs typeface="Arial"/>
        </a:font>
        <a:srgbClr val="FFFFFF"/>
      </a:tcTxStyle>
      <a:tcStyle>
        <a:fill>
          <a:solidFill>
            <a:srgbClr val="000000"/>
          </a:solidFill>
        </a:fill>
      </a:tcStyle>
    </a:lastCol>
    <a:firstCol>
      <a:tcTxStyle b="on" i="off">
        <a:font>
          <a:latin typeface="Arial"/>
          <a:ea typeface="Arial"/>
          <a:cs typeface="Arial"/>
        </a:font>
        <a:srgbClr val="FFFFFF"/>
      </a:tcTxStyle>
      <a:tcStyle>
        <a:fill>
          <a:solidFill>
            <a:srgbClr val="000000"/>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000000"/>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000000"/>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arlowCondensedMedium-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arlowCondensedMedium-italic.fntdata"/><Relationship Id="rId30" Type="http://schemas.openxmlformats.org/officeDocument/2006/relationships/font" Target="fonts/BarlowCondensedMedium-bold.fntdata"/><Relationship Id="rId11" Type="http://schemas.openxmlformats.org/officeDocument/2006/relationships/slide" Target="slides/slide5.xml"/><Relationship Id="rId33" Type="http://schemas.openxmlformats.org/officeDocument/2006/relationships/font" Target="fonts/BarlowCondensed-regular.fntdata"/><Relationship Id="rId10" Type="http://schemas.openxmlformats.org/officeDocument/2006/relationships/slide" Target="slides/slide4.xml"/><Relationship Id="rId32" Type="http://schemas.openxmlformats.org/officeDocument/2006/relationships/font" Target="fonts/BarlowCondensedMedium-boldItalic.fntdata"/><Relationship Id="rId13" Type="http://schemas.openxmlformats.org/officeDocument/2006/relationships/slide" Target="slides/slide7.xml"/><Relationship Id="rId35" Type="http://schemas.openxmlformats.org/officeDocument/2006/relationships/font" Target="fonts/BarlowCondensed-italic.fntdata"/><Relationship Id="rId12" Type="http://schemas.openxmlformats.org/officeDocument/2006/relationships/slide" Target="slides/slide6.xml"/><Relationship Id="rId34" Type="http://schemas.openxmlformats.org/officeDocument/2006/relationships/font" Target="fonts/BarlowCondensed-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BarlowCondensed-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7c088f8ff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7c088f8ff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204f809d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8204f809d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8204f809da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8204f809da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8204f809d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8204f809d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82cb547631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82cb547631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8204f809d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8204f809d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8204f809d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8204f809d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8204f809d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8204f809d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8204f809d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8204f809d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8204f809da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8204f809d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8204f809da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8204f809da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8204f809d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8204f809d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8204f809da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8204f809da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8204f809da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8204f809da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8204f809da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8204f809da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8204f809da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8204f809da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8204f809da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8204f809da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82f1f3a9b5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82f1f3a9b5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8204f809d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8204f809d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47798f93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47798f93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7c334f1f5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7c334f1f5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D:\esprit 2014\ESPRIT 2014\charte essprit 2014\render\support final\triangle.png" id="54" name="Google Shape;54;p13"/>
          <p:cNvPicPr preferRelativeResize="0"/>
          <p:nvPr/>
        </p:nvPicPr>
        <p:blipFill rotWithShape="1">
          <a:blip r:embed="rId3">
            <a:alphaModFix/>
          </a:blip>
          <a:srcRect b="0" l="0" r="0" t="0"/>
          <a:stretch/>
        </p:blipFill>
        <p:spPr>
          <a:xfrm flipH="1" rot="10800000">
            <a:off x="4" y="0"/>
            <a:ext cx="2371432" cy="1631872"/>
          </a:xfrm>
          <a:prstGeom prst="rect">
            <a:avLst/>
          </a:prstGeom>
          <a:noFill/>
          <a:ln>
            <a:noFill/>
          </a:ln>
        </p:spPr>
      </p:pic>
      <p:sp>
        <p:nvSpPr>
          <p:cNvPr id="55" name="Google Shape;55;p13"/>
          <p:cNvSpPr txBox="1"/>
          <p:nvPr/>
        </p:nvSpPr>
        <p:spPr>
          <a:xfrm>
            <a:off x="1118850" y="1697500"/>
            <a:ext cx="6906300" cy="974700"/>
          </a:xfrm>
          <a:prstGeom prst="rect">
            <a:avLst/>
          </a:prstGeom>
          <a:noFill/>
          <a:ln>
            <a:noFill/>
          </a:ln>
        </p:spPr>
        <p:txBody>
          <a:bodyPr anchorCtr="0" anchor="ctr" bIns="34275" lIns="68575" spcFirstLastPara="1" rIns="68575" wrap="square" tIns="68575">
            <a:noAutofit/>
          </a:bodyPr>
          <a:lstStyle/>
          <a:p>
            <a:pPr indent="0" lvl="0" marL="0" rtl="0" algn="ctr">
              <a:lnSpc>
                <a:spcPct val="90000"/>
              </a:lnSpc>
              <a:spcBef>
                <a:spcPts val="0"/>
              </a:spcBef>
              <a:spcAft>
                <a:spcPts val="0"/>
              </a:spcAft>
              <a:buNone/>
            </a:pPr>
            <a:r>
              <a:rPr lang="en" sz="4800">
                <a:solidFill>
                  <a:srgbClr val="434343"/>
                </a:solidFill>
                <a:latin typeface="Barlow Condensed Medium"/>
                <a:ea typeface="Barlow Condensed Medium"/>
                <a:cs typeface="Barlow Condensed Medium"/>
                <a:sym typeface="Barlow Condensed Medium"/>
              </a:rPr>
              <a:t>Conception Orienté Objet et Programmation Java</a:t>
            </a:r>
            <a:endParaRPr sz="4800">
              <a:solidFill>
                <a:srgbClr val="434343"/>
              </a:solidFill>
              <a:latin typeface="Barlow Condensed Medium"/>
              <a:ea typeface="Barlow Condensed Medium"/>
              <a:cs typeface="Barlow Condensed Medium"/>
              <a:sym typeface="Barlow Condensed Medium"/>
            </a:endParaRPr>
          </a:p>
        </p:txBody>
      </p:sp>
      <p:cxnSp>
        <p:nvCxnSpPr>
          <p:cNvPr id="56" name="Google Shape;56;p13"/>
          <p:cNvCxnSpPr/>
          <p:nvPr/>
        </p:nvCxnSpPr>
        <p:spPr>
          <a:xfrm>
            <a:off x="2675850" y="3002625"/>
            <a:ext cx="3792300" cy="8100"/>
          </a:xfrm>
          <a:prstGeom prst="straightConnector1">
            <a:avLst/>
          </a:prstGeom>
          <a:noFill/>
          <a:ln cap="flat" cmpd="sng" w="28575">
            <a:solidFill>
              <a:srgbClr val="F5340B"/>
            </a:solidFill>
            <a:prstDash val="solid"/>
            <a:round/>
            <a:headEnd len="med" w="med" type="none"/>
            <a:tailEnd len="med" w="med" type="none"/>
          </a:ln>
        </p:spPr>
      </p:cxnSp>
      <p:pic>
        <p:nvPicPr>
          <p:cNvPr id="57" name="Google Shape;57;p13"/>
          <p:cNvPicPr preferRelativeResize="0"/>
          <p:nvPr/>
        </p:nvPicPr>
        <p:blipFill>
          <a:blip r:embed="rId4">
            <a:alphaModFix/>
          </a:blip>
          <a:stretch>
            <a:fillRect/>
          </a:stretch>
        </p:blipFill>
        <p:spPr>
          <a:xfrm>
            <a:off x="7365200" y="76200"/>
            <a:ext cx="1702600" cy="859974"/>
          </a:xfrm>
          <a:prstGeom prst="rect">
            <a:avLst/>
          </a:prstGeom>
          <a:noFill/>
          <a:ln>
            <a:noFill/>
          </a:ln>
        </p:spPr>
      </p:pic>
      <p:sp>
        <p:nvSpPr>
          <p:cNvPr id="58" name="Google Shape;58;p13"/>
          <p:cNvSpPr txBox="1"/>
          <p:nvPr/>
        </p:nvSpPr>
        <p:spPr>
          <a:xfrm>
            <a:off x="2324100" y="3059475"/>
            <a:ext cx="4575300" cy="585000"/>
          </a:xfrm>
          <a:prstGeom prst="rect">
            <a:avLst/>
          </a:prstGeom>
          <a:noFill/>
          <a:ln>
            <a:noFill/>
          </a:ln>
        </p:spPr>
        <p:txBody>
          <a:bodyPr anchorCtr="0" anchor="t" bIns="91425" lIns="91425" spcFirstLastPara="1" rIns="91425" wrap="square" tIns="91425">
            <a:spAutoFit/>
          </a:bodyPr>
          <a:lstStyle/>
          <a:p>
            <a:pPr indent="-228600" lvl="0" marL="228600" rtl="0" algn="ctr">
              <a:lnSpc>
                <a:spcPct val="115000"/>
              </a:lnSpc>
              <a:spcBef>
                <a:spcPts val="2400"/>
              </a:spcBef>
              <a:spcAft>
                <a:spcPts val="600"/>
              </a:spcAft>
              <a:buNone/>
            </a:pPr>
            <a:r>
              <a:rPr b="1" lang="en" sz="2600">
                <a:solidFill>
                  <a:srgbClr val="E20B0B"/>
                </a:solidFill>
                <a:latin typeface="Barlow Condensed"/>
                <a:ea typeface="Barlow Condensed"/>
                <a:cs typeface="Barlow Condensed"/>
                <a:sym typeface="Barlow Condensed"/>
              </a:rPr>
              <a:t>Chapitre 3: Classe et Objet (partie 2)</a:t>
            </a:r>
            <a:endParaRPr b="1" sz="2600">
              <a:solidFill>
                <a:srgbClr val="E20B0B"/>
              </a:solidFill>
              <a:latin typeface="Barlow Condensed"/>
              <a:ea typeface="Barlow Condensed"/>
              <a:cs typeface="Barlow Condensed"/>
              <a:sym typeface="Barlow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descr="D:\esprit 2014\ESPRIT 2014\charte essprit 2014\render\support final\triangle.png" id="63" name="Google Shape;63;p14"/>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64" name="Google Shape;64;p14"/>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66" name="Google Shape;66;p14"/>
          <p:cNvSpPr txBox="1"/>
          <p:nvPr/>
        </p:nvSpPr>
        <p:spPr>
          <a:xfrm>
            <a:off x="380700" y="815125"/>
            <a:ext cx="7888800" cy="4186800"/>
          </a:xfrm>
          <a:prstGeom prst="rect">
            <a:avLst/>
          </a:prstGeom>
          <a:noFill/>
          <a:ln>
            <a:noFill/>
          </a:ln>
        </p:spPr>
        <p:txBody>
          <a:bodyPr anchorCtr="0" anchor="t" bIns="91425" lIns="91425" spcFirstLastPara="1" rIns="91425" wrap="square" tIns="91425">
            <a:spAutoFit/>
          </a:bodyPr>
          <a:lstStyle/>
          <a:p>
            <a:pPr indent="-355600" lvl="0" marL="457200" rtl="0" algn="l">
              <a:lnSpc>
                <a:spcPct val="200000"/>
              </a:lnSpc>
              <a:spcBef>
                <a:spcPts val="0"/>
              </a:spcBef>
              <a:spcAft>
                <a:spcPts val="0"/>
              </a:spcAft>
              <a:buSzPts val="2000"/>
              <a:buChar char="●"/>
            </a:pPr>
            <a:r>
              <a:rPr lang="en" sz="2000"/>
              <a:t>Manipuler des tableaux</a:t>
            </a:r>
            <a:endParaRPr sz="2000"/>
          </a:p>
          <a:p>
            <a:pPr indent="0" lvl="0" marL="457200" rtl="0" algn="l">
              <a:lnSpc>
                <a:spcPct val="200000"/>
              </a:lnSpc>
              <a:spcBef>
                <a:spcPts val="0"/>
              </a:spcBef>
              <a:spcAft>
                <a:spcPts val="0"/>
              </a:spcAft>
              <a:buNone/>
            </a:pPr>
            <a:r>
              <a:t/>
            </a:r>
            <a:endParaRPr sz="2000"/>
          </a:p>
          <a:p>
            <a:pPr indent="-355600" lvl="0" marL="457200" rtl="0" algn="l">
              <a:lnSpc>
                <a:spcPct val="200000"/>
              </a:lnSpc>
              <a:spcBef>
                <a:spcPts val="0"/>
              </a:spcBef>
              <a:spcAft>
                <a:spcPts val="0"/>
              </a:spcAft>
              <a:buSzPts val="2000"/>
              <a:buChar char="●"/>
            </a:pPr>
            <a:r>
              <a:rPr lang="en" sz="2000"/>
              <a:t>Créer des a</a:t>
            </a:r>
            <a:r>
              <a:rPr lang="en" sz="2000"/>
              <a:t>ssociations entre les classes</a:t>
            </a:r>
            <a:endParaRPr sz="2000"/>
          </a:p>
          <a:p>
            <a:pPr indent="0" lvl="0" marL="0" rtl="0" algn="l">
              <a:lnSpc>
                <a:spcPct val="200000"/>
              </a:lnSpc>
              <a:spcBef>
                <a:spcPts val="0"/>
              </a:spcBef>
              <a:spcAft>
                <a:spcPts val="0"/>
              </a:spcAft>
              <a:buNone/>
            </a:pPr>
            <a:r>
              <a:t/>
            </a:r>
            <a:endParaRPr sz="2000"/>
          </a:p>
          <a:p>
            <a:pPr indent="-355600" lvl="0" marL="457200" rtl="0" algn="l">
              <a:lnSpc>
                <a:spcPct val="200000"/>
              </a:lnSpc>
              <a:spcBef>
                <a:spcPts val="0"/>
              </a:spcBef>
              <a:spcAft>
                <a:spcPts val="0"/>
              </a:spcAft>
              <a:buSzPts val="2000"/>
              <a:buChar char="●"/>
            </a:pPr>
            <a:r>
              <a:rPr lang="en" sz="2000"/>
              <a:t>Découvrir les mot clés static et final</a:t>
            </a:r>
            <a:endParaRPr sz="2000"/>
          </a:p>
          <a:p>
            <a:pPr indent="0" lvl="0" marL="457200" rtl="0" algn="l">
              <a:lnSpc>
                <a:spcPct val="200000"/>
              </a:lnSpc>
              <a:spcBef>
                <a:spcPts val="0"/>
              </a:spcBef>
              <a:spcAft>
                <a:spcPts val="0"/>
              </a:spcAft>
              <a:buNone/>
            </a:pPr>
            <a:r>
              <a:t/>
            </a:r>
            <a:endParaRPr sz="2000"/>
          </a:p>
          <a:p>
            <a:pPr indent="0" lvl="0" marL="457200" rtl="0" algn="l">
              <a:lnSpc>
                <a:spcPct val="200000"/>
              </a:lnSpc>
              <a:spcBef>
                <a:spcPts val="0"/>
              </a:spcBef>
              <a:spcAft>
                <a:spcPts val="0"/>
              </a:spcAft>
              <a:buNone/>
            </a:pPr>
            <a:r>
              <a:t/>
            </a:r>
            <a:endParaRPr sz="2000"/>
          </a:p>
        </p:txBody>
      </p:sp>
      <p:sp>
        <p:nvSpPr>
          <p:cNvPr id="67" name="Google Shape;67;p14"/>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Objectifs du chapitre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D:\esprit 2014\ESPRIT 2014\charte essprit 2014\render\support final\triangle.png" id="72" name="Google Shape;72;p15"/>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73" name="Google Shape;73;p15"/>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74" name="Google Shape;7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75" name="Google Shape;75;p15"/>
          <p:cNvSpPr txBox="1"/>
          <p:nvPr/>
        </p:nvSpPr>
        <p:spPr>
          <a:xfrm>
            <a:off x="380700" y="586525"/>
            <a:ext cx="8363100" cy="4648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000">
                <a:solidFill>
                  <a:srgbClr val="262626"/>
                </a:solidFill>
                <a:highlight>
                  <a:schemeClr val="lt1"/>
                </a:highlight>
              </a:rPr>
              <a:t>Les </a:t>
            </a:r>
            <a:r>
              <a:rPr b="1" lang="en" sz="2000">
                <a:solidFill>
                  <a:srgbClr val="262626"/>
                </a:solidFill>
                <a:highlight>
                  <a:schemeClr val="lt1"/>
                </a:highlight>
              </a:rPr>
              <a:t>tableaux</a:t>
            </a:r>
            <a:r>
              <a:rPr lang="en" sz="2000">
                <a:solidFill>
                  <a:srgbClr val="262626"/>
                </a:solidFill>
                <a:highlight>
                  <a:schemeClr val="lt1"/>
                </a:highlight>
              </a:rPr>
              <a:t> en Java sont des structures de données qui permettent de </a:t>
            </a:r>
            <a:r>
              <a:rPr lang="en" sz="2000" u="sng">
                <a:solidFill>
                  <a:srgbClr val="262626"/>
                </a:solidFill>
                <a:highlight>
                  <a:schemeClr val="lt1"/>
                </a:highlight>
              </a:rPr>
              <a:t>stocker</a:t>
            </a:r>
            <a:r>
              <a:rPr lang="en" sz="2000">
                <a:solidFill>
                  <a:srgbClr val="262626"/>
                </a:solidFill>
                <a:highlight>
                  <a:schemeClr val="lt1"/>
                </a:highlight>
              </a:rPr>
              <a:t> des ensembles d'éléments de </a:t>
            </a:r>
            <a:r>
              <a:rPr lang="en" sz="2000">
                <a:solidFill>
                  <a:srgbClr val="E20B0B"/>
                </a:solidFill>
                <a:highlight>
                  <a:schemeClr val="lt1"/>
                </a:highlight>
              </a:rPr>
              <a:t>même type </a:t>
            </a:r>
            <a:r>
              <a:rPr lang="en" sz="2000">
                <a:solidFill>
                  <a:schemeClr val="dk1"/>
                </a:solidFill>
              </a:rPr>
              <a:t>(type primitifs ou classe)</a:t>
            </a:r>
            <a:r>
              <a:rPr lang="en" sz="2000">
                <a:solidFill>
                  <a:srgbClr val="262626"/>
                </a:solidFill>
                <a:highlight>
                  <a:schemeClr val="lt1"/>
                </a:highlight>
              </a:rPr>
              <a:t>. </a:t>
            </a:r>
            <a:endParaRPr sz="2000">
              <a:solidFill>
                <a:srgbClr val="262626"/>
              </a:solidFill>
              <a:highlight>
                <a:schemeClr val="lt1"/>
              </a:highlight>
            </a:endParaRPr>
          </a:p>
          <a:p>
            <a:pPr indent="0" lvl="0" marL="0" rtl="0" algn="l">
              <a:lnSpc>
                <a:spcPct val="150000"/>
              </a:lnSpc>
              <a:spcBef>
                <a:spcPts val="1200"/>
              </a:spcBef>
              <a:spcAft>
                <a:spcPts val="0"/>
              </a:spcAft>
              <a:buNone/>
            </a:pPr>
            <a:r>
              <a:rPr lang="en" sz="2000">
                <a:solidFill>
                  <a:srgbClr val="262626"/>
                </a:solidFill>
                <a:highlight>
                  <a:schemeClr val="lt1"/>
                </a:highlight>
              </a:rPr>
              <a:t>Pour créer un tableau, vous utilisez </a:t>
            </a:r>
            <a:r>
              <a:rPr lang="en" sz="2000">
                <a:solidFill>
                  <a:schemeClr val="accent1"/>
                </a:solidFill>
                <a:highlight>
                  <a:schemeClr val="lt1"/>
                </a:highlight>
              </a:rPr>
              <a:t>"</a:t>
            </a:r>
            <a:r>
              <a:rPr b="1" lang="en" sz="2000">
                <a:solidFill>
                  <a:schemeClr val="accent1"/>
                </a:solidFill>
                <a:highlight>
                  <a:schemeClr val="lt1"/>
                </a:highlight>
              </a:rPr>
              <a:t>new</a:t>
            </a:r>
            <a:r>
              <a:rPr lang="en" sz="2000">
                <a:solidFill>
                  <a:schemeClr val="accent1"/>
                </a:solidFill>
                <a:highlight>
                  <a:schemeClr val="lt1"/>
                </a:highlight>
              </a:rPr>
              <a:t>"</a:t>
            </a:r>
            <a:r>
              <a:rPr lang="en" sz="2000">
                <a:solidFill>
                  <a:srgbClr val="262626"/>
                </a:solidFill>
                <a:highlight>
                  <a:schemeClr val="lt1"/>
                </a:highlight>
              </a:rPr>
              <a:t> suivie du </a:t>
            </a:r>
            <a:r>
              <a:rPr b="1" lang="en" sz="2000">
                <a:solidFill>
                  <a:srgbClr val="262626"/>
                </a:solidFill>
                <a:highlight>
                  <a:schemeClr val="lt1"/>
                </a:highlight>
              </a:rPr>
              <a:t>type de données</a:t>
            </a:r>
            <a:r>
              <a:rPr lang="en" sz="2000">
                <a:solidFill>
                  <a:srgbClr val="262626"/>
                </a:solidFill>
                <a:highlight>
                  <a:schemeClr val="lt1"/>
                </a:highlight>
              </a:rPr>
              <a:t> et de </a:t>
            </a:r>
            <a:r>
              <a:rPr b="1" lang="en" sz="2000">
                <a:solidFill>
                  <a:srgbClr val="262626"/>
                </a:solidFill>
                <a:highlight>
                  <a:schemeClr val="lt1"/>
                </a:highlight>
              </a:rPr>
              <a:t>la taille du tableau</a:t>
            </a:r>
            <a:r>
              <a:rPr lang="en" sz="2000">
                <a:solidFill>
                  <a:srgbClr val="262626"/>
                </a:solidFill>
                <a:highlight>
                  <a:schemeClr val="lt1"/>
                </a:highlight>
              </a:rPr>
              <a:t> entre crochets: </a:t>
            </a:r>
            <a:endParaRPr sz="2000">
              <a:solidFill>
                <a:srgbClr val="262626"/>
              </a:solidFill>
              <a:highlight>
                <a:schemeClr val="lt1"/>
              </a:highlight>
            </a:endParaRPr>
          </a:p>
          <a:p>
            <a:pPr indent="0" lvl="0" marL="0" rtl="0" algn="l">
              <a:lnSpc>
                <a:spcPct val="150000"/>
              </a:lnSpc>
              <a:spcBef>
                <a:spcPts val="1200"/>
              </a:spcBef>
              <a:spcAft>
                <a:spcPts val="0"/>
              </a:spcAft>
              <a:buNone/>
            </a:pPr>
            <a:r>
              <a:t/>
            </a:r>
            <a:endParaRPr sz="2000">
              <a:solidFill>
                <a:srgbClr val="262626"/>
              </a:solidFill>
              <a:highlight>
                <a:schemeClr val="lt1"/>
              </a:highlight>
            </a:endParaRPr>
          </a:p>
          <a:p>
            <a:pPr indent="0" lvl="0" marL="0" rtl="0" algn="l">
              <a:spcBef>
                <a:spcPts val="1200"/>
              </a:spcBef>
              <a:spcAft>
                <a:spcPts val="0"/>
              </a:spcAft>
              <a:buClr>
                <a:schemeClr val="dk1"/>
              </a:buClr>
              <a:buSzPts val="1100"/>
              <a:buFont typeface="Arial"/>
              <a:buNone/>
            </a:pPr>
            <a:r>
              <a:rPr b="1" lang="en" sz="2000">
                <a:solidFill>
                  <a:srgbClr val="E20B0B"/>
                </a:solidFill>
                <a:highlight>
                  <a:schemeClr val="lt1"/>
                </a:highlight>
              </a:rPr>
              <a:t>NB: </a:t>
            </a:r>
            <a:r>
              <a:rPr lang="en" sz="2000">
                <a:solidFill>
                  <a:srgbClr val="E20B0B"/>
                </a:solidFill>
                <a:highlight>
                  <a:schemeClr val="lt1"/>
                </a:highlight>
              </a:rPr>
              <a:t>Les tableaux en Java ont une </a:t>
            </a:r>
            <a:r>
              <a:rPr b="1" lang="en" sz="2000">
                <a:solidFill>
                  <a:srgbClr val="E20B0B"/>
                </a:solidFill>
                <a:highlight>
                  <a:schemeClr val="lt1"/>
                </a:highlight>
              </a:rPr>
              <a:t>taille fixe </a:t>
            </a:r>
            <a:r>
              <a:rPr lang="en" sz="2000">
                <a:solidFill>
                  <a:srgbClr val="E20B0B"/>
                </a:solidFill>
                <a:highlight>
                  <a:schemeClr val="lt1"/>
                </a:highlight>
              </a:rPr>
              <a:t>une fois créés, il est donc important de définir une taille suffisante pour éviter des erreurs de débordement de tableau.</a:t>
            </a:r>
            <a:endParaRPr sz="2000">
              <a:solidFill>
                <a:srgbClr val="262626"/>
              </a:solidFill>
              <a:highlight>
                <a:schemeClr val="lt1"/>
              </a:highlight>
            </a:endParaRPr>
          </a:p>
          <a:p>
            <a:pPr indent="457200" lvl="0" marL="457200" rtl="0" algn="l">
              <a:lnSpc>
                <a:spcPct val="150000"/>
              </a:lnSpc>
              <a:spcBef>
                <a:spcPts val="0"/>
              </a:spcBef>
              <a:spcAft>
                <a:spcPts val="1200"/>
              </a:spcAft>
              <a:buNone/>
            </a:pPr>
            <a:r>
              <a:rPr lang="en" sz="2000">
                <a:solidFill>
                  <a:srgbClr val="262626"/>
                </a:solidFill>
                <a:highlight>
                  <a:schemeClr val="lt1"/>
                </a:highlight>
              </a:rPr>
              <a:t>				</a:t>
            </a:r>
            <a:endParaRPr sz="2000">
              <a:solidFill>
                <a:srgbClr val="262626"/>
              </a:solidFill>
              <a:highlight>
                <a:srgbClr val="FFFFFF"/>
              </a:highlight>
            </a:endParaRPr>
          </a:p>
        </p:txBody>
      </p:sp>
      <p:sp>
        <p:nvSpPr>
          <p:cNvPr id="76" name="Google Shape;76;p15"/>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Manipulation des tableaux</a:t>
            </a:r>
            <a:endParaRPr/>
          </a:p>
        </p:txBody>
      </p:sp>
      <p:sp>
        <p:nvSpPr>
          <p:cNvPr id="77" name="Google Shape;77;p15"/>
          <p:cNvSpPr txBox="1"/>
          <p:nvPr/>
        </p:nvSpPr>
        <p:spPr>
          <a:xfrm>
            <a:off x="552450" y="3069800"/>
            <a:ext cx="3345900" cy="5541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sz="2400">
                <a:solidFill>
                  <a:schemeClr val="dk1"/>
                </a:solidFill>
              </a:rPr>
              <a:t>int[] tab = new int[3]; </a:t>
            </a:r>
            <a:endParaRPr sz="2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D:\esprit 2014\ESPRIT 2014\charte essprit 2014\render\support final\triangle.png" id="82" name="Google Shape;82;p16"/>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83" name="Google Shape;83;p16"/>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85" name="Google Shape;85;p16"/>
          <p:cNvSpPr txBox="1"/>
          <p:nvPr/>
        </p:nvSpPr>
        <p:spPr>
          <a:xfrm>
            <a:off x="324775" y="452150"/>
            <a:ext cx="8363100" cy="3417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000">
                <a:solidFill>
                  <a:srgbClr val="262626"/>
                </a:solidFill>
                <a:highlight>
                  <a:schemeClr val="lt1"/>
                </a:highlight>
              </a:rPr>
              <a:t>Vous pouvez également </a:t>
            </a:r>
            <a:r>
              <a:rPr b="1" lang="en" sz="2000">
                <a:solidFill>
                  <a:srgbClr val="262626"/>
                </a:solidFill>
                <a:highlight>
                  <a:schemeClr val="lt1"/>
                </a:highlight>
              </a:rPr>
              <a:t>initialiser</a:t>
            </a:r>
            <a:r>
              <a:rPr lang="en" sz="2000">
                <a:solidFill>
                  <a:srgbClr val="262626"/>
                </a:solidFill>
                <a:highlight>
                  <a:schemeClr val="lt1"/>
                </a:highlight>
              </a:rPr>
              <a:t> un tableau en utilisant une liste de valeurs entre accolades lors de la déclaration. </a:t>
            </a:r>
            <a:endParaRPr sz="2000">
              <a:solidFill>
                <a:srgbClr val="262626"/>
              </a:solidFill>
              <a:highlight>
                <a:schemeClr val="lt1"/>
              </a:highlight>
            </a:endParaRPr>
          </a:p>
          <a:p>
            <a:pPr indent="457200" lvl="0" marL="457200" rtl="0" algn="l">
              <a:lnSpc>
                <a:spcPct val="150000"/>
              </a:lnSpc>
              <a:spcBef>
                <a:spcPts val="1200"/>
              </a:spcBef>
              <a:spcAft>
                <a:spcPts val="0"/>
              </a:spcAft>
              <a:buNone/>
            </a:pPr>
            <a:r>
              <a:rPr lang="en" sz="2000">
                <a:solidFill>
                  <a:srgbClr val="262626"/>
                </a:solidFill>
                <a:highlight>
                  <a:schemeClr val="lt1"/>
                </a:highlight>
              </a:rPr>
              <a:t>				</a:t>
            </a:r>
            <a:endParaRPr sz="2000">
              <a:solidFill>
                <a:srgbClr val="262626"/>
              </a:solidFill>
              <a:highlight>
                <a:schemeClr val="lt1"/>
              </a:highlight>
            </a:endParaRPr>
          </a:p>
          <a:p>
            <a:pPr indent="0" lvl="0" marL="0" rtl="0" algn="l">
              <a:lnSpc>
                <a:spcPct val="150000"/>
              </a:lnSpc>
              <a:spcBef>
                <a:spcPts val="1200"/>
              </a:spcBef>
              <a:spcAft>
                <a:spcPts val="0"/>
              </a:spcAft>
              <a:buClr>
                <a:schemeClr val="dk1"/>
              </a:buClr>
              <a:buSzPts val="1100"/>
              <a:buFont typeface="Arial"/>
              <a:buNone/>
            </a:pPr>
            <a:r>
              <a:rPr lang="en" sz="2000">
                <a:solidFill>
                  <a:srgbClr val="262626"/>
                </a:solidFill>
                <a:highlight>
                  <a:schemeClr val="lt1"/>
                </a:highlight>
              </a:rPr>
              <a:t>Les éléments d’un tableau sont indexés à partir de 0</a:t>
            </a:r>
            <a:endParaRPr sz="2000">
              <a:solidFill>
                <a:srgbClr val="262626"/>
              </a:solidFill>
              <a:highlight>
                <a:schemeClr val="lt1"/>
              </a:highlight>
            </a:endParaRPr>
          </a:p>
          <a:p>
            <a:pPr indent="0" lvl="0" marL="0" rtl="0" algn="l">
              <a:lnSpc>
                <a:spcPct val="150000"/>
              </a:lnSpc>
              <a:spcBef>
                <a:spcPts val="1200"/>
              </a:spcBef>
              <a:spcAft>
                <a:spcPts val="0"/>
              </a:spcAft>
              <a:buNone/>
            </a:pPr>
            <a:r>
              <a:rPr lang="en" sz="2000">
                <a:solidFill>
                  <a:srgbClr val="262626"/>
                </a:solidFill>
                <a:highlight>
                  <a:schemeClr val="lt1"/>
                </a:highlight>
              </a:rPr>
              <a:t>On peut accéder à la taille du tableau avec </a:t>
            </a:r>
            <a:r>
              <a:rPr b="1" lang="en" sz="2000">
                <a:solidFill>
                  <a:srgbClr val="262626"/>
                </a:solidFill>
                <a:highlight>
                  <a:schemeClr val="lt1"/>
                </a:highlight>
              </a:rPr>
              <a:t>tab.length</a:t>
            </a:r>
            <a:endParaRPr b="1" sz="2000">
              <a:solidFill>
                <a:srgbClr val="262626"/>
              </a:solidFill>
              <a:highlight>
                <a:schemeClr val="lt1"/>
              </a:highlight>
            </a:endParaRPr>
          </a:p>
          <a:p>
            <a:pPr indent="0" lvl="0" marL="0" rtl="0" algn="l">
              <a:lnSpc>
                <a:spcPct val="150000"/>
              </a:lnSpc>
              <a:spcBef>
                <a:spcPts val="1200"/>
              </a:spcBef>
              <a:spcAft>
                <a:spcPts val="1200"/>
              </a:spcAft>
              <a:buNone/>
            </a:pPr>
            <a:r>
              <a:rPr lang="en" sz="2000">
                <a:solidFill>
                  <a:srgbClr val="E20B0B"/>
                </a:solidFill>
                <a:highlight>
                  <a:schemeClr val="lt1"/>
                </a:highlight>
              </a:rPr>
              <a:t>⇒ un tableau possède des éléments allant de 0 à tab.length-1</a:t>
            </a:r>
            <a:endParaRPr sz="2000">
              <a:solidFill>
                <a:srgbClr val="E20B0B"/>
              </a:solidFill>
              <a:highlight>
                <a:schemeClr val="lt1"/>
              </a:highlight>
            </a:endParaRPr>
          </a:p>
        </p:txBody>
      </p:sp>
      <p:sp>
        <p:nvSpPr>
          <p:cNvPr id="86" name="Google Shape;86;p16"/>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Manipulation des tableaux</a:t>
            </a:r>
            <a:endParaRPr/>
          </a:p>
        </p:txBody>
      </p:sp>
      <p:sp>
        <p:nvSpPr>
          <p:cNvPr id="87" name="Google Shape;87;p16"/>
          <p:cNvSpPr txBox="1"/>
          <p:nvPr/>
        </p:nvSpPr>
        <p:spPr>
          <a:xfrm>
            <a:off x="545675" y="1513225"/>
            <a:ext cx="3345900" cy="5541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240000"/>
              </a:lnSpc>
              <a:spcBef>
                <a:spcPts val="0"/>
              </a:spcBef>
              <a:spcAft>
                <a:spcPts val="0"/>
              </a:spcAft>
              <a:buClr>
                <a:schemeClr val="dk1"/>
              </a:buClr>
              <a:buSzPts val="1100"/>
              <a:buFont typeface="Arial"/>
              <a:buNone/>
            </a:pPr>
            <a:r>
              <a:rPr lang="en" sz="2400">
                <a:solidFill>
                  <a:schemeClr val="dk1"/>
                </a:solidFill>
              </a:rPr>
              <a:t>int[] tab = {1,2,3};</a:t>
            </a:r>
            <a:endParaRPr sz="2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D:\esprit 2014\ESPRIT 2014\charte essprit 2014\render\support final\triangle.png" id="92" name="Google Shape;92;p17"/>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93" name="Google Shape;93;p17"/>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94" name="Google Shape;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95" name="Google Shape;95;p17"/>
          <p:cNvSpPr txBox="1"/>
          <p:nvPr/>
        </p:nvSpPr>
        <p:spPr>
          <a:xfrm>
            <a:off x="380700" y="815125"/>
            <a:ext cx="7797600" cy="120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rgbClr val="262626"/>
                </a:solidFill>
                <a:highlight>
                  <a:srgbClr val="FFFFFF"/>
                </a:highlight>
              </a:rPr>
              <a:t>On peut accéder à un élément avec tab[indice] :</a:t>
            </a:r>
            <a:endParaRPr sz="2000">
              <a:solidFill>
                <a:srgbClr val="262626"/>
              </a:solidFill>
              <a:highlight>
                <a:srgbClr val="FFFFFF"/>
              </a:highlight>
            </a:endParaRPr>
          </a:p>
          <a:p>
            <a:pPr indent="0" lvl="0" marL="0" rtl="0" algn="l">
              <a:lnSpc>
                <a:spcPct val="115000"/>
              </a:lnSpc>
              <a:spcBef>
                <a:spcPts val="0"/>
              </a:spcBef>
              <a:spcAft>
                <a:spcPts val="0"/>
              </a:spcAft>
              <a:buNone/>
            </a:pPr>
            <a:r>
              <a:t/>
            </a:r>
            <a:endParaRPr sz="2000">
              <a:solidFill>
                <a:schemeClr val="dk1"/>
              </a:solidFill>
            </a:endParaRPr>
          </a:p>
          <a:p>
            <a:pPr indent="0" lvl="0" marL="0" rtl="0" algn="l">
              <a:lnSpc>
                <a:spcPct val="120000"/>
              </a:lnSpc>
              <a:spcBef>
                <a:spcPts val="0"/>
              </a:spcBef>
              <a:spcAft>
                <a:spcPts val="0"/>
              </a:spcAft>
              <a:buNone/>
            </a:pPr>
            <a:r>
              <a:rPr lang="en" sz="2000">
                <a:solidFill>
                  <a:srgbClr val="262626"/>
                </a:solidFill>
                <a:highlight>
                  <a:srgbClr val="FFFFFF"/>
                </a:highlight>
              </a:rPr>
              <a:t>Exemple : System.out.println(tab[0]);  </a:t>
            </a:r>
            <a:r>
              <a:rPr lang="en" sz="1600">
                <a:solidFill>
                  <a:srgbClr val="E20B0B"/>
                </a:solidFill>
                <a:highlight>
                  <a:srgbClr val="FFFFFF"/>
                </a:highlight>
              </a:rPr>
              <a:t>//afficher la première case du tableau</a:t>
            </a:r>
            <a:endParaRPr b="1" sz="1600">
              <a:solidFill>
                <a:srgbClr val="262626"/>
              </a:solidFill>
              <a:highlight>
                <a:srgbClr val="FFFFFF"/>
              </a:highlight>
            </a:endParaRPr>
          </a:p>
        </p:txBody>
      </p:sp>
      <p:sp>
        <p:nvSpPr>
          <p:cNvPr id="96" name="Google Shape;96;p17"/>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Manipulation des tableaux</a:t>
            </a:r>
            <a:endParaRPr/>
          </a:p>
        </p:txBody>
      </p:sp>
      <p:sp>
        <p:nvSpPr>
          <p:cNvPr id="97" name="Google Shape;97;p17"/>
          <p:cNvSpPr txBox="1"/>
          <p:nvPr/>
        </p:nvSpPr>
        <p:spPr>
          <a:xfrm>
            <a:off x="157100" y="2306550"/>
            <a:ext cx="7797600" cy="8313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p:txBody>
      </p:sp>
      <p:sp>
        <p:nvSpPr>
          <p:cNvPr id="98" name="Google Shape;98;p17"/>
          <p:cNvSpPr txBox="1"/>
          <p:nvPr/>
        </p:nvSpPr>
        <p:spPr>
          <a:xfrm>
            <a:off x="405050" y="2193213"/>
            <a:ext cx="4673700" cy="19086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sz="1600">
                <a:solidFill>
                  <a:schemeClr val="dk1"/>
                </a:solidFill>
              </a:rPr>
              <a:t>int[] tab;	</a:t>
            </a:r>
            <a:endParaRPr sz="1600">
              <a:solidFill>
                <a:schemeClr val="dk1"/>
              </a:solidFill>
            </a:endParaRPr>
          </a:p>
          <a:p>
            <a:pPr indent="0" lvl="0" marL="0" rtl="0" algn="l">
              <a:lnSpc>
                <a:spcPct val="200000"/>
              </a:lnSpc>
              <a:spcBef>
                <a:spcPts val="0"/>
              </a:spcBef>
              <a:spcAft>
                <a:spcPts val="0"/>
              </a:spcAft>
              <a:buNone/>
            </a:pPr>
            <a:r>
              <a:rPr lang="en" sz="1600">
                <a:solidFill>
                  <a:schemeClr val="dk1"/>
                </a:solidFill>
              </a:rPr>
              <a:t>tab = new int[3];  </a:t>
            </a:r>
            <a:r>
              <a:rPr lang="en">
                <a:solidFill>
                  <a:srgbClr val="E20B0B"/>
                </a:solidFill>
              </a:rPr>
              <a:t>// spécifier la taille du tableau</a:t>
            </a:r>
            <a:endParaRPr>
              <a:solidFill>
                <a:srgbClr val="E20B0B"/>
              </a:solidFill>
            </a:endParaRPr>
          </a:p>
          <a:p>
            <a:pPr indent="0" lvl="0" marL="0" rtl="0" algn="l">
              <a:lnSpc>
                <a:spcPct val="200000"/>
              </a:lnSpc>
              <a:spcBef>
                <a:spcPts val="0"/>
              </a:spcBef>
              <a:spcAft>
                <a:spcPts val="0"/>
              </a:spcAft>
              <a:buNone/>
            </a:pPr>
            <a:r>
              <a:rPr lang="en" sz="1600">
                <a:solidFill>
                  <a:schemeClr val="dk1"/>
                </a:solidFill>
              </a:rPr>
              <a:t>tab[0] = 1; </a:t>
            </a:r>
            <a:r>
              <a:rPr lang="en">
                <a:solidFill>
                  <a:srgbClr val="E20B0B"/>
                </a:solidFill>
              </a:rPr>
              <a:t>// initialiser le premier élément</a:t>
            </a:r>
            <a:endParaRPr>
              <a:solidFill>
                <a:srgbClr val="E20B0B"/>
              </a:solidFill>
            </a:endParaRPr>
          </a:p>
          <a:p>
            <a:pPr indent="0" lvl="0" marL="0" rtl="0" algn="l">
              <a:lnSpc>
                <a:spcPct val="200000"/>
              </a:lnSpc>
              <a:spcBef>
                <a:spcPts val="0"/>
              </a:spcBef>
              <a:spcAft>
                <a:spcPts val="0"/>
              </a:spcAft>
              <a:buNone/>
            </a:pPr>
            <a:r>
              <a:rPr lang="en" sz="1600">
                <a:solidFill>
                  <a:schemeClr val="dk1"/>
                </a:solidFill>
              </a:rPr>
              <a:t>tab[1] = 2; </a:t>
            </a:r>
            <a:r>
              <a:rPr lang="en">
                <a:solidFill>
                  <a:srgbClr val="E20B0B"/>
                </a:solidFill>
              </a:rPr>
              <a:t>// initialiser le second élément</a:t>
            </a:r>
            <a:endParaRPr>
              <a:solidFill>
                <a:srgbClr val="E20B0B"/>
              </a:solidFill>
            </a:endParaRPr>
          </a:p>
        </p:txBody>
      </p:sp>
      <p:sp>
        <p:nvSpPr>
          <p:cNvPr id="99" name="Google Shape;99;p17"/>
          <p:cNvSpPr txBox="1"/>
          <p:nvPr/>
        </p:nvSpPr>
        <p:spPr>
          <a:xfrm>
            <a:off x="6014925" y="3402313"/>
            <a:ext cx="2271900" cy="4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tab.length=3</a:t>
            </a:r>
            <a:endParaRPr b="0" i="0" sz="1400" u="none" cap="none" strike="noStrike">
              <a:solidFill>
                <a:srgbClr val="000000"/>
              </a:solidFill>
              <a:latin typeface="Arial"/>
              <a:ea typeface="Arial"/>
              <a:cs typeface="Arial"/>
              <a:sym typeface="Arial"/>
            </a:endParaRPr>
          </a:p>
        </p:txBody>
      </p:sp>
      <p:graphicFrame>
        <p:nvGraphicFramePr>
          <p:cNvPr id="100" name="Google Shape;100;p17"/>
          <p:cNvGraphicFramePr/>
          <p:nvPr/>
        </p:nvGraphicFramePr>
        <p:xfrm>
          <a:off x="6048725" y="2431738"/>
          <a:ext cx="3000000" cy="3000000"/>
        </p:xfrm>
        <a:graphic>
          <a:graphicData uri="http://schemas.openxmlformats.org/drawingml/2006/table">
            <a:tbl>
              <a:tblPr>
                <a:noFill/>
                <a:tableStyleId>{26BE450D-3483-4777-A277-FFBD32F30267}</a:tableStyleId>
              </a:tblPr>
              <a:tblGrid>
                <a:gridCol w="877325"/>
                <a:gridCol w="877325"/>
                <a:gridCol w="877325"/>
              </a:tblGrid>
              <a:tr h="23085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230850">
                <a:tc>
                  <a:txBody>
                    <a:bodyPr/>
                    <a:lstStyle/>
                    <a:p>
                      <a:pPr indent="0" lvl="0" marL="0" rtl="0" algn="l">
                        <a:spcBef>
                          <a:spcPts val="0"/>
                        </a:spcBef>
                        <a:spcAft>
                          <a:spcPts val="0"/>
                        </a:spcAft>
                        <a:buNone/>
                      </a:pPr>
                      <a:r>
                        <a:rPr lang="en">
                          <a:solidFill>
                            <a:srgbClr val="E20B0B"/>
                          </a:solidFill>
                        </a:rPr>
                        <a:t>0</a:t>
                      </a:r>
                      <a:endParaRPr>
                        <a:solidFill>
                          <a:srgbClr val="E20B0B"/>
                        </a:solidFill>
                      </a:endParaRPr>
                    </a:p>
                  </a:txBody>
                  <a:tcPr marT="91425" marB="91425" marR="91425" marL="91425"/>
                </a:tc>
                <a:tc>
                  <a:txBody>
                    <a:bodyPr/>
                    <a:lstStyle/>
                    <a:p>
                      <a:pPr indent="0" lvl="0" marL="0" rtl="0" algn="l">
                        <a:spcBef>
                          <a:spcPts val="0"/>
                        </a:spcBef>
                        <a:spcAft>
                          <a:spcPts val="0"/>
                        </a:spcAft>
                        <a:buNone/>
                      </a:pPr>
                      <a:r>
                        <a:rPr lang="en">
                          <a:solidFill>
                            <a:srgbClr val="E20B0B"/>
                          </a:solidFill>
                        </a:rPr>
                        <a:t>1</a:t>
                      </a:r>
                      <a:endParaRPr>
                        <a:solidFill>
                          <a:srgbClr val="E20B0B"/>
                        </a:solidFill>
                      </a:endParaRPr>
                    </a:p>
                  </a:txBody>
                  <a:tcPr marT="91425" marB="91425" marR="91425" marL="91425"/>
                </a:tc>
                <a:tc>
                  <a:txBody>
                    <a:bodyPr/>
                    <a:lstStyle/>
                    <a:p>
                      <a:pPr indent="0" lvl="0" marL="0" rtl="0" algn="l">
                        <a:spcBef>
                          <a:spcPts val="0"/>
                        </a:spcBef>
                        <a:spcAft>
                          <a:spcPts val="0"/>
                        </a:spcAft>
                        <a:buNone/>
                      </a:pPr>
                      <a:r>
                        <a:rPr lang="en">
                          <a:solidFill>
                            <a:srgbClr val="E20B0B"/>
                          </a:solidFill>
                        </a:rPr>
                        <a:t>2</a:t>
                      </a:r>
                      <a:endParaRPr>
                        <a:solidFill>
                          <a:srgbClr val="E20B0B"/>
                        </a:solidFill>
                      </a:endParaRPr>
                    </a:p>
                  </a:txBody>
                  <a:tcPr marT="91425" marB="91425" marR="91425" marL="91425"/>
                </a:tc>
              </a:tr>
            </a:tbl>
          </a:graphicData>
        </a:graphic>
      </p:graphicFrame>
      <p:sp>
        <p:nvSpPr>
          <p:cNvPr id="101" name="Google Shape;101;p17"/>
          <p:cNvSpPr txBox="1"/>
          <p:nvPr/>
        </p:nvSpPr>
        <p:spPr>
          <a:xfrm>
            <a:off x="5078753" y="2431738"/>
            <a:ext cx="1086000" cy="4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lang="en" sz="1600"/>
              <a:t>valeur -&gt;</a:t>
            </a:r>
            <a:endParaRPr sz="1600"/>
          </a:p>
          <a:p>
            <a:pPr indent="0" lvl="0" marL="0" marR="0" rtl="0" algn="l">
              <a:lnSpc>
                <a:spcPct val="100000"/>
              </a:lnSpc>
              <a:spcBef>
                <a:spcPts val="0"/>
              </a:spcBef>
              <a:spcAft>
                <a:spcPts val="0"/>
              </a:spcAft>
              <a:buClr>
                <a:srgbClr val="000000"/>
              </a:buClr>
              <a:buSzPts val="2400"/>
              <a:buFont typeface="Arial"/>
              <a:buNone/>
            </a:pPr>
            <a:r>
              <a:t/>
            </a:r>
            <a:endParaRPr sz="1600"/>
          </a:p>
          <a:p>
            <a:pPr indent="0" lvl="0" marL="0" marR="0" rtl="0" algn="l">
              <a:lnSpc>
                <a:spcPct val="100000"/>
              </a:lnSpc>
              <a:spcBef>
                <a:spcPts val="0"/>
              </a:spcBef>
              <a:spcAft>
                <a:spcPts val="0"/>
              </a:spcAft>
              <a:buClr>
                <a:srgbClr val="000000"/>
              </a:buClr>
              <a:buSzPts val="2400"/>
              <a:buFont typeface="Arial"/>
              <a:buNone/>
            </a:pPr>
            <a:r>
              <a:rPr lang="en" sz="1600"/>
              <a:t>indice -&gt;</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D:\esprit 2014\ESPRIT 2014\charte essprit 2014\render\support final\triangle.png" id="106" name="Google Shape;106;p18"/>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07" name="Google Shape;107;p18"/>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108" name="Google Shape;10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109" name="Google Shape;109;p18"/>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Manipulation des tableaux</a:t>
            </a:r>
            <a:endParaRPr/>
          </a:p>
        </p:txBody>
      </p:sp>
      <p:sp>
        <p:nvSpPr>
          <p:cNvPr id="110" name="Google Shape;110;p18"/>
          <p:cNvSpPr txBox="1"/>
          <p:nvPr/>
        </p:nvSpPr>
        <p:spPr>
          <a:xfrm>
            <a:off x="157100" y="2306550"/>
            <a:ext cx="7797600" cy="8313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p:txBody>
      </p:sp>
      <p:sp>
        <p:nvSpPr>
          <p:cNvPr id="111" name="Google Shape;111;p18"/>
          <p:cNvSpPr txBox="1"/>
          <p:nvPr/>
        </p:nvSpPr>
        <p:spPr>
          <a:xfrm>
            <a:off x="157100" y="672250"/>
            <a:ext cx="7797600" cy="332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rgbClr val="262626"/>
                </a:solidFill>
                <a:highlight>
                  <a:srgbClr val="FFFFFF"/>
                </a:highlight>
              </a:rPr>
              <a:t>•</a:t>
            </a:r>
            <a:r>
              <a:rPr b="1" lang="en" sz="2000">
                <a:solidFill>
                  <a:srgbClr val="262626"/>
                </a:solidFill>
                <a:highlight>
                  <a:srgbClr val="FFFFFF"/>
                </a:highlight>
              </a:rPr>
              <a:t>Un tableau contenant des éléments de type objet</a:t>
            </a:r>
            <a:endParaRPr b="1" sz="2000">
              <a:solidFill>
                <a:srgbClr val="262626"/>
              </a:solidFill>
              <a:highlight>
                <a:srgbClr val="FFFFFF"/>
              </a:highlight>
            </a:endParaRPr>
          </a:p>
          <a:p>
            <a:pPr indent="0" lvl="0" marL="0" rtl="0" algn="l">
              <a:lnSpc>
                <a:spcPct val="115000"/>
              </a:lnSpc>
              <a:spcBef>
                <a:spcPts val="0"/>
              </a:spcBef>
              <a:spcAft>
                <a:spcPts val="0"/>
              </a:spcAft>
              <a:buNone/>
            </a:pPr>
            <a:r>
              <a:rPr lang="en" sz="2000">
                <a:solidFill>
                  <a:srgbClr val="E20B0B"/>
                </a:solidFill>
                <a:highlight>
                  <a:srgbClr val="FFFFFF"/>
                </a:highlight>
              </a:rPr>
              <a:t>     </a:t>
            </a:r>
            <a:r>
              <a:rPr lang="en" sz="2000">
                <a:solidFill>
                  <a:srgbClr val="E20B0B"/>
                </a:solidFill>
                <a:highlight>
                  <a:srgbClr val="FFFFFF"/>
                </a:highlight>
              </a:rPr>
              <a:t>String[] </a:t>
            </a:r>
            <a:r>
              <a:rPr lang="en" sz="2000">
                <a:solidFill>
                  <a:srgbClr val="262626"/>
                </a:solidFill>
                <a:highlight>
                  <a:srgbClr val="FFFFFF"/>
                </a:highlight>
              </a:rPr>
              <a:t>animaux={‘’chat’’,’’poisson’’,”oiseau”};</a:t>
            </a:r>
            <a:endParaRPr sz="2000">
              <a:solidFill>
                <a:srgbClr val="262626"/>
              </a:solidFill>
              <a:highlight>
                <a:srgbClr val="FFFFFF"/>
              </a:highlight>
            </a:endParaRPr>
          </a:p>
          <a:p>
            <a:pPr indent="0" lvl="0" marL="0" rtl="0" algn="l">
              <a:lnSpc>
                <a:spcPct val="115000"/>
              </a:lnSpc>
              <a:spcBef>
                <a:spcPts val="0"/>
              </a:spcBef>
              <a:spcAft>
                <a:spcPts val="0"/>
              </a:spcAft>
              <a:buNone/>
            </a:pPr>
            <a:r>
              <a:rPr lang="en" sz="2000">
                <a:solidFill>
                  <a:srgbClr val="262626"/>
                </a:solidFill>
                <a:highlight>
                  <a:srgbClr val="FFFFFF"/>
                </a:highlight>
              </a:rPr>
              <a:t>Ou</a:t>
            </a:r>
            <a:endParaRPr sz="2000">
              <a:solidFill>
                <a:srgbClr val="262626"/>
              </a:solidFill>
              <a:highlight>
                <a:srgbClr val="FFFFFF"/>
              </a:highlight>
            </a:endParaRPr>
          </a:p>
          <a:p>
            <a:pPr indent="0" lvl="0" marL="0" rtl="0" algn="l">
              <a:lnSpc>
                <a:spcPct val="115000"/>
              </a:lnSpc>
              <a:spcBef>
                <a:spcPts val="0"/>
              </a:spcBef>
              <a:spcAft>
                <a:spcPts val="0"/>
              </a:spcAft>
              <a:buNone/>
            </a:pPr>
            <a:r>
              <a:rPr lang="en" sz="2000">
                <a:solidFill>
                  <a:srgbClr val="E20B0B"/>
                </a:solidFill>
                <a:highlight>
                  <a:srgbClr val="FFFFFF"/>
                </a:highlight>
              </a:rPr>
              <a:t>     </a:t>
            </a:r>
            <a:r>
              <a:rPr lang="en" sz="2000">
                <a:solidFill>
                  <a:srgbClr val="E20B0B"/>
                </a:solidFill>
                <a:highlight>
                  <a:srgbClr val="FFFFFF"/>
                </a:highlight>
              </a:rPr>
              <a:t>String[]</a:t>
            </a:r>
            <a:r>
              <a:rPr lang="en" sz="2000">
                <a:solidFill>
                  <a:srgbClr val="262626"/>
                </a:solidFill>
                <a:highlight>
                  <a:srgbClr val="FFFFFF"/>
                </a:highlight>
              </a:rPr>
              <a:t> </a:t>
            </a:r>
            <a:r>
              <a:rPr lang="en" sz="2000">
                <a:solidFill>
                  <a:srgbClr val="262626"/>
                </a:solidFill>
                <a:highlight>
                  <a:schemeClr val="lt1"/>
                </a:highlight>
              </a:rPr>
              <a:t>animaux</a:t>
            </a:r>
            <a:r>
              <a:rPr lang="en" sz="2000">
                <a:solidFill>
                  <a:srgbClr val="262626"/>
                </a:solidFill>
                <a:highlight>
                  <a:srgbClr val="FFFFFF"/>
                </a:highlight>
              </a:rPr>
              <a:t>= new </a:t>
            </a:r>
            <a:r>
              <a:rPr lang="en" sz="2000">
                <a:solidFill>
                  <a:srgbClr val="E20B0B"/>
                </a:solidFill>
                <a:highlight>
                  <a:srgbClr val="FFFFFF"/>
                </a:highlight>
              </a:rPr>
              <a:t>String[3]</a:t>
            </a:r>
            <a:r>
              <a:rPr lang="en" sz="2000">
                <a:solidFill>
                  <a:srgbClr val="262626"/>
                </a:solidFill>
                <a:highlight>
                  <a:srgbClr val="FFFFFF"/>
                </a:highlight>
              </a:rPr>
              <a:t>;  </a:t>
            </a:r>
            <a:endParaRPr sz="2000">
              <a:solidFill>
                <a:srgbClr val="262626"/>
              </a:solidFill>
              <a:highlight>
                <a:srgbClr val="FFFFFF"/>
              </a:highlight>
            </a:endParaRPr>
          </a:p>
          <a:p>
            <a:pPr indent="0" lvl="0" marL="0" rtl="0" algn="l">
              <a:lnSpc>
                <a:spcPct val="115000"/>
              </a:lnSpc>
              <a:spcBef>
                <a:spcPts val="0"/>
              </a:spcBef>
              <a:spcAft>
                <a:spcPts val="0"/>
              </a:spcAft>
              <a:buNone/>
            </a:pPr>
            <a:r>
              <a:rPr lang="en" sz="2000">
                <a:solidFill>
                  <a:srgbClr val="262626"/>
                </a:solidFill>
                <a:highlight>
                  <a:srgbClr val="FFFFFF"/>
                </a:highlight>
              </a:rPr>
              <a:t>     </a:t>
            </a:r>
            <a:r>
              <a:rPr lang="en" sz="2000">
                <a:solidFill>
                  <a:srgbClr val="262626"/>
                </a:solidFill>
                <a:highlight>
                  <a:schemeClr val="lt1"/>
                </a:highlight>
              </a:rPr>
              <a:t>animaux</a:t>
            </a:r>
            <a:r>
              <a:rPr lang="en" sz="2000">
                <a:solidFill>
                  <a:srgbClr val="262626"/>
                </a:solidFill>
                <a:highlight>
                  <a:srgbClr val="FFFFFF"/>
                </a:highlight>
              </a:rPr>
              <a:t>[0]=new String("chat");</a:t>
            </a:r>
            <a:endParaRPr sz="2000">
              <a:solidFill>
                <a:srgbClr val="262626"/>
              </a:solidFill>
              <a:highlight>
                <a:srgbClr val="FFFFFF"/>
              </a:highlight>
            </a:endParaRPr>
          </a:p>
          <a:p>
            <a:pPr indent="0" lvl="0" marL="0" rtl="0" algn="l">
              <a:lnSpc>
                <a:spcPct val="115000"/>
              </a:lnSpc>
              <a:spcBef>
                <a:spcPts val="0"/>
              </a:spcBef>
              <a:spcAft>
                <a:spcPts val="0"/>
              </a:spcAft>
              <a:buNone/>
            </a:pPr>
            <a:r>
              <a:rPr lang="en" sz="2000">
                <a:solidFill>
                  <a:srgbClr val="262626"/>
                </a:solidFill>
                <a:highlight>
                  <a:srgbClr val="FFFFFF"/>
                </a:highlight>
              </a:rPr>
              <a:t>     </a:t>
            </a:r>
            <a:r>
              <a:rPr lang="en" sz="2000">
                <a:solidFill>
                  <a:srgbClr val="262626"/>
                </a:solidFill>
                <a:highlight>
                  <a:schemeClr val="lt1"/>
                </a:highlight>
              </a:rPr>
              <a:t>animaux</a:t>
            </a:r>
            <a:r>
              <a:rPr lang="en" sz="2000">
                <a:solidFill>
                  <a:srgbClr val="262626"/>
                </a:solidFill>
                <a:highlight>
                  <a:srgbClr val="FFFFFF"/>
                </a:highlight>
              </a:rPr>
              <a:t>[1]="poisson";</a:t>
            </a:r>
            <a:endParaRPr sz="2000">
              <a:solidFill>
                <a:srgbClr val="262626"/>
              </a:solidFill>
              <a:highlight>
                <a:srgbClr val="FFFFFF"/>
              </a:highlight>
            </a:endParaRPr>
          </a:p>
          <a:p>
            <a:pPr indent="0" lvl="0" marL="0" rtl="0" algn="l">
              <a:lnSpc>
                <a:spcPct val="115000"/>
              </a:lnSpc>
              <a:spcBef>
                <a:spcPts val="0"/>
              </a:spcBef>
              <a:spcAft>
                <a:spcPts val="0"/>
              </a:spcAft>
              <a:buNone/>
            </a:pPr>
            <a:r>
              <a:rPr lang="en" sz="2000">
                <a:solidFill>
                  <a:srgbClr val="262626"/>
                </a:solidFill>
                <a:highlight>
                  <a:srgbClr val="FFFFFF"/>
                </a:highlight>
              </a:rPr>
              <a:t>     </a:t>
            </a:r>
            <a:r>
              <a:rPr lang="en" sz="2000">
                <a:solidFill>
                  <a:srgbClr val="262626"/>
                </a:solidFill>
                <a:highlight>
                  <a:schemeClr val="lt1"/>
                </a:highlight>
              </a:rPr>
              <a:t>animaux</a:t>
            </a:r>
            <a:r>
              <a:rPr lang="en" sz="2000">
                <a:solidFill>
                  <a:srgbClr val="262626"/>
                </a:solidFill>
                <a:highlight>
                  <a:srgbClr val="FFFFFF"/>
                </a:highlight>
              </a:rPr>
              <a:t>[2]=new String("oiseau");</a:t>
            </a:r>
            <a:endParaRPr sz="2000">
              <a:solidFill>
                <a:srgbClr val="262626"/>
              </a:solidFill>
              <a:highlight>
                <a:srgbClr val="FFFFFF"/>
              </a:highlight>
            </a:endParaRPr>
          </a:p>
          <a:p>
            <a:pPr indent="0" lvl="0" marL="0" rtl="0" algn="l">
              <a:lnSpc>
                <a:spcPct val="115000"/>
              </a:lnSpc>
              <a:spcBef>
                <a:spcPts val="0"/>
              </a:spcBef>
              <a:spcAft>
                <a:spcPts val="0"/>
              </a:spcAft>
              <a:buNone/>
            </a:pPr>
            <a:r>
              <a:t/>
            </a:r>
            <a:endParaRPr sz="2000">
              <a:solidFill>
                <a:srgbClr val="262626"/>
              </a:solidFill>
              <a:highlight>
                <a:srgbClr val="FFFFFF"/>
              </a:highlight>
            </a:endParaRPr>
          </a:p>
          <a:p>
            <a:pPr indent="0" lvl="0" marL="0" rtl="0" algn="l">
              <a:lnSpc>
                <a:spcPct val="120000"/>
              </a:lnSpc>
              <a:spcBef>
                <a:spcPts val="0"/>
              </a:spcBef>
              <a:spcAft>
                <a:spcPts val="0"/>
              </a:spcAft>
              <a:buNone/>
            </a:pPr>
            <a:r>
              <a:t/>
            </a:r>
            <a:endParaRPr sz="2000">
              <a:solidFill>
                <a:srgbClr val="262626"/>
              </a:solidFill>
              <a:highlight>
                <a:srgbClr val="FFFFFF"/>
              </a:highlight>
            </a:endParaRPr>
          </a:p>
        </p:txBody>
      </p:sp>
      <p:pic>
        <p:nvPicPr>
          <p:cNvPr id="112" name="Google Shape;112;p18"/>
          <p:cNvPicPr preferRelativeResize="0"/>
          <p:nvPr/>
        </p:nvPicPr>
        <p:blipFill rotWithShape="1">
          <a:blip r:embed="rId4">
            <a:alphaModFix/>
          </a:blip>
          <a:srcRect b="0" l="-1180" r="1180" t="0"/>
          <a:stretch/>
        </p:blipFill>
        <p:spPr>
          <a:xfrm>
            <a:off x="2396450" y="2910050"/>
            <a:ext cx="6440324" cy="2146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D:\esprit 2014\ESPRIT 2014\charte essprit 2014\render\support final\triangle.png" id="117" name="Google Shape;117;p19"/>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18" name="Google Shape;118;p19"/>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119" name="Google Shape;11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120" name="Google Shape;120;p19"/>
          <p:cNvSpPr txBox="1"/>
          <p:nvPr/>
        </p:nvSpPr>
        <p:spPr>
          <a:xfrm>
            <a:off x="380700" y="891325"/>
            <a:ext cx="7797600" cy="4926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sz="2000"/>
              <a:t>Pour parcourir un tableau, on utilise:</a:t>
            </a:r>
            <a:r>
              <a:rPr b="1" lang="en" sz="2000">
                <a:solidFill>
                  <a:srgbClr val="E20B0B"/>
                </a:solidFill>
              </a:rPr>
              <a:t>			</a:t>
            </a:r>
            <a:endParaRPr sz="2000"/>
          </a:p>
        </p:txBody>
      </p:sp>
      <p:sp>
        <p:nvSpPr>
          <p:cNvPr id="121" name="Google Shape;121;p19"/>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Manipulation des tableaux</a:t>
            </a:r>
            <a:endParaRPr/>
          </a:p>
        </p:txBody>
      </p:sp>
      <p:sp>
        <p:nvSpPr>
          <p:cNvPr id="122" name="Google Shape;122;p19"/>
          <p:cNvSpPr txBox="1"/>
          <p:nvPr/>
        </p:nvSpPr>
        <p:spPr>
          <a:xfrm>
            <a:off x="380700" y="2358725"/>
            <a:ext cx="3708900" cy="12621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a:solidFill>
                  <a:schemeClr val="dk1"/>
                </a:solidFill>
              </a:rPr>
              <a:t>for(int i = 0; i &lt; tab.</a:t>
            </a:r>
            <a:r>
              <a:rPr lang="en">
                <a:solidFill>
                  <a:schemeClr val="dk1"/>
                </a:solidFill>
              </a:rPr>
              <a:t>l</a:t>
            </a:r>
            <a:r>
              <a:rPr lang="en">
                <a:solidFill>
                  <a:schemeClr val="dk1"/>
                </a:solidFill>
              </a:rPr>
              <a:t>ength; i++){</a:t>
            </a:r>
            <a:endParaRPr>
              <a:solidFill>
                <a:schemeClr val="dk1"/>
              </a:solidFill>
            </a:endParaRPr>
          </a:p>
          <a:p>
            <a:pPr indent="0" lvl="0" marL="0" rtl="0" algn="l">
              <a:lnSpc>
                <a:spcPct val="200000"/>
              </a:lnSpc>
              <a:spcBef>
                <a:spcPts val="0"/>
              </a:spcBef>
              <a:spcAft>
                <a:spcPts val="0"/>
              </a:spcAft>
              <a:buNone/>
            </a:pPr>
            <a:r>
              <a:rPr lang="en">
                <a:solidFill>
                  <a:schemeClr val="dk1"/>
                </a:solidFill>
              </a:rPr>
              <a:t>	System.out.println(tab[i]);</a:t>
            </a:r>
            <a:endParaRPr>
              <a:solidFill>
                <a:schemeClr val="dk1"/>
              </a:solidFill>
            </a:endParaRPr>
          </a:p>
          <a:p>
            <a:pPr indent="0" lvl="0" marL="0" rtl="0" algn="l">
              <a:lnSpc>
                <a:spcPct val="200000"/>
              </a:lnSpc>
              <a:spcBef>
                <a:spcPts val="0"/>
              </a:spcBef>
              <a:spcAft>
                <a:spcPts val="0"/>
              </a:spcAft>
              <a:buNone/>
            </a:pPr>
            <a:r>
              <a:rPr lang="en">
                <a:solidFill>
                  <a:schemeClr val="dk1"/>
                </a:solidFill>
              </a:rPr>
              <a:t>}</a:t>
            </a:r>
            <a:endParaRPr>
              <a:solidFill>
                <a:schemeClr val="dk1"/>
              </a:solidFill>
            </a:endParaRPr>
          </a:p>
        </p:txBody>
      </p:sp>
      <p:sp>
        <p:nvSpPr>
          <p:cNvPr id="123" name="Google Shape;123;p19"/>
          <p:cNvSpPr txBox="1"/>
          <p:nvPr/>
        </p:nvSpPr>
        <p:spPr>
          <a:xfrm>
            <a:off x="4600525" y="2358725"/>
            <a:ext cx="3708900" cy="12621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a:solidFill>
                  <a:schemeClr val="dk1"/>
                </a:solidFill>
              </a:rPr>
              <a:t>for(int i : tab){</a:t>
            </a:r>
            <a:endParaRPr>
              <a:solidFill>
                <a:schemeClr val="dk1"/>
              </a:solidFill>
            </a:endParaRPr>
          </a:p>
          <a:p>
            <a:pPr indent="0" lvl="0" marL="0" rtl="0" algn="l">
              <a:lnSpc>
                <a:spcPct val="200000"/>
              </a:lnSpc>
              <a:spcBef>
                <a:spcPts val="0"/>
              </a:spcBef>
              <a:spcAft>
                <a:spcPts val="0"/>
              </a:spcAft>
              <a:buNone/>
            </a:pPr>
            <a:r>
              <a:rPr lang="en">
                <a:solidFill>
                  <a:schemeClr val="dk1"/>
                </a:solidFill>
              </a:rPr>
              <a:t>	System.out.println(i);</a:t>
            </a:r>
            <a:endParaRPr>
              <a:solidFill>
                <a:schemeClr val="dk1"/>
              </a:solidFill>
            </a:endParaRPr>
          </a:p>
          <a:p>
            <a:pPr indent="0" lvl="0" marL="0" rtl="0" algn="l">
              <a:lnSpc>
                <a:spcPct val="200000"/>
              </a:lnSpc>
              <a:spcBef>
                <a:spcPts val="0"/>
              </a:spcBef>
              <a:spcAft>
                <a:spcPts val="0"/>
              </a:spcAft>
              <a:buNone/>
            </a:pPr>
            <a:r>
              <a:rPr lang="en">
                <a:solidFill>
                  <a:schemeClr val="dk1"/>
                </a:solidFill>
              </a:rPr>
              <a:t>}</a:t>
            </a:r>
            <a:endParaRPr>
              <a:solidFill>
                <a:schemeClr val="dk1"/>
              </a:solidFill>
            </a:endParaRPr>
          </a:p>
        </p:txBody>
      </p:sp>
      <p:sp>
        <p:nvSpPr>
          <p:cNvPr id="124" name="Google Shape;124;p19"/>
          <p:cNvSpPr txBox="1"/>
          <p:nvPr/>
        </p:nvSpPr>
        <p:spPr>
          <a:xfrm>
            <a:off x="977700" y="3751575"/>
            <a:ext cx="2514900" cy="45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t>Accès par indice</a:t>
            </a:r>
            <a:endParaRPr sz="2000"/>
          </a:p>
        </p:txBody>
      </p:sp>
      <p:sp>
        <p:nvSpPr>
          <p:cNvPr id="125" name="Google Shape;125;p19"/>
          <p:cNvSpPr txBox="1"/>
          <p:nvPr/>
        </p:nvSpPr>
        <p:spPr>
          <a:xfrm>
            <a:off x="5052575" y="3751575"/>
            <a:ext cx="2804700" cy="45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t>Accès par élément</a:t>
            </a:r>
            <a:endParaRPr sz="2000"/>
          </a:p>
        </p:txBody>
      </p:sp>
      <p:sp>
        <p:nvSpPr>
          <p:cNvPr id="126" name="Google Shape;126;p19"/>
          <p:cNvSpPr txBox="1"/>
          <p:nvPr/>
        </p:nvSpPr>
        <p:spPr>
          <a:xfrm>
            <a:off x="3996825" y="1771500"/>
            <a:ext cx="4848600" cy="492600"/>
          </a:xfrm>
          <a:prstGeom prst="rect">
            <a:avLst/>
          </a:prstGeom>
          <a:noFill/>
          <a:ln>
            <a:noFill/>
          </a:ln>
        </p:spPr>
        <p:txBody>
          <a:bodyPr anchorCtr="0" anchor="t" bIns="91425" lIns="91425" spcFirstLastPara="1" rIns="91425" wrap="square" tIns="91425">
            <a:spAutoFit/>
          </a:bodyPr>
          <a:lstStyle/>
          <a:p>
            <a:pPr indent="457200" lvl="0" marL="0" rtl="0" algn="l">
              <a:lnSpc>
                <a:spcPct val="200000"/>
              </a:lnSpc>
              <a:spcBef>
                <a:spcPts val="0"/>
              </a:spcBef>
              <a:spcAft>
                <a:spcPts val="0"/>
              </a:spcAft>
              <a:buClr>
                <a:schemeClr val="dk1"/>
              </a:buClr>
              <a:buSzPts val="1100"/>
              <a:buFont typeface="Arial"/>
              <a:buNone/>
            </a:pPr>
            <a:r>
              <a:rPr b="1" lang="en" sz="2000">
                <a:solidFill>
                  <a:srgbClr val="E20B0B"/>
                </a:solidFill>
              </a:rPr>
              <a:t>La boucle for simplifié (for-each)</a:t>
            </a:r>
            <a:endParaRPr/>
          </a:p>
        </p:txBody>
      </p:sp>
      <p:sp>
        <p:nvSpPr>
          <p:cNvPr id="127" name="Google Shape;127;p19"/>
          <p:cNvSpPr txBox="1"/>
          <p:nvPr/>
        </p:nvSpPr>
        <p:spPr>
          <a:xfrm>
            <a:off x="977700" y="1735375"/>
            <a:ext cx="2514900" cy="492600"/>
          </a:xfrm>
          <a:prstGeom prst="rect">
            <a:avLst/>
          </a:prstGeom>
          <a:noFill/>
          <a:ln>
            <a:noFill/>
          </a:ln>
        </p:spPr>
        <p:txBody>
          <a:bodyPr anchorCtr="0" anchor="t" bIns="91425" lIns="91425" spcFirstLastPara="1" rIns="91425" wrap="square" tIns="91425">
            <a:spAutoFit/>
          </a:bodyPr>
          <a:lstStyle/>
          <a:p>
            <a:pPr indent="457200" lvl="0" marL="0" rtl="0" algn="l">
              <a:lnSpc>
                <a:spcPct val="200000"/>
              </a:lnSpc>
              <a:spcBef>
                <a:spcPts val="0"/>
              </a:spcBef>
              <a:spcAft>
                <a:spcPts val="0"/>
              </a:spcAft>
              <a:buNone/>
            </a:pPr>
            <a:r>
              <a:rPr b="1" lang="en" sz="2000">
                <a:solidFill>
                  <a:srgbClr val="E20B0B"/>
                </a:solidFill>
              </a:rPr>
              <a:t>La boucle for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descr="D:\esprit 2014\ESPRIT 2014\charte essprit 2014\render\support final\triangle.png" id="132" name="Google Shape;132;p20"/>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33" name="Google Shape;133;p20"/>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134" name="Google Shape;13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135" name="Google Shape;135;p20"/>
          <p:cNvSpPr txBox="1"/>
          <p:nvPr/>
        </p:nvSpPr>
        <p:spPr>
          <a:xfrm>
            <a:off x="380700" y="586525"/>
            <a:ext cx="8363100" cy="4648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000">
                <a:solidFill>
                  <a:srgbClr val="262626"/>
                </a:solidFill>
                <a:highlight>
                  <a:schemeClr val="lt1"/>
                </a:highlight>
              </a:rPr>
              <a:t>Une association est une relation entre deux classes (association binaire) ou plus (association n‑aire), qui décrit les connexions structurelles entre leurs instances. </a:t>
            </a:r>
            <a:endParaRPr sz="2000">
              <a:solidFill>
                <a:srgbClr val="262626"/>
              </a:solidFill>
              <a:highlight>
                <a:schemeClr val="lt1"/>
              </a:highlight>
            </a:endParaRPr>
          </a:p>
          <a:p>
            <a:pPr indent="0" lvl="0" marL="0" rtl="0" algn="l">
              <a:lnSpc>
                <a:spcPct val="150000"/>
              </a:lnSpc>
              <a:spcBef>
                <a:spcPts val="1200"/>
              </a:spcBef>
              <a:spcAft>
                <a:spcPts val="0"/>
              </a:spcAft>
              <a:buNone/>
            </a:pPr>
            <a:r>
              <a:rPr lang="en" sz="2000">
                <a:solidFill>
                  <a:srgbClr val="262626"/>
                </a:solidFill>
                <a:highlight>
                  <a:schemeClr val="lt1"/>
                </a:highlight>
              </a:rPr>
              <a:t>Une association indique donc qu'il peut y avoir des liens entre des instances des classes associées.</a:t>
            </a:r>
            <a:endParaRPr sz="2000">
              <a:solidFill>
                <a:srgbClr val="262626"/>
              </a:solidFill>
              <a:highlight>
                <a:schemeClr val="lt1"/>
              </a:highlight>
            </a:endParaRPr>
          </a:p>
          <a:p>
            <a:pPr indent="0" lvl="0" marL="0" rtl="0" algn="l">
              <a:lnSpc>
                <a:spcPct val="150000"/>
              </a:lnSpc>
              <a:spcBef>
                <a:spcPts val="1200"/>
              </a:spcBef>
              <a:spcAft>
                <a:spcPts val="0"/>
              </a:spcAft>
              <a:buNone/>
            </a:pPr>
            <a:r>
              <a:rPr lang="en" sz="2000">
                <a:solidFill>
                  <a:srgbClr val="262626"/>
                </a:solidFill>
                <a:highlight>
                  <a:schemeClr val="lt1"/>
                </a:highlight>
              </a:rPr>
              <a:t>Il y a plusieurs type d’associations qu’on peut représenter: </a:t>
            </a:r>
            <a:endParaRPr sz="2000">
              <a:solidFill>
                <a:srgbClr val="262626"/>
              </a:solidFill>
              <a:highlight>
                <a:schemeClr val="lt1"/>
              </a:highlight>
            </a:endParaRPr>
          </a:p>
          <a:p>
            <a:pPr indent="-355600" lvl="0" marL="457200" rtl="0" algn="l">
              <a:lnSpc>
                <a:spcPct val="150000"/>
              </a:lnSpc>
              <a:spcBef>
                <a:spcPts val="1200"/>
              </a:spcBef>
              <a:spcAft>
                <a:spcPts val="0"/>
              </a:spcAft>
              <a:buClr>
                <a:srgbClr val="262626"/>
              </a:buClr>
              <a:buSzPts val="2000"/>
              <a:buChar char="●"/>
            </a:pPr>
            <a:r>
              <a:rPr lang="en" sz="2000">
                <a:solidFill>
                  <a:srgbClr val="262626"/>
                </a:solidFill>
                <a:highlight>
                  <a:schemeClr val="lt1"/>
                </a:highlight>
              </a:rPr>
              <a:t> Association one-to-one</a:t>
            </a:r>
            <a:endParaRPr sz="2000">
              <a:solidFill>
                <a:srgbClr val="262626"/>
              </a:solidFill>
              <a:highlight>
                <a:schemeClr val="lt1"/>
              </a:highlight>
            </a:endParaRPr>
          </a:p>
          <a:p>
            <a:pPr indent="-355600" lvl="0" marL="457200" rtl="0" algn="l">
              <a:lnSpc>
                <a:spcPct val="150000"/>
              </a:lnSpc>
              <a:spcBef>
                <a:spcPts val="0"/>
              </a:spcBef>
              <a:spcAft>
                <a:spcPts val="0"/>
              </a:spcAft>
              <a:buClr>
                <a:srgbClr val="262626"/>
              </a:buClr>
              <a:buSzPts val="2000"/>
              <a:buChar char="●"/>
            </a:pPr>
            <a:r>
              <a:rPr lang="en" sz="2000">
                <a:solidFill>
                  <a:srgbClr val="262626"/>
                </a:solidFill>
                <a:highlight>
                  <a:schemeClr val="lt1"/>
                </a:highlight>
              </a:rPr>
              <a:t> Association one-to-many</a:t>
            </a:r>
            <a:endParaRPr sz="2000">
              <a:solidFill>
                <a:srgbClr val="262626"/>
              </a:solidFill>
              <a:highlight>
                <a:schemeClr val="lt1"/>
              </a:highlight>
            </a:endParaRPr>
          </a:p>
          <a:p>
            <a:pPr indent="-355600" lvl="0" marL="457200" rtl="0" algn="l">
              <a:lnSpc>
                <a:spcPct val="150000"/>
              </a:lnSpc>
              <a:spcBef>
                <a:spcPts val="0"/>
              </a:spcBef>
              <a:spcAft>
                <a:spcPts val="0"/>
              </a:spcAft>
              <a:buClr>
                <a:srgbClr val="262626"/>
              </a:buClr>
              <a:buSzPts val="2000"/>
              <a:buChar char="●"/>
            </a:pPr>
            <a:r>
              <a:rPr lang="en" sz="2000">
                <a:solidFill>
                  <a:srgbClr val="262626"/>
                </a:solidFill>
                <a:highlight>
                  <a:schemeClr val="lt1"/>
                </a:highlight>
              </a:rPr>
              <a:t> Association many-to-many</a:t>
            </a:r>
            <a:endParaRPr sz="2000">
              <a:solidFill>
                <a:srgbClr val="262626"/>
              </a:solidFill>
              <a:highlight>
                <a:schemeClr val="lt1"/>
              </a:highlight>
            </a:endParaRPr>
          </a:p>
        </p:txBody>
      </p:sp>
      <p:sp>
        <p:nvSpPr>
          <p:cNvPr id="136" name="Google Shape;136;p20"/>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Les associations entre les classes</a:t>
            </a:r>
            <a:endParaRPr b="1">
              <a:solidFill>
                <a:srgbClr val="E20B0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D:\esprit 2014\ESPRIT 2014\charte essprit 2014\render\support final\triangle.png" id="141" name="Google Shape;141;p21"/>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42" name="Google Shape;142;p21"/>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143" name="Google Shape;14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144" name="Google Shape;144;p21"/>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Association one-to-one </a:t>
            </a:r>
            <a:r>
              <a:rPr b="1" lang="en">
                <a:solidFill>
                  <a:srgbClr val="E20B0B"/>
                </a:solidFill>
              </a:rPr>
              <a:t>unidirectionnelle</a:t>
            </a:r>
            <a:endParaRPr b="1">
              <a:solidFill>
                <a:srgbClr val="E20B0B"/>
              </a:solidFill>
            </a:endParaRPr>
          </a:p>
        </p:txBody>
      </p:sp>
      <p:graphicFrame>
        <p:nvGraphicFramePr>
          <p:cNvPr id="145" name="Google Shape;145;p21"/>
          <p:cNvGraphicFramePr/>
          <p:nvPr/>
        </p:nvGraphicFramePr>
        <p:xfrm>
          <a:off x="2517617" y="881799"/>
          <a:ext cx="3000000" cy="3000000"/>
        </p:xfrm>
        <a:graphic>
          <a:graphicData uri="http://schemas.openxmlformats.org/drawingml/2006/table">
            <a:tbl>
              <a:tblPr bandRow="1" firstRow="1">
                <a:noFill/>
                <a:tableStyleId>{ECD15C0B-5C9D-4ECD-BFD3-1CDC92890789}</a:tableStyleId>
              </a:tblPr>
              <a:tblGrid>
                <a:gridCol w="1266500"/>
              </a:tblGrid>
              <a:tr h="308000">
                <a:tc>
                  <a:txBody>
                    <a:bodyPr/>
                    <a:lstStyle/>
                    <a:p>
                      <a:pPr indent="0" lvl="0" marL="0" marR="0" rtl="0" algn="ctr">
                        <a:lnSpc>
                          <a:spcPct val="100000"/>
                        </a:lnSpc>
                        <a:spcBef>
                          <a:spcPts val="0"/>
                        </a:spcBef>
                        <a:spcAft>
                          <a:spcPts val="0"/>
                        </a:spcAft>
                        <a:buClr>
                          <a:srgbClr val="000000"/>
                        </a:buClr>
                        <a:buSzPts val="1100"/>
                        <a:buFont typeface="Arial"/>
                        <a:buNone/>
                      </a:pPr>
                      <a:r>
                        <a:rPr lang="en" sz="1100"/>
                        <a:t>Developer</a:t>
                      </a:r>
                      <a:endParaRPr sz="1100" u="none" cap="none" strike="noStrike"/>
                    </a:p>
                  </a:txBody>
                  <a:tcPr marT="45700" marB="45700" marR="91450" marL="91450"/>
                </a:tc>
              </a:tr>
              <a:tr h="308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r h="308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bl>
          </a:graphicData>
        </a:graphic>
      </p:graphicFrame>
      <p:graphicFrame>
        <p:nvGraphicFramePr>
          <p:cNvPr id="146" name="Google Shape;146;p21"/>
          <p:cNvGraphicFramePr/>
          <p:nvPr/>
        </p:nvGraphicFramePr>
        <p:xfrm>
          <a:off x="4854779" y="837511"/>
          <a:ext cx="3000000" cy="3000000"/>
        </p:xfrm>
        <a:graphic>
          <a:graphicData uri="http://schemas.openxmlformats.org/drawingml/2006/table">
            <a:tbl>
              <a:tblPr bandRow="1" firstRow="1">
                <a:noFill/>
                <a:tableStyleId>{ECD15C0B-5C9D-4ECD-BFD3-1CDC92890789}</a:tableStyleId>
              </a:tblPr>
              <a:tblGrid>
                <a:gridCol w="1395200"/>
              </a:tblGrid>
              <a:tr h="299875">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Project</a:t>
                      </a:r>
                      <a:endParaRPr sz="1400" u="none" cap="none" strike="noStrike"/>
                    </a:p>
                  </a:txBody>
                  <a:tcPr marT="45700" marB="45700" marR="91450" marL="91450"/>
                </a:tc>
              </a:tr>
              <a:tr h="29987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r h="3172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bl>
          </a:graphicData>
        </a:graphic>
      </p:graphicFrame>
      <p:cxnSp>
        <p:nvCxnSpPr>
          <p:cNvPr id="147" name="Google Shape;147;p21"/>
          <p:cNvCxnSpPr/>
          <p:nvPr/>
        </p:nvCxnSpPr>
        <p:spPr>
          <a:xfrm rot="10800000">
            <a:off x="3781421" y="1329688"/>
            <a:ext cx="1073400" cy="14100"/>
          </a:xfrm>
          <a:prstGeom prst="straightConnector1">
            <a:avLst/>
          </a:prstGeom>
          <a:noFill/>
          <a:ln cap="flat" cmpd="sng" w="25400">
            <a:solidFill>
              <a:srgbClr val="000000"/>
            </a:solidFill>
            <a:prstDash val="solid"/>
            <a:round/>
            <a:headEnd len="sm" w="sm" type="none"/>
            <a:tailEnd len="med" w="med" type="triangle"/>
          </a:ln>
          <a:effectLst>
            <a:outerShdw blurRad="40000" rotWithShape="0" dir="5400000" dist="20000">
              <a:srgbClr val="000000">
                <a:alpha val="36860"/>
              </a:srgbClr>
            </a:outerShdw>
          </a:effectLst>
        </p:spPr>
      </p:cxnSp>
      <p:sp>
        <p:nvSpPr>
          <p:cNvPr id="148" name="Google Shape;148;p21"/>
          <p:cNvSpPr txBox="1"/>
          <p:nvPr/>
        </p:nvSpPr>
        <p:spPr>
          <a:xfrm>
            <a:off x="213900" y="32367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rgbClr val="FF0000"/>
                </a:solidFill>
              </a:rPr>
              <a:t>private </a:t>
            </a:r>
            <a:r>
              <a:rPr lang="en" sz="1800">
                <a:solidFill>
                  <a:srgbClr val="FF0000"/>
                </a:solidFill>
              </a:rPr>
              <a:t>Developer developer</a:t>
            </a:r>
            <a:r>
              <a:rPr lang="en" sz="1800">
                <a:solidFill>
                  <a:srgbClr val="FF0000"/>
                </a:solidFill>
              </a:rPr>
              <a:t>;</a:t>
            </a:r>
            <a:endParaRPr sz="18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149" name="Google Shape;149;p21"/>
          <p:cNvSpPr txBox="1"/>
          <p:nvPr/>
        </p:nvSpPr>
        <p:spPr>
          <a:xfrm>
            <a:off x="4607000" y="32295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Developer</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a:t>
            </a:r>
            <a:endParaRPr>
              <a:solidFill>
                <a:schemeClr val="dk1"/>
              </a:solidFill>
            </a:endParaRPr>
          </a:p>
        </p:txBody>
      </p:sp>
      <p:sp>
        <p:nvSpPr>
          <p:cNvPr id="150" name="Google Shape;150;p21"/>
          <p:cNvSpPr/>
          <p:nvPr/>
        </p:nvSpPr>
        <p:spPr>
          <a:xfrm rot="5400000">
            <a:off x="3861473" y="2297134"/>
            <a:ext cx="1096800" cy="389700"/>
          </a:xfrm>
          <a:prstGeom prst="rightArrow">
            <a:avLst>
              <a:gd fmla="val 50000" name="adj1"/>
              <a:gd fmla="val 50000" name="adj2"/>
            </a:avLst>
          </a:prstGeom>
          <a:solidFill>
            <a:srgbClr val="FF0000"/>
          </a:solidFill>
          <a:ln>
            <a:noFill/>
          </a:ln>
          <a:effectLst>
            <a:outerShdw blurRad="40000" rotWithShape="0" dir="5400000" dist="23000">
              <a:srgbClr val="000000">
                <a:alpha val="3412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51" name="Google Shape;151;p21"/>
          <p:cNvSpPr/>
          <p:nvPr/>
        </p:nvSpPr>
        <p:spPr>
          <a:xfrm>
            <a:off x="3186937" y="2199626"/>
            <a:ext cx="10281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Mapping </a:t>
            </a:r>
            <a:endParaRPr b="0" i="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en java</a:t>
            </a:r>
            <a:endParaRPr b="0" i="0" u="none" cap="none" strike="noStrike">
              <a:solidFill>
                <a:srgbClr val="000000"/>
              </a:solidFill>
              <a:latin typeface="Arial"/>
              <a:ea typeface="Arial"/>
              <a:cs typeface="Arial"/>
              <a:sym typeface="Arial"/>
            </a:endParaRPr>
          </a:p>
        </p:txBody>
      </p:sp>
      <p:sp>
        <p:nvSpPr>
          <p:cNvPr id="152" name="Google Shape;152;p21"/>
          <p:cNvSpPr txBox="1"/>
          <p:nvPr/>
        </p:nvSpPr>
        <p:spPr>
          <a:xfrm>
            <a:off x="3784114" y="1396167"/>
            <a:ext cx="299400" cy="31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53" name="Google Shape;153;p21"/>
          <p:cNvSpPr txBox="1"/>
          <p:nvPr/>
        </p:nvSpPr>
        <p:spPr>
          <a:xfrm>
            <a:off x="4606989" y="1396167"/>
            <a:ext cx="299400" cy="31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D:\esprit 2014\ESPRIT 2014\charte essprit 2014\render\support final\triangle.png" id="158" name="Google Shape;158;p22"/>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59" name="Google Shape;159;p22"/>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160" name="Google Shape;16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161" name="Google Shape;161;p22"/>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Association one-to-many </a:t>
            </a:r>
            <a:r>
              <a:rPr b="1" lang="en">
                <a:solidFill>
                  <a:srgbClr val="E20B0B"/>
                </a:solidFill>
              </a:rPr>
              <a:t>unidirectionnelle</a:t>
            </a:r>
            <a:endParaRPr b="1">
              <a:solidFill>
                <a:srgbClr val="E20B0B"/>
              </a:solidFill>
            </a:endParaRPr>
          </a:p>
        </p:txBody>
      </p:sp>
      <p:graphicFrame>
        <p:nvGraphicFramePr>
          <p:cNvPr id="162" name="Google Shape;162;p22"/>
          <p:cNvGraphicFramePr/>
          <p:nvPr/>
        </p:nvGraphicFramePr>
        <p:xfrm>
          <a:off x="2517617" y="881799"/>
          <a:ext cx="3000000" cy="3000000"/>
        </p:xfrm>
        <a:graphic>
          <a:graphicData uri="http://schemas.openxmlformats.org/drawingml/2006/table">
            <a:tbl>
              <a:tblPr bandRow="1" firstRow="1">
                <a:noFill/>
                <a:tableStyleId>{ECD15C0B-5C9D-4ECD-BFD3-1CDC92890789}</a:tableStyleId>
              </a:tblPr>
              <a:tblGrid>
                <a:gridCol w="1266500"/>
              </a:tblGrid>
              <a:tr h="308000">
                <a:tc>
                  <a:txBody>
                    <a:bodyPr/>
                    <a:lstStyle/>
                    <a:p>
                      <a:pPr indent="0" lvl="0" marL="0" marR="0" rtl="0" algn="ctr">
                        <a:lnSpc>
                          <a:spcPct val="100000"/>
                        </a:lnSpc>
                        <a:spcBef>
                          <a:spcPts val="0"/>
                        </a:spcBef>
                        <a:spcAft>
                          <a:spcPts val="0"/>
                        </a:spcAft>
                        <a:buClr>
                          <a:srgbClr val="000000"/>
                        </a:buClr>
                        <a:buSzPts val="1100"/>
                        <a:buFont typeface="Arial"/>
                        <a:buNone/>
                      </a:pPr>
                      <a:r>
                        <a:rPr lang="en" sz="1100"/>
                        <a:t>Developer</a:t>
                      </a:r>
                      <a:endParaRPr sz="1100" u="none" cap="none" strike="noStrike"/>
                    </a:p>
                  </a:txBody>
                  <a:tcPr marT="45700" marB="45700" marR="91450" marL="91450"/>
                </a:tc>
              </a:tr>
              <a:tr h="308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r h="308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bl>
          </a:graphicData>
        </a:graphic>
      </p:graphicFrame>
      <p:graphicFrame>
        <p:nvGraphicFramePr>
          <p:cNvPr id="163" name="Google Shape;163;p22"/>
          <p:cNvGraphicFramePr/>
          <p:nvPr/>
        </p:nvGraphicFramePr>
        <p:xfrm>
          <a:off x="4854779" y="837511"/>
          <a:ext cx="3000000" cy="3000000"/>
        </p:xfrm>
        <a:graphic>
          <a:graphicData uri="http://schemas.openxmlformats.org/drawingml/2006/table">
            <a:tbl>
              <a:tblPr bandRow="1" firstRow="1">
                <a:noFill/>
                <a:tableStyleId>{ECD15C0B-5C9D-4ECD-BFD3-1CDC92890789}</a:tableStyleId>
              </a:tblPr>
              <a:tblGrid>
                <a:gridCol w="1395200"/>
              </a:tblGrid>
              <a:tr h="299875">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Project</a:t>
                      </a:r>
                      <a:endParaRPr sz="1400" u="none" cap="none" strike="noStrike"/>
                    </a:p>
                  </a:txBody>
                  <a:tcPr marT="45700" marB="45700" marR="91450" marL="91450"/>
                </a:tc>
              </a:tr>
              <a:tr h="29987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r h="3172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bl>
          </a:graphicData>
        </a:graphic>
      </p:graphicFrame>
      <p:cxnSp>
        <p:nvCxnSpPr>
          <p:cNvPr id="164" name="Google Shape;164;p22"/>
          <p:cNvCxnSpPr/>
          <p:nvPr/>
        </p:nvCxnSpPr>
        <p:spPr>
          <a:xfrm rot="10800000">
            <a:off x="3781421" y="1329688"/>
            <a:ext cx="1073400" cy="14100"/>
          </a:xfrm>
          <a:prstGeom prst="straightConnector1">
            <a:avLst/>
          </a:prstGeom>
          <a:noFill/>
          <a:ln cap="flat" cmpd="sng" w="25400">
            <a:solidFill>
              <a:srgbClr val="000000"/>
            </a:solidFill>
            <a:prstDash val="solid"/>
            <a:round/>
            <a:headEnd len="sm" w="sm" type="none"/>
            <a:tailEnd len="med" w="med" type="triangle"/>
          </a:ln>
          <a:effectLst>
            <a:outerShdw blurRad="40000" rotWithShape="0" dir="5400000" dist="20000">
              <a:srgbClr val="000000">
                <a:alpha val="36860"/>
              </a:srgbClr>
            </a:outerShdw>
          </a:effectLst>
        </p:spPr>
      </p:cxnSp>
      <p:sp>
        <p:nvSpPr>
          <p:cNvPr id="165" name="Google Shape;165;p22"/>
          <p:cNvSpPr txBox="1"/>
          <p:nvPr/>
        </p:nvSpPr>
        <p:spPr>
          <a:xfrm>
            <a:off x="213900" y="32367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lang="en" sz="1800">
                <a:solidFill>
                  <a:schemeClr val="dk1"/>
                </a:solidFill>
              </a:rPr>
              <a:t>	</a:t>
            </a:r>
            <a:r>
              <a:rPr lang="en" sz="1800">
                <a:solidFill>
                  <a:srgbClr val="FF0000"/>
                </a:solidFill>
              </a:rPr>
              <a:t>private Developer[] developers;</a:t>
            </a:r>
            <a:endParaRPr sz="1600">
              <a:solidFill>
                <a:schemeClr val="dk1"/>
              </a:solidFill>
            </a:endParaRPr>
          </a:p>
          <a:p>
            <a:pPr indent="0" lvl="0" marL="0" rtl="0" algn="l">
              <a:spcBef>
                <a:spcPts val="0"/>
              </a:spcBef>
              <a:spcAft>
                <a:spcPts val="0"/>
              </a:spcAft>
              <a:buNone/>
            </a:pPr>
            <a:r>
              <a:rPr lang="en" sz="1800">
                <a:solidFill>
                  <a:schemeClr val="dk1"/>
                </a:solidFill>
              </a:rPr>
              <a:t>}</a:t>
            </a:r>
            <a:endParaRPr>
              <a:solidFill>
                <a:schemeClr val="dk1"/>
              </a:solidFill>
            </a:endParaRPr>
          </a:p>
        </p:txBody>
      </p:sp>
      <p:sp>
        <p:nvSpPr>
          <p:cNvPr id="166" name="Google Shape;166;p22"/>
          <p:cNvSpPr txBox="1"/>
          <p:nvPr/>
        </p:nvSpPr>
        <p:spPr>
          <a:xfrm>
            <a:off x="4607000" y="32295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Developer</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a:t>
            </a:r>
            <a:endParaRPr>
              <a:solidFill>
                <a:schemeClr val="dk1"/>
              </a:solidFill>
            </a:endParaRPr>
          </a:p>
        </p:txBody>
      </p:sp>
      <p:sp>
        <p:nvSpPr>
          <p:cNvPr id="167" name="Google Shape;167;p22"/>
          <p:cNvSpPr/>
          <p:nvPr/>
        </p:nvSpPr>
        <p:spPr>
          <a:xfrm rot="5400000">
            <a:off x="3861473" y="2297134"/>
            <a:ext cx="1096800" cy="389700"/>
          </a:xfrm>
          <a:prstGeom prst="rightArrow">
            <a:avLst>
              <a:gd fmla="val 50000" name="adj1"/>
              <a:gd fmla="val 50000" name="adj2"/>
            </a:avLst>
          </a:prstGeom>
          <a:solidFill>
            <a:srgbClr val="FF0000"/>
          </a:solidFill>
          <a:ln>
            <a:noFill/>
          </a:ln>
          <a:effectLst>
            <a:outerShdw blurRad="40000" rotWithShape="0" dir="5400000" dist="23000">
              <a:srgbClr val="000000">
                <a:alpha val="3412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68" name="Google Shape;168;p22"/>
          <p:cNvSpPr/>
          <p:nvPr/>
        </p:nvSpPr>
        <p:spPr>
          <a:xfrm>
            <a:off x="3186937" y="2199626"/>
            <a:ext cx="10281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Mapping </a:t>
            </a:r>
            <a:endParaRPr b="0" i="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en java</a:t>
            </a:r>
            <a:endParaRPr b="0" i="0" u="none" cap="none" strike="noStrike">
              <a:solidFill>
                <a:srgbClr val="000000"/>
              </a:solidFill>
              <a:latin typeface="Arial"/>
              <a:ea typeface="Arial"/>
              <a:cs typeface="Arial"/>
              <a:sym typeface="Arial"/>
            </a:endParaRPr>
          </a:p>
        </p:txBody>
      </p:sp>
      <p:sp>
        <p:nvSpPr>
          <p:cNvPr id="169" name="Google Shape;169;p22"/>
          <p:cNvSpPr txBox="1"/>
          <p:nvPr/>
        </p:nvSpPr>
        <p:spPr>
          <a:xfrm>
            <a:off x="3784114" y="1396167"/>
            <a:ext cx="299400" cy="31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
              <a:t>*</a:t>
            </a:r>
            <a:endParaRPr b="0" i="0" sz="1400" u="none" cap="none" strike="noStrike">
              <a:solidFill>
                <a:srgbClr val="000000"/>
              </a:solidFill>
              <a:latin typeface="Arial"/>
              <a:ea typeface="Arial"/>
              <a:cs typeface="Arial"/>
              <a:sym typeface="Arial"/>
            </a:endParaRPr>
          </a:p>
        </p:txBody>
      </p:sp>
      <p:sp>
        <p:nvSpPr>
          <p:cNvPr id="170" name="Google Shape;170;p22"/>
          <p:cNvSpPr txBox="1"/>
          <p:nvPr/>
        </p:nvSpPr>
        <p:spPr>
          <a:xfrm>
            <a:off x="4606989" y="1396167"/>
            <a:ext cx="299400" cy="31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D:\esprit 2014\ESPRIT 2014\charte essprit 2014\render\support final\triangle.png" id="175" name="Google Shape;175;p23"/>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76" name="Google Shape;176;p23"/>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177" name="Google Shape;17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178" name="Google Shape;178;p23"/>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Association one-to-one </a:t>
            </a:r>
            <a:r>
              <a:rPr b="1" lang="en">
                <a:solidFill>
                  <a:srgbClr val="E20B0B"/>
                </a:solidFill>
              </a:rPr>
              <a:t>bidirectionnelle</a:t>
            </a:r>
            <a:endParaRPr b="1">
              <a:solidFill>
                <a:srgbClr val="E20B0B"/>
              </a:solidFill>
            </a:endParaRPr>
          </a:p>
        </p:txBody>
      </p:sp>
      <p:graphicFrame>
        <p:nvGraphicFramePr>
          <p:cNvPr id="179" name="Google Shape;179;p23"/>
          <p:cNvGraphicFramePr/>
          <p:nvPr/>
        </p:nvGraphicFramePr>
        <p:xfrm>
          <a:off x="2517617" y="881799"/>
          <a:ext cx="3000000" cy="3000000"/>
        </p:xfrm>
        <a:graphic>
          <a:graphicData uri="http://schemas.openxmlformats.org/drawingml/2006/table">
            <a:tbl>
              <a:tblPr bandRow="1" firstRow="1">
                <a:noFill/>
                <a:tableStyleId>{ECD15C0B-5C9D-4ECD-BFD3-1CDC92890789}</a:tableStyleId>
              </a:tblPr>
              <a:tblGrid>
                <a:gridCol w="1266500"/>
              </a:tblGrid>
              <a:tr h="308000">
                <a:tc>
                  <a:txBody>
                    <a:bodyPr/>
                    <a:lstStyle/>
                    <a:p>
                      <a:pPr indent="0" lvl="0" marL="0" marR="0" rtl="0" algn="ctr">
                        <a:lnSpc>
                          <a:spcPct val="100000"/>
                        </a:lnSpc>
                        <a:spcBef>
                          <a:spcPts val="0"/>
                        </a:spcBef>
                        <a:spcAft>
                          <a:spcPts val="0"/>
                        </a:spcAft>
                        <a:buClr>
                          <a:srgbClr val="000000"/>
                        </a:buClr>
                        <a:buSzPts val="1100"/>
                        <a:buFont typeface="Arial"/>
                        <a:buNone/>
                      </a:pPr>
                      <a:r>
                        <a:rPr lang="en" sz="1100"/>
                        <a:t>Developer</a:t>
                      </a:r>
                      <a:endParaRPr sz="1100" u="none" cap="none" strike="noStrike"/>
                    </a:p>
                  </a:txBody>
                  <a:tcPr marT="45700" marB="45700" marR="91450" marL="91450"/>
                </a:tc>
              </a:tr>
              <a:tr h="308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r h="308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bl>
          </a:graphicData>
        </a:graphic>
      </p:graphicFrame>
      <p:graphicFrame>
        <p:nvGraphicFramePr>
          <p:cNvPr id="180" name="Google Shape;180;p23"/>
          <p:cNvGraphicFramePr/>
          <p:nvPr/>
        </p:nvGraphicFramePr>
        <p:xfrm>
          <a:off x="4854779" y="837511"/>
          <a:ext cx="3000000" cy="3000000"/>
        </p:xfrm>
        <a:graphic>
          <a:graphicData uri="http://schemas.openxmlformats.org/drawingml/2006/table">
            <a:tbl>
              <a:tblPr bandRow="1" firstRow="1">
                <a:noFill/>
                <a:tableStyleId>{ECD15C0B-5C9D-4ECD-BFD3-1CDC92890789}</a:tableStyleId>
              </a:tblPr>
              <a:tblGrid>
                <a:gridCol w="1395200"/>
              </a:tblGrid>
              <a:tr h="299875">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Project</a:t>
                      </a:r>
                      <a:endParaRPr sz="1400" u="none" cap="none" strike="noStrike"/>
                    </a:p>
                  </a:txBody>
                  <a:tcPr marT="45700" marB="45700" marR="91450" marL="91450"/>
                </a:tc>
              </a:tr>
              <a:tr h="29987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r h="3172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bl>
          </a:graphicData>
        </a:graphic>
      </p:graphicFrame>
      <p:cxnSp>
        <p:nvCxnSpPr>
          <p:cNvPr id="181" name="Google Shape;181;p23"/>
          <p:cNvCxnSpPr/>
          <p:nvPr/>
        </p:nvCxnSpPr>
        <p:spPr>
          <a:xfrm rot="10800000">
            <a:off x="3781421" y="1329688"/>
            <a:ext cx="1073400" cy="14100"/>
          </a:xfrm>
          <a:prstGeom prst="straightConnector1">
            <a:avLst/>
          </a:prstGeom>
          <a:noFill/>
          <a:ln cap="flat" cmpd="sng" w="25400">
            <a:solidFill>
              <a:srgbClr val="000000"/>
            </a:solidFill>
            <a:prstDash val="solid"/>
            <a:round/>
            <a:headEnd len="sm" w="sm" type="triangle"/>
            <a:tailEnd len="med" w="med" type="triangle"/>
          </a:ln>
          <a:effectLst>
            <a:outerShdw blurRad="40000" rotWithShape="0" dir="5400000" dist="20000">
              <a:srgbClr val="000000">
                <a:alpha val="36860"/>
              </a:srgbClr>
            </a:outerShdw>
          </a:effectLst>
        </p:spPr>
      </p:cxnSp>
      <p:sp>
        <p:nvSpPr>
          <p:cNvPr id="182" name="Google Shape;182;p23"/>
          <p:cNvSpPr txBox="1"/>
          <p:nvPr/>
        </p:nvSpPr>
        <p:spPr>
          <a:xfrm>
            <a:off x="213900" y="32367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rgbClr val="FF0000"/>
                </a:solidFill>
              </a:rPr>
              <a:t>private Developer developer;</a:t>
            </a:r>
            <a:endParaRPr sz="1600">
              <a:solidFill>
                <a:schemeClr val="dk1"/>
              </a:solidFill>
            </a:endParaRPr>
          </a:p>
          <a:p>
            <a:pPr indent="0" lvl="0" marL="0" rtl="0" algn="l">
              <a:spcBef>
                <a:spcPts val="0"/>
              </a:spcBef>
              <a:spcAft>
                <a:spcPts val="0"/>
              </a:spcAft>
              <a:buNone/>
            </a:pPr>
            <a:r>
              <a:rPr lang="en" sz="1800">
                <a:solidFill>
                  <a:schemeClr val="dk1"/>
                </a:solidFill>
              </a:rPr>
              <a:t>}</a:t>
            </a:r>
            <a:endParaRPr>
              <a:solidFill>
                <a:schemeClr val="dk1"/>
              </a:solidFill>
            </a:endParaRPr>
          </a:p>
        </p:txBody>
      </p:sp>
      <p:sp>
        <p:nvSpPr>
          <p:cNvPr id="183" name="Google Shape;183;p23"/>
          <p:cNvSpPr txBox="1"/>
          <p:nvPr/>
        </p:nvSpPr>
        <p:spPr>
          <a:xfrm>
            <a:off x="4607000" y="32295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Developer</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lang="en" sz="1800">
                <a:solidFill>
                  <a:schemeClr val="dk1"/>
                </a:solidFill>
              </a:rPr>
              <a:t>	</a:t>
            </a:r>
            <a:r>
              <a:rPr lang="en" sz="1800">
                <a:solidFill>
                  <a:srgbClr val="FF0000"/>
                </a:solidFill>
              </a:rPr>
              <a:t>private Project project;</a:t>
            </a:r>
            <a:endParaRPr sz="1800">
              <a:solidFill>
                <a:schemeClr val="dk1"/>
              </a:solidFill>
            </a:endParaRPr>
          </a:p>
          <a:p>
            <a:pPr indent="0" lvl="0" marL="0" rtl="0" algn="l">
              <a:spcBef>
                <a:spcPts val="0"/>
              </a:spcBef>
              <a:spcAft>
                <a:spcPts val="0"/>
              </a:spcAft>
              <a:buNone/>
            </a:pPr>
            <a:r>
              <a:rPr lang="en" sz="1800">
                <a:solidFill>
                  <a:schemeClr val="dk1"/>
                </a:solidFill>
              </a:rPr>
              <a:t>}</a:t>
            </a:r>
            <a:endParaRPr>
              <a:solidFill>
                <a:schemeClr val="dk1"/>
              </a:solidFill>
            </a:endParaRPr>
          </a:p>
        </p:txBody>
      </p:sp>
      <p:sp>
        <p:nvSpPr>
          <p:cNvPr id="184" name="Google Shape;184;p23"/>
          <p:cNvSpPr/>
          <p:nvPr/>
        </p:nvSpPr>
        <p:spPr>
          <a:xfrm rot="5400000">
            <a:off x="3861473" y="2297134"/>
            <a:ext cx="1096800" cy="389700"/>
          </a:xfrm>
          <a:prstGeom prst="rightArrow">
            <a:avLst>
              <a:gd fmla="val 50000" name="adj1"/>
              <a:gd fmla="val 50000" name="adj2"/>
            </a:avLst>
          </a:prstGeom>
          <a:solidFill>
            <a:srgbClr val="FF0000"/>
          </a:solidFill>
          <a:ln>
            <a:noFill/>
          </a:ln>
          <a:effectLst>
            <a:outerShdw blurRad="40000" rotWithShape="0" dir="5400000" dist="23000">
              <a:srgbClr val="000000">
                <a:alpha val="3412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85" name="Google Shape;185;p23"/>
          <p:cNvSpPr/>
          <p:nvPr/>
        </p:nvSpPr>
        <p:spPr>
          <a:xfrm>
            <a:off x="3186937" y="2199626"/>
            <a:ext cx="10281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Mapping </a:t>
            </a:r>
            <a:endParaRPr b="0" i="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en java</a:t>
            </a:r>
            <a:endParaRPr b="0" i="0" u="none" cap="none" strike="noStrike">
              <a:solidFill>
                <a:srgbClr val="000000"/>
              </a:solidFill>
              <a:latin typeface="Arial"/>
              <a:ea typeface="Arial"/>
              <a:cs typeface="Arial"/>
              <a:sym typeface="Arial"/>
            </a:endParaRPr>
          </a:p>
        </p:txBody>
      </p:sp>
      <p:sp>
        <p:nvSpPr>
          <p:cNvPr id="186" name="Google Shape;186;p23"/>
          <p:cNvSpPr txBox="1"/>
          <p:nvPr/>
        </p:nvSpPr>
        <p:spPr>
          <a:xfrm>
            <a:off x="3784114" y="1396167"/>
            <a:ext cx="299400" cy="31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
              <a:t>1</a:t>
            </a:r>
            <a:endParaRPr b="0" i="0" sz="1400" u="none" cap="none" strike="noStrike">
              <a:solidFill>
                <a:srgbClr val="000000"/>
              </a:solidFill>
              <a:latin typeface="Arial"/>
              <a:ea typeface="Arial"/>
              <a:cs typeface="Arial"/>
              <a:sym typeface="Arial"/>
            </a:endParaRPr>
          </a:p>
        </p:txBody>
      </p:sp>
      <p:sp>
        <p:nvSpPr>
          <p:cNvPr id="187" name="Google Shape;187;p23"/>
          <p:cNvSpPr txBox="1"/>
          <p:nvPr/>
        </p:nvSpPr>
        <p:spPr>
          <a:xfrm>
            <a:off x="4606989" y="1396167"/>
            <a:ext cx="299400" cy="31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
              <a:t>1</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D:\esprit 2014\ESPRIT 2014\charte essprit 2014\render\support final\triangle.png" id="192" name="Google Shape;192;p24"/>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93" name="Google Shape;193;p24"/>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194" name="Google Shape;1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195" name="Google Shape;195;p24"/>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Association one-to-many bidirectionnelle</a:t>
            </a:r>
            <a:endParaRPr b="1">
              <a:solidFill>
                <a:srgbClr val="E20B0B"/>
              </a:solidFill>
            </a:endParaRPr>
          </a:p>
        </p:txBody>
      </p:sp>
      <p:graphicFrame>
        <p:nvGraphicFramePr>
          <p:cNvPr id="196" name="Google Shape;196;p24"/>
          <p:cNvGraphicFramePr/>
          <p:nvPr/>
        </p:nvGraphicFramePr>
        <p:xfrm>
          <a:off x="2517617" y="881799"/>
          <a:ext cx="3000000" cy="3000000"/>
        </p:xfrm>
        <a:graphic>
          <a:graphicData uri="http://schemas.openxmlformats.org/drawingml/2006/table">
            <a:tbl>
              <a:tblPr bandRow="1" firstRow="1">
                <a:noFill/>
                <a:tableStyleId>{ECD15C0B-5C9D-4ECD-BFD3-1CDC92890789}</a:tableStyleId>
              </a:tblPr>
              <a:tblGrid>
                <a:gridCol w="1266500"/>
              </a:tblGrid>
              <a:tr h="308000">
                <a:tc>
                  <a:txBody>
                    <a:bodyPr/>
                    <a:lstStyle/>
                    <a:p>
                      <a:pPr indent="0" lvl="0" marL="0" marR="0" rtl="0" algn="ctr">
                        <a:lnSpc>
                          <a:spcPct val="100000"/>
                        </a:lnSpc>
                        <a:spcBef>
                          <a:spcPts val="0"/>
                        </a:spcBef>
                        <a:spcAft>
                          <a:spcPts val="0"/>
                        </a:spcAft>
                        <a:buClr>
                          <a:srgbClr val="000000"/>
                        </a:buClr>
                        <a:buSzPts val="1100"/>
                        <a:buFont typeface="Arial"/>
                        <a:buNone/>
                      </a:pPr>
                      <a:r>
                        <a:rPr lang="en" sz="1100"/>
                        <a:t>Developer</a:t>
                      </a:r>
                      <a:endParaRPr sz="1100" u="none" cap="none" strike="noStrike"/>
                    </a:p>
                  </a:txBody>
                  <a:tcPr marT="45700" marB="45700" marR="91450" marL="91450"/>
                </a:tc>
              </a:tr>
              <a:tr h="308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r h="308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bl>
          </a:graphicData>
        </a:graphic>
      </p:graphicFrame>
      <p:graphicFrame>
        <p:nvGraphicFramePr>
          <p:cNvPr id="197" name="Google Shape;197;p24"/>
          <p:cNvGraphicFramePr/>
          <p:nvPr/>
        </p:nvGraphicFramePr>
        <p:xfrm>
          <a:off x="4854779" y="837511"/>
          <a:ext cx="3000000" cy="3000000"/>
        </p:xfrm>
        <a:graphic>
          <a:graphicData uri="http://schemas.openxmlformats.org/drawingml/2006/table">
            <a:tbl>
              <a:tblPr bandRow="1" firstRow="1">
                <a:noFill/>
                <a:tableStyleId>{ECD15C0B-5C9D-4ECD-BFD3-1CDC92890789}</a:tableStyleId>
              </a:tblPr>
              <a:tblGrid>
                <a:gridCol w="1395200"/>
              </a:tblGrid>
              <a:tr h="299875">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Project</a:t>
                      </a:r>
                      <a:endParaRPr sz="1400" u="none" cap="none" strike="noStrike"/>
                    </a:p>
                  </a:txBody>
                  <a:tcPr marT="45700" marB="45700" marR="91450" marL="91450"/>
                </a:tc>
              </a:tr>
              <a:tr h="29987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r h="3172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45700" marB="45700" marR="91450" marL="91450"/>
                </a:tc>
              </a:tr>
            </a:tbl>
          </a:graphicData>
        </a:graphic>
      </p:graphicFrame>
      <p:cxnSp>
        <p:nvCxnSpPr>
          <p:cNvPr id="198" name="Google Shape;198;p24"/>
          <p:cNvCxnSpPr/>
          <p:nvPr/>
        </p:nvCxnSpPr>
        <p:spPr>
          <a:xfrm rot="10800000">
            <a:off x="3781421" y="1329688"/>
            <a:ext cx="1073400" cy="14100"/>
          </a:xfrm>
          <a:prstGeom prst="straightConnector1">
            <a:avLst/>
          </a:prstGeom>
          <a:noFill/>
          <a:ln cap="flat" cmpd="sng" w="25400">
            <a:solidFill>
              <a:srgbClr val="000000"/>
            </a:solidFill>
            <a:prstDash val="solid"/>
            <a:round/>
            <a:headEnd len="sm" w="sm" type="triangle"/>
            <a:tailEnd len="med" w="med" type="triangle"/>
          </a:ln>
          <a:effectLst>
            <a:outerShdw blurRad="40000" rotWithShape="0" dir="5400000" dist="20000">
              <a:srgbClr val="000000">
                <a:alpha val="36860"/>
              </a:srgbClr>
            </a:outerShdw>
          </a:effectLst>
        </p:spPr>
      </p:cxnSp>
      <p:sp>
        <p:nvSpPr>
          <p:cNvPr id="199" name="Google Shape;199;p24"/>
          <p:cNvSpPr txBox="1"/>
          <p:nvPr/>
        </p:nvSpPr>
        <p:spPr>
          <a:xfrm>
            <a:off x="213900" y="32367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rgbClr val="FF0000"/>
                </a:solidFill>
              </a:rPr>
              <a:t>private Developer[] developers;</a:t>
            </a:r>
            <a:endParaRPr sz="1600">
              <a:solidFill>
                <a:schemeClr val="dk1"/>
              </a:solidFill>
            </a:endParaRPr>
          </a:p>
          <a:p>
            <a:pPr indent="0" lvl="0" marL="0" rtl="0" algn="l">
              <a:spcBef>
                <a:spcPts val="0"/>
              </a:spcBef>
              <a:spcAft>
                <a:spcPts val="0"/>
              </a:spcAft>
              <a:buNone/>
            </a:pPr>
            <a:r>
              <a:rPr lang="en" sz="1800">
                <a:solidFill>
                  <a:schemeClr val="dk1"/>
                </a:solidFill>
              </a:rPr>
              <a:t>}</a:t>
            </a:r>
            <a:endParaRPr>
              <a:solidFill>
                <a:schemeClr val="dk1"/>
              </a:solidFill>
            </a:endParaRPr>
          </a:p>
        </p:txBody>
      </p:sp>
      <p:sp>
        <p:nvSpPr>
          <p:cNvPr id="200" name="Google Shape;200;p24"/>
          <p:cNvSpPr txBox="1"/>
          <p:nvPr/>
        </p:nvSpPr>
        <p:spPr>
          <a:xfrm>
            <a:off x="4607000" y="32295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Developer</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rgbClr val="FF0000"/>
                </a:solidFill>
              </a:rPr>
              <a:t>private Project project;</a:t>
            </a:r>
            <a:endParaRPr sz="1800">
              <a:solidFill>
                <a:schemeClr val="dk1"/>
              </a:solidFill>
            </a:endParaRPr>
          </a:p>
          <a:p>
            <a:pPr indent="0" lvl="0" marL="0" rtl="0" algn="l">
              <a:spcBef>
                <a:spcPts val="0"/>
              </a:spcBef>
              <a:spcAft>
                <a:spcPts val="0"/>
              </a:spcAft>
              <a:buNone/>
            </a:pPr>
            <a:r>
              <a:rPr lang="en" sz="1800">
                <a:solidFill>
                  <a:schemeClr val="dk1"/>
                </a:solidFill>
              </a:rPr>
              <a:t>}</a:t>
            </a:r>
            <a:endParaRPr>
              <a:solidFill>
                <a:schemeClr val="dk1"/>
              </a:solidFill>
            </a:endParaRPr>
          </a:p>
        </p:txBody>
      </p:sp>
      <p:sp>
        <p:nvSpPr>
          <p:cNvPr id="201" name="Google Shape;201;p24"/>
          <p:cNvSpPr/>
          <p:nvPr/>
        </p:nvSpPr>
        <p:spPr>
          <a:xfrm rot="5400000">
            <a:off x="3861473" y="2297134"/>
            <a:ext cx="1096800" cy="389700"/>
          </a:xfrm>
          <a:prstGeom prst="rightArrow">
            <a:avLst>
              <a:gd fmla="val 50000" name="adj1"/>
              <a:gd fmla="val 50000" name="adj2"/>
            </a:avLst>
          </a:prstGeom>
          <a:solidFill>
            <a:srgbClr val="FF0000"/>
          </a:solidFill>
          <a:ln>
            <a:noFill/>
          </a:ln>
          <a:effectLst>
            <a:outerShdw blurRad="40000" rotWithShape="0" dir="5400000" dist="23000">
              <a:srgbClr val="000000">
                <a:alpha val="3412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02" name="Google Shape;202;p24"/>
          <p:cNvSpPr/>
          <p:nvPr/>
        </p:nvSpPr>
        <p:spPr>
          <a:xfrm>
            <a:off x="3186937" y="2199626"/>
            <a:ext cx="10281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Mapping </a:t>
            </a:r>
            <a:endParaRPr b="0" i="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en java</a:t>
            </a:r>
            <a:endParaRPr b="0" i="0" u="none" cap="none" strike="noStrike">
              <a:solidFill>
                <a:srgbClr val="000000"/>
              </a:solidFill>
              <a:latin typeface="Arial"/>
              <a:ea typeface="Arial"/>
              <a:cs typeface="Arial"/>
              <a:sym typeface="Arial"/>
            </a:endParaRPr>
          </a:p>
        </p:txBody>
      </p:sp>
      <p:sp>
        <p:nvSpPr>
          <p:cNvPr id="203" name="Google Shape;203;p24"/>
          <p:cNvSpPr txBox="1"/>
          <p:nvPr/>
        </p:nvSpPr>
        <p:spPr>
          <a:xfrm>
            <a:off x="3784114" y="1396167"/>
            <a:ext cx="299400" cy="31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
              <a:t>*</a:t>
            </a:r>
            <a:endParaRPr b="0" i="0" sz="1400" u="none" cap="none" strike="noStrike">
              <a:solidFill>
                <a:srgbClr val="000000"/>
              </a:solidFill>
              <a:latin typeface="Arial"/>
              <a:ea typeface="Arial"/>
              <a:cs typeface="Arial"/>
              <a:sym typeface="Arial"/>
            </a:endParaRPr>
          </a:p>
        </p:txBody>
      </p:sp>
      <p:sp>
        <p:nvSpPr>
          <p:cNvPr id="204" name="Google Shape;204;p24"/>
          <p:cNvSpPr txBox="1"/>
          <p:nvPr/>
        </p:nvSpPr>
        <p:spPr>
          <a:xfrm>
            <a:off x="4606989" y="1396167"/>
            <a:ext cx="299400" cy="31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
              <a:t>1</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descr="D:\esprit 2014\ESPRIT 2014\charte essprit 2014\render\support final\triangle.png" id="209" name="Google Shape;209;p25"/>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10" name="Google Shape;210;p25"/>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211" name="Google Shape;21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212" name="Google Shape;212;p25"/>
          <p:cNvSpPr txBox="1"/>
          <p:nvPr/>
        </p:nvSpPr>
        <p:spPr>
          <a:xfrm>
            <a:off x="380700" y="815125"/>
            <a:ext cx="77976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rPr>
              <a:t>Le mot clé </a:t>
            </a:r>
            <a:r>
              <a:rPr b="1" lang="en" sz="2400">
                <a:solidFill>
                  <a:schemeClr val="dk1"/>
                </a:solidFill>
              </a:rPr>
              <a:t>static </a:t>
            </a:r>
            <a:r>
              <a:rPr lang="en" sz="2400">
                <a:solidFill>
                  <a:schemeClr val="dk1"/>
                </a:solidFill>
              </a:rPr>
              <a:t>est un modificateur de comportement, qui peut être appliqué sur un</a:t>
            </a:r>
            <a:r>
              <a:rPr lang="en" sz="2400">
                <a:solidFill>
                  <a:schemeClr val="dk1"/>
                </a:solidFill>
              </a:rPr>
              <a:t>e</a:t>
            </a:r>
            <a:r>
              <a:rPr lang="en" sz="2400">
                <a:solidFill>
                  <a:schemeClr val="dk1"/>
                </a:solidFill>
              </a:rPr>
              <a:t> </a:t>
            </a:r>
            <a:r>
              <a:rPr b="1" lang="en" sz="2400">
                <a:solidFill>
                  <a:srgbClr val="E20B0B"/>
                </a:solidFill>
              </a:rPr>
              <a:t>variable </a:t>
            </a:r>
            <a:r>
              <a:rPr lang="en" sz="2400">
                <a:solidFill>
                  <a:schemeClr val="dk1"/>
                </a:solidFill>
              </a:rPr>
              <a:t>ou bien une </a:t>
            </a:r>
            <a:r>
              <a:rPr b="1" lang="en" sz="2400">
                <a:solidFill>
                  <a:srgbClr val="E20B0B"/>
                </a:solidFill>
              </a:rPr>
              <a:t>méthode</a:t>
            </a:r>
            <a:r>
              <a:rPr b="1" lang="en" sz="2400">
                <a:solidFill>
                  <a:schemeClr val="dk1"/>
                </a:solidFill>
              </a:rPr>
              <a:t>.</a:t>
            </a:r>
            <a:r>
              <a:rPr b="1" lang="en" sz="2400">
                <a:solidFill>
                  <a:schemeClr val="dk1"/>
                </a:solidFill>
              </a:rPr>
              <a:t> </a:t>
            </a:r>
            <a:endParaRPr b="1"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 sz="2400">
                <a:solidFill>
                  <a:schemeClr val="dk1"/>
                </a:solidFill>
              </a:rPr>
              <a:t>Un attribut</a:t>
            </a:r>
            <a:r>
              <a:rPr lang="en" sz="2400">
                <a:solidFill>
                  <a:schemeClr val="dk1"/>
                </a:solidFill>
              </a:rPr>
              <a:t>/variable </a:t>
            </a:r>
            <a:r>
              <a:rPr lang="en" sz="2400">
                <a:solidFill>
                  <a:schemeClr val="dk1"/>
                </a:solidFill>
              </a:rPr>
              <a:t>ou une méthode statique est dit </a:t>
            </a:r>
            <a:r>
              <a:rPr b="1" lang="en" sz="2400">
                <a:solidFill>
                  <a:schemeClr val="dk1"/>
                </a:solidFill>
              </a:rPr>
              <a:t>attribut de classe</a:t>
            </a:r>
            <a:r>
              <a:rPr lang="en" sz="2400">
                <a:solidFill>
                  <a:schemeClr val="dk1"/>
                </a:solidFill>
              </a:rPr>
              <a:t> ou </a:t>
            </a:r>
            <a:r>
              <a:rPr b="1" lang="en" sz="2400">
                <a:solidFill>
                  <a:schemeClr val="dk1"/>
                </a:solidFill>
              </a:rPr>
              <a:t>méthode de classe</a:t>
            </a:r>
            <a:r>
              <a:rPr lang="en" sz="2400">
                <a:solidFill>
                  <a:schemeClr val="dk1"/>
                </a:solidFill>
              </a:rPr>
              <a:t>.</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 sz="2400">
                <a:solidFill>
                  <a:schemeClr val="dk1"/>
                </a:solidFill>
              </a:rPr>
              <a:t>Une variable statique ou une méthode statique est partagée par toutes les instances de la classe.</a:t>
            </a:r>
            <a:endParaRPr sz="2400">
              <a:solidFill>
                <a:schemeClr val="dk1"/>
              </a:solidFill>
            </a:endParaRPr>
          </a:p>
        </p:txBody>
      </p:sp>
      <p:sp>
        <p:nvSpPr>
          <p:cNvPr id="213" name="Google Shape;213;p25"/>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 mot clé Static</a:t>
            </a:r>
            <a:endParaRPr b="1">
              <a:solidFill>
                <a:srgbClr val="E20B0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D:\esprit 2014\ESPRIT 2014\charte essprit 2014\render\support final\triangle.png" id="218" name="Google Shape;218;p26"/>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19" name="Google Shape;219;p26"/>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220" name="Google Shape;22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221" name="Google Shape;221;p26"/>
          <p:cNvSpPr txBox="1"/>
          <p:nvPr/>
        </p:nvSpPr>
        <p:spPr>
          <a:xfrm>
            <a:off x="380700" y="815125"/>
            <a:ext cx="779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chemeClr val="dk1"/>
              </a:solidFill>
            </a:endParaRPr>
          </a:p>
        </p:txBody>
      </p:sp>
      <p:sp>
        <p:nvSpPr>
          <p:cNvPr id="222" name="Google Shape;222;p26"/>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 mot clé Static (exemples)</a:t>
            </a:r>
            <a:endParaRPr b="1">
              <a:solidFill>
                <a:srgbClr val="E20B0B"/>
              </a:solidFill>
            </a:endParaRPr>
          </a:p>
        </p:txBody>
      </p:sp>
      <p:sp>
        <p:nvSpPr>
          <p:cNvPr id="223" name="Google Shape;223;p26"/>
          <p:cNvSpPr txBox="1"/>
          <p:nvPr/>
        </p:nvSpPr>
        <p:spPr>
          <a:xfrm>
            <a:off x="438600" y="705550"/>
            <a:ext cx="4133400" cy="29553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	String name;</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rgbClr val="E20B0B"/>
                </a:solidFill>
              </a:rPr>
              <a:t>static </a:t>
            </a:r>
            <a:r>
              <a:rPr lang="en" sz="1800">
                <a:solidFill>
                  <a:schemeClr val="dk1"/>
                </a:solidFill>
              </a:rPr>
              <a:t>int numberOfTasks;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Project(String name){</a:t>
            </a:r>
            <a:endParaRPr sz="1800">
              <a:solidFill>
                <a:schemeClr val="dk1"/>
              </a:solidFill>
            </a:endParaRPr>
          </a:p>
          <a:p>
            <a:pPr indent="0" lvl="0" marL="0" rtl="0" algn="l">
              <a:spcBef>
                <a:spcPts val="0"/>
              </a:spcBef>
              <a:spcAft>
                <a:spcPts val="0"/>
              </a:spcAft>
              <a:buNone/>
            </a:pPr>
            <a:r>
              <a:rPr lang="en" sz="1800">
                <a:solidFill>
                  <a:schemeClr val="dk1"/>
                </a:solidFill>
              </a:rPr>
              <a:t>		This.name = name;</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chemeClr val="dk1"/>
                </a:solidFill>
              </a:rPr>
              <a:t>numberOfTasks++;</a:t>
            </a:r>
            <a:endParaRPr sz="1800">
              <a:solidFill>
                <a:schemeClr val="dk1"/>
              </a:solidFill>
            </a:endParaRPr>
          </a:p>
          <a:p>
            <a:pPr indent="0" lvl="0" marL="0" rtl="0" algn="l">
              <a:spcBef>
                <a:spcPts val="0"/>
              </a:spcBef>
              <a:spcAft>
                <a:spcPts val="0"/>
              </a:spcAft>
              <a:buNone/>
            </a:pPr>
            <a:r>
              <a:rPr lang="en" sz="1800">
                <a:solidFill>
                  <a:schemeClr val="dk1"/>
                </a:solidFill>
              </a:rPr>
              <a:t>	}</a:t>
            </a:r>
            <a:endParaRPr sz="18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224" name="Google Shape;224;p26"/>
          <p:cNvSpPr txBox="1"/>
          <p:nvPr/>
        </p:nvSpPr>
        <p:spPr>
          <a:xfrm>
            <a:off x="4685500" y="705550"/>
            <a:ext cx="4133400" cy="27399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Test</a:t>
            </a: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600">
                <a:solidFill>
                  <a:schemeClr val="dk1"/>
                </a:solidFill>
              </a:rPr>
              <a:t>public static void main(String[] args){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     Project p1 = new Project(“Project 1”);</a:t>
            </a:r>
            <a:endParaRPr sz="1600">
              <a:solidFill>
                <a:schemeClr val="dk1"/>
              </a:solidFill>
            </a:endParaRPr>
          </a:p>
          <a:p>
            <a:pPr indent="0" lvl="0" marL="0" rtl="0" algn="l">
              <a:spcBef>
                <a:spcPts val="0"/>
              </a:spcBef>
              <a:spcAft>
                <a:spcPts val="0"/>
              </a:spcAft>
              <a:buNone/>
            </a:pPr>
            <a:r>
              <a:rPr lang="en" sz="1600">
                <a:solidFill>
                  <a:schemeClr val="dk1"/>
                </a:solidFill>
              </a:rPr>
              <a:t>     Project p2 = new Project(“Project 2”);</a:t>
            </a:r>
            <a:endParaRPr sz="1600">
              <a:solidFill>
                <a:schemeClr val="dk1"/>
              </a:solidFill>
            </a:endParaRPr>
          </a:p>
          <a:p>
            <a:pPr indent="45720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     System.out.println(p1.numberOfTasks);</a:t>
            </a:r>
            <a:endParaRPr sz="1600">
              <a:solidFill>
                <a:schemeClr val="dk1"/>
              </a:solidFill>
            </a:endParaRPr>
          </a:p>
          <a:p>
            <a:pPr indent="0" lvl="0" marL="0" rtl="0" algn="l">
              <a:spcBef>
                <a:spcPts val="0"/>
              </a:spcBef>
              <a:spcAft>
                <a:spcPts val="0"/>
              </a:spcAft>
              <a:buClr>
                <a:schemeClr val="dk1"/>
              </a:buClr>
              <a:buSzPts val="1600"/>
              <a:buFont typeface="Arial"/>
              <a:buNone/>
            </a:pPr>
            <a:r>
              <a:rPr lang="en" sz="1600">
                <a:solidFill>
                  <a:schemeClr val="dk1"/>
                </a:solidFill>
              </a:rPr>
              <a:t>     System.out.println(p2.numberOfTasks);</a:t>
            </a:r>
            <a:endParaRPr sz="1600">
              <a:solidFill>
                <a:schemeClr val="dk1"/>
              </a:solidFill>
            </a:endParaRPr>
          </a:p>
          <a:p>
            <a:pPr indent="0" lvl="0" marL="0" rtl="0" algn="l">
              <a:spcBef>
                <a:spcPts val="0"/>
              </a:spcBef>
              <a:spcAft>
                <a:spcPts val="0"/>
              </a:spcAft>
              <a:buNone/>
            </a:pPr>
            <a:r>
              <a:rPr lang="en" sz="1600">
                <a:solidFill>
                  <a:schemeClr val="dk1"/>
                </a:solidFill>
              </a:rPr>
              <a:t>  }</a:t>
            </a:r>
            <a:endParaRPr sz="16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225" name="Google Shape;225;p26"/>
          <p:cNvSpPr/>
          <p:nvPr/>
        </p:nvSpPr>
        <p:spPr>
          <a:xfrm>
            <a:off x="6915392" y="3584996"/>
            <a:ext cx="1903500" cy="8310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rPr>
              <a:t>Console : </a:t>
            </a:r>
            <a:endParaRPr i="0" sz="1600" u="none" cap="none" strike="noStrike">
              <a:solidFill>
                <a:srgbClr val="000000"/>
              </a:solidFill>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rPr>
              <a:t>2</a:t>
            </a:r>
            <a:endParaRPr i="0" sz="1600" u="none" cap="none" strike="noStrike">
              <a:solidFill>
                <a:srgbClr val="000000"/>
              </a:solidFill>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rPr>
              <a:t>2</a:t>
            </a:r>
            <a:endParaRPr b="1" i="0" sz="1600" u="none" cap="none" strike="noStrike">
              <a:solidFill>
                <a:srgbClr val="000000"/>
              </a:solidFill>
            </a:endParaRPr>
          </a:p>
        </p:txBody>
      </p:sp>
      <p:grpSp>
        <p:nvGrpSpPr>
          <p:cNvPr id="226" name="Google Shape;226;p26"/>
          <p:cNvGrpSpPr/>
          <p:nvPr/>
        </p:nvGrpSpPr>
        <p:grpSpPr>
          <a:xfrm>
            <a:off x="600550" y="3939150"/>
            <a:ext cx="2485500" cy="721800"/>
            <a:chOff x="600550" y="3939150"/>
            <a:chExt cx="2485500" cy="721800"/>
          </a:xfrm>
        </p:grpSpPr>
        <p:sp>
          <p:nvSpPr>
            <p:cNvPr id="227" name="Google Shape;227;p26"/>
            <p:cNvSpPr/>
            <p:nvPr/>
          </p:nvSpPr>
          <p:spPr>
            <a:xfrm>
              <a:off x="1057450" y="3939150"/>
              <a:ext cx="2028600" cy="7218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lang="en" sz="1600"/>
                <a:t>name: Project 1</a:t>
              </a:r>
              <a:endParaRPr b="1" sz="1600"/>
            </a:p>
            <a:p>
              <a:pPr indent="0" lvl="0" marL="0" marR="0" rtl="0" algn="l">
                <a:lnSpc>
                  <a:spcPct val="100000"/>
                </a:lnSpc>
                <a:spcBef>
                  <a:spcPts val="0"/>
                </a:spcBef>
                <a:spcAft>
                  <a:spcPts val="0"/>
                </a:spcAft>
                <a:buClr>
                  <a:srgbClr val="000000"/>
                </a:buClr>
                <a:buSzPts val="1600"/>
                <a:buFont typeface="Arial"/>
                <a:buNone/>
              </a:pPr>
              <a:r>
                <a:rPr b="1" lang="en" sz="1600"/>
                <a:t>numberOfTasks: 1</a:t>
              </a:r>
              <a:endParaRPr b="1" sz="1600"/>
            </a:p>
          </p:txBody>
        </p:sp>
        <p:sp>
          <p:nvSpPr>
            <p:cNvPr id="228" name="Google Shape;228;p26"/>
            <p:cNvSpPr txBox="1"/>
            <p:nvPr/>
          </p:nvSpPr>
          <p:spPr>
            <a:xfrm>
              <a:off x="600550" y="4025500"/>
              <a:ext cx="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rPr>
                <a:t>P1</a:t>
              </a:r>
              <a:endParaRPr/>
            </a:p>
          </p:txBody>
        </p:sp>
      </p:grpSp>
      <p:grpSp>
        <p:nvGrpSpPr>
          <p:cNvPr id="229" name="Google Shape;229;p26"/>
          <p:cNvGrpSpPr/>
          <p:nvPr/>
        </p:nvGrpSpPr>
        <p:grpSpPr>
          <a:xfrm>
            <a:off x="3358525" y="3939150"/>
            <a:ext cx="2485500" cy="721800"/>
            <a:chOff x="3358525" y="3939150"/>
            <a:chExt cx="2485500" cy="721800"/>
          </a:xfrm>
        </p:grpSpPr>
        <p:sp>
          <p:nvSpPr>
            <p:cNvPr id="230" name="Google Shape;230;p26"/>
            <p:cNvSpPr/>
            <p:nvPr/>
          </p:nvSpPr>
          <p:spPr>
            <a:xfrm>
              <a:off x="3815425" y="3939150"/>
              <a:ext cx="2028600" cy="7218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lang="en" sz="1600"/>
                <a:t>name: Project 2</a:t>
              </a:r>
              <a:endParaRPr b="1" sz="1600"/>
            </a:p>
            <a:p>
              <a:pPr indent="0" lvl="0" marL="0" marR="0" rtl="0" algn="l">
                <a:lnSpc>
                  <a:spcPct val="100000"/>
                </a:lnSpc>
                <a:spcBef>
                  <a:spcPts val="0"/>
                </a:spcBef>
                <a:spcAft>
                  <a:spcPts val="0"/>
                </a:spcAft>
                <a:buClr>
                  <a:srgbClr val="000000"/>
                </a:buClr>
                <a:buSzPts val="1600"/>
                <a:buFont typeface="Arial"/>
                <a:buNone/>
              </a:pPr>
              <a:r>
                <a:rPr b="1" lang="en" sz="1600"/>
                <a:t>numberOfTasks: 2</a:t>
              </a:r>
              <a:endParaRPr b="1" sz="1600"/>
            </a:p>
          </p:txBody>
        </p:sp>
        <p:sp>
          <p:nvSpPr>
            <p:cNvPr id="231" name="Google Shape;231;p26"/>
            <p:cNvSpPr txBox="1"/>
            <p:nvPr/>
          </p:nvSpPr>
          <p:spPr>
            <a:xfrm>
              <a:off x="3358525" y="4025500"/>
              <a:ext cx="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rPr>
                <a:t>P2</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D:\esprit 2014\ESPRIT 2014\charte essprit 2014\render\support final\triangle.png" id="236" name="Google Shape;236;p27"/>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37" name="Google Shape;237;p27"/>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238" name="Google Shape;23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239" name="Google Shape;239;p27"/>
          <p:cNvSpPr txBox="1"/>
          <p:nvPr/>
        </p:nvSpPr>
        <p:spPr>
          <a:xfrm>
            <a:off x="380700" y="3939325"/>
            <a:ext cx="779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chemeClr val="dk1"/>
              </a:solidFill>
            </a:endParaRPr>
          </a:p>
        </p:txBody>
      </p:sp>
      <p:sp>
        <p:nvSpPr>
          <p:cNvPr id="240" name="Google Shape;240;p27"/>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 mot clé Static (exemple)</a:t>
            </a:r>
            <a:endParaRPr b="1">
              <a:solidFill>
                <a:srgbClr val="E20B0B"/>
              </a:solidFill>
            </a:endParaRPr>
          </a:p>
        </p:txBody>
      </p:sp>
      <p:sp>
        <p:nvSpPr>
          <p:cNvPr id="241" name="Google Shape;241;p27"/>
          <p:cNvSpPr txBox="1"/>
          <p:nvPr/>
        </p:nvSpPr>
        <p:spPr>
          <a:xfrm>
            <a:off x="406250" y="1117650"/>
            <a:ext cx="4133400" cy="24012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	String name;</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rgbClr val="E20B0B"/>
                </a:solidFill>
              </a:rPr>
              <a:t>static </a:t>
            </a:r>
            <a:r>
              <a:rPr lang="en" sz="1800">
                <a:solidFill>
                  <a:schemeClr val="dk1"/>
                </a:solidFill>
              </a:rPr>
              <a:t>int numberOfTasks;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public </a:t>
            </a:r>
            <a:r>
              <a:rPr b="1" lang="en" sz="1800">
                <a:solidFill>
                  <a:srgbClr val="FF0000"/>
                </a:solidFill>
              </a:rPr>
              <a:t>static</a:t>
            </a:r>
            <a:r>
              <a:rPr lang="en" sz="1800">
                <a:solidFill>
                  <a:srgbClr val="FF0000"/>
                </a:solidFill>
              </a:rPr>
              <a:t> </a:t>
            </a:r>
            <a:r>
              <a:rPr lang="en" sz="1800">
                <a:solidFill>
                  <a:schemeClr val="dk1"/>
                </a:solidFill>
              </a:rPr>
              <a:t>void addTask(){</a:t>
            </a:r>
            <a:endParaRPr sz="1800">
              <a:solidFill>
                <a:schemeClr val="dk1"/>
              </a:solidFill>
            </a:endParaRPr>
          </a:p>
          <a:p>
            <a:pPr indent="457200" lvl="0" marL="457200" rtl="0" algn="l">
              <a:spcBef>
                <a:spcPts val="0"/>
              </a:spcBef>
              <a:spcAft>
                <a:spcPts val="0"/>
              </a:spcAft>
              <a:buNone/>
            </a:pPr>
            <a:r>
              <a:rPr lang="en" sz="1800">
                <a:solidFill>
                  <a:schemeClr val="dk1"/>
                </a:solidFill>
              </a:rPr>
              <a:t>  numberOfTasks++;</a:t>
            </a:r>
            <a:endParaRPr sz="1800">
              <a:solidFill>
                <a:schemeClr val="dk1"/>
              </a:solidFill>
            </a:endParaRPr>
          </a:p>
          <a:p>
            <a:pPr indent="457200" lvl="0" marL="0" rtl="0" algn="l">
              <a:spcBef>
                <a:spcPts val="0"/>
              </a:spcBef>
              <a:spcAft>
                <a:spcPts val="0"/>
              </a:spcAft>
              <a:buNone/>
            </a:pP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242" name="Google Shape;242;p27"/>
          <p:cNvSpPr txBox="1"/>
          <p:nvPr/>
        </p:nvSpPr>
        <p:spPr>
          <a:xfrm>
            <a:off x="4685500" y="1010350"/>
            <a:ext cx="4133400" cy="27399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Test</a:t>
            </a: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600">
                <a:solidFill>
                  <a:schemeClr val="dk1"/>
                </a:solidFill>
              </a:rPr>
              <a:t>public static void main(String[] args){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     Project p1 = new Project(“Project 1”);</a:t>
            </a:r>
            <a:endParaRPr sz="1600">
              <a:solidFill>
                <a:schemeClr val="dk1"/>
              </a:solidFill>
            </a:endParaRPr>
          </a:p>
          <a:p>
            <a:pPr indent="0" lvl="0" marL="0" rtl="0" algn="l">
              <a:spcBef>
                <a:spcPts val="0"/>
              </a:spcBef>
              <a:spcAft>
                <a:spcPts val="0"/>
              </a:spcAft>
              <a:buNone/>
            </a:pPr>
            <a:r>
              <a:rPr lang="en" sz="1600">
                <a:solidFill>
                  <a:schemeClr val="dk1"/>
                </a:solidFill>
              </a:rPr>
              <a:t>     Project p2 = new Project(“Project 2”);</a:t>
            </a:r>
            <a:endParaRPr sz="1600">
              <a:solidFill>
                <a:schemeClr val="dk1"/>
              </a:solidFill>
            </a:endParaRPr>
          </a:p>
          <a:p>
            <a:pPr indent="45720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     p1.addTask();</a:t>
            </a:r>
            <a:endParaRPr sz="1600">
              <a:solidFill>
                <a:schemeClr val="dk1"/>
              </a:solidFill>
            </a:endParaRPr>
          </a:p>
          <a:p>
            <a:pPr indent="0" lvl="0" marL="0" rtl="0" algn="l">
              <a:spcBef>
                <a:spcPts val="0"/>
              </a:spcBef>
              <a:spcAft>
                <a:spcPts val="0"/>
              </a:spcAft>
              <a:buNone/>
            </a:pPr>
            <a:r>
              <a:rPr lang="en" sz="1600">
                <a:solidFill>
                  <a:schemeClr val="dk1"/>
                </a:solidFill>
              </a:rPr>
              <a:t>     System.out.println(p2.numberOfTasks);</a:t>
            </a:r>
            <a:endParaRPr sz="1600">
              <a:solidFill>
                <a:schemeClr val="dk1"/>
              </a:solidFill>
            </a:endParaRPr>
          </a:p>
          <a:p>
            <a:pPr indent="0" lvl="0" marL="0" rtl="0" algn="l">
              <a:spcBef>
                <a:spcPts val="0"/>
              </a:spcBef>
              <a:spcAft>
                <a:spcPts val="0"/>
              </a:spcAft>
              <a:buNone/>
            </a:pPr>
            <a:r>
              <a:rPr lang="en" sz="1600">
                <a:solidFill>
                  <a:schemeClr val="dk1"/>
                </a:solidFill>
              </a:rPr>
              <a:t>  }</a:t>
            </a:r>
            <a:endParaRPr sz="16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243" name="Google Shape;243;p27"/>
          <p:cNvSpPr/>
          <p:nvPr/>
        </p:nvSpPr>
        <p:spPr>
          <a:xfrm>
            <a:off x="6915400" y="4118399"/>
            <a:ext cx="1903500" cy="554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rPr>
              <a:t>Console : </a:t>
            </a:r>
            <a:endParaRPr i="0" sz="1600" u="none" cap="none" strike="noStrike">
              <a:solidFill>
                <a:srgbClr val="000000"/>
              </a:solidFill>
            </a:endParaRPr>
          </a:p>
          <a:p>
            <a:pPr indent="0" lvl="0" marL="0" marR="0" rtl="0" algn="l">
              <a:lnSpc>
                <a:spcPct val="100000"/>
              </a:lnSpc>
              <a:spcBef>
                <a:spcPts val="0"/>
              </a:spcBef>
              <a:spcAft>
                <a:spcPts val="0"/>
              </a:spcAft>
              <a:buClr>
                <a:srgbClr val="000000"/>
              </a:buClr>
              <a:buSzPts val="1600"/>
              <a:buFont typeface="Arial"/>
              <a:buNone/>
            </a:pPr>
            <a:r>
              <a:rPr b="1" lang="en" sz="1600"/>
              <a:t>1</a:t>
            </a:r>
            <a:endParaRPr b="1" i="0" sz="1600" u="none" cap="none" strike="noStrike">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descr="D:\esprit 2014\ESPRIT 2014\charte essprit 2014\render\support final\triangle.png" id="248" name="Google Shape;248;p28"/>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49" name="Google Shape;249;p28"/>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250" name="Google Shape;25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251" name="Google Shape;251;p28"/>
          <p:cNvSpPr txBox="1"/>
          <p:nvPr/>
        </p:nvSpPr>
        <p:spPr>
          <a:xfrm>
            <a:off x="380700" y="815125"/>
            <a:ext cx="38829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Le mot clé static permet d’utiliser une méthode</a:t>
            </a:r>
            <a:r>
              <a:rPr lang="en" sz="2200">
                <a:solidFill>
                  <a:schemeClr val="dk1"/>
                </a:solidFill>
              </a:rPr>
              <a:t>/ un attribut statique </a:t>
            </a:r>
            <a:r>
              <a:rPr lang="en" sz="2200">
                <a:solidFill>
                  <a:schemeClr val="dk1"/>
                </a:solidFill>
              </a:rPr>
              <a:t>sans avoir à instancier la classe qui la contient.</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lang="en" sz="2200">
                <a:solidFill>
                  <a:schemeClr val="dk1"/>
                </a:solidFill>
              </a:rPr>
              <a:t>⇒ L'appel à une méthode/ un attribut statique se fait alors en utilisant le nom de la classe, plutôt que le nom de l'objet.</a:t>
            </a:r>
            <a:endParaRPr sz="2200">
              <a:solidFill>
                <a:schemeClr val="dk1"/>
              </a:solidFill>
            </a:endParaRPr>
          </a:p>
        </p:txBody>
      </p:sp>
      <p:sp>
        <p:nvSpPr>
          <p:cNvPr id="252" name="Google Shape;252;p28"/>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 mot clé Static</a:t>
            </a:r>
            <a:endParaRPr b="1">
              <a:solidFill>
                <a:srgbClr val="E20B0B"/>
              </a:solidFill>
            </a:endParaRPr>
          </a:p>
        </p:txBody>
      </p:sp>
      <p:sp>
        <p:nvSpPr>
          <p:cNvPr id="253" name="Google Shape;253;p28"/>
          <p:cNvSpPr txBox="1"/>
          <p:nvPr/>
        </p:nvSpPr>
        <p:spPr>
          <a:xfrm>
            <a:off x="4489225" y="1133400"/>
            <a:ext cx="4133400" cy="2478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Test</a:t>
            </a: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600">
                <a:solidFill>
                  <a:schemeClr val="dk1"/>
                </a:solidFill>
              </a:rPr>
              <a:t>public static void main(String[] args){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    Project.</a:t>
            </a:r>
            <a:r>
              <a:rPr lang="en" sz="1600">
                <a:solidFill>
                  <a:schemeClr val="dk1"/>
                </a:solidFill>
              </a:rPr>
              <a:t>numberOfTasks = 4;</a:t>
            </a:r>
            <a:endParaRPr sz="1600">
              <a:solidFill>
                <a:schemeClr val="dk1"/>
              </a:solidFill>
            </a:endParaRPr>
          </a:p>
          <a:p>
            <a:pPr indent="0" lvl="0" marL="0" rtl="0" algn="l">
              <a:spcBef>
                <a:spcPts val="0"/>
              </a:spcBef>
              <a:spcAft>
                <a:spcPts val="0"/>
              </a:spcAft>
              <a:buNone/>
            </a:pPr>
            <a:r>
              <a:rPr lang="en" sz="1600">
                <a:solidFill>
                  <a:schemeClr val="dk1"/>
                </a:solidFill>
              </a:rPr>
              <a:t>    </a:t>
            </a:r>
            <a:endParaRPr sz="1600">
              <a:solidFill>
                <a:schemeClr val="dk1"/>
              </a:solidFill>
            </a:endParaRPr>
          </a:p>
          <a:p>
            <a:pPr indent="0" lvl="0" marL="0" rtl="0" algn="l">
              <a:spcBef>
                <a:spcPts val="0"/>
              </a:spcBef>
              <a:spcAft>
                <a:spcPts val="0"/>
              </a:spcAft>
              <a:buNone/>
            </a:pPr>
            <a:r>
              <a:rPr lang="en" sz="1600">
                <a:solidFill>
                  <a:schemeClr val="dk1"/>
                </a:solidFill>
              </a:rPr>
              <a:t>     Project.addTask();</a:t>
            </a:r>
            <a:endParaRPr sz="1600">
              <a:solidFill>
                <a:schemeClr val="dk1"/>
              </a:solidFill>
            </a:endParaRPr>
          </a:p>
          <a:p>
            <a:pPr indent="0" lvl="0" marL="0" rtl="0" algn="l">
              <a:spcBef>
                <a:spcPts val="0"/>
              </a:spcBef>
              <a:spcAft>
                <a:spcPts val="0"/>
              </a:spcAft>
              <a:buNone/>
            </a:pPr>
            <a:r>
              <a:rPr lang="en" sz="1500">
                <a:solidFill>
                  <a:schemeClr val="dk1"/>
                </a:solidFill>
              </a:rPr>
              <a:t>     System.out.println(Project.numberOfTasks);</a:t>
            </a:r>
            <a:endParaRPr sz="1500">
              <a:solidFill>
                <a:schemeClr val="dk1"/>
              </a:solidFill>
            </a:endParaRPr>
          </a:p>
          <a:p>
            <a:pPr indent="0" lvl="0" marL="0" rtl="0" algn="l">
              <a:spcBef>
                <a:spcPts val="0"/>
              </a:spcBef>
              <a:spcAft>
                <a:spcPts val="0"/>
              </a:spcAft>
              <a:buNone/>
            </a:pPr>
            <a:r>
              <a:rPr lang="en" sz="1600">
                <a:solidFill>
                  <a:schemeClr val="dk1"/>
                </a:solidFill>
              </a:rPr>
              <a:t>  }</a:t>
            </a:r>
            <a:endParaRPr sz="16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254" name="Google Shape;254;p28"/>
          <p:cNvSpPr/>
          <p:nvPr/>
        </p:nvSpPr>
        <p:spPr>
          <a:xfrm>
            <a:off x="6719125" y="3737399"/>
            <a:ext cx="1903500" cy="554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rPr>
              <a:t>Console : </a:t>
            </a:r>
            <a:endParaRPr i="0" sz="1600" u="none" cap="none" strike="noStrike">
              <a:solidFill>
                <a:srgbClr val="000000"/>
              </a:solidFill>
            </a:endParaRPr>
          </a:p>
          <a:p>
            <a:pPr indent="0" lvl="0" marL="0" marR="0" rtl="0" algn="l">
              <a:lnSpc>
                <a:spcPct val="100000"/>
              </a:lnSpc>
              <a:spcBef>
                <a:spcPts val="0"/>
              </a:spcBef>
              <a:spcAft>
                <a:spcPts val="0"/>
              </a:spcAft>
              <a:buClr>
                <a:srgbClr val="000000"/>
              </a:buClr>
              <a:buSzPts val="1600"/>
              <a:buFont typeface="Arial"/>
              <a:buNone/>
            </a:pPr>
            <a:r>
              <a:rPr b="1" lang="en" sz="1600"/>
              <a:t>5</a:t>
            </a:r>
            <a:endParaRPr b="1" i="0" sz="1600" u="none" cap="none" strike="noStrike">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descr="D:\esprit 2014\ESPRIT 2014\charte essprit 2014\render\support final\triangle.png" id="259" name="Google Shape;259;p29"/>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60" name="Google Shape;260;p29"/>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261" name="Google Shape;26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262" name="Google Shape;262;p29"/>
          <p:cNvSpPr txBox="1"/>
          <p:nvPr/>
        </p:nvSpPr>
        <p:spPr>
          <a:xfrm>
            <a:off x="380700" y="815125"/>
            <a:ext cx="82413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Les variables statiques sont accessibles dans tous </a:t>
            </a:r>
            <a:r>
              <a:rPr lang="en" sz="2200">
                <a:solidFill>
                  <a:schemeClr val="dk1"/>
                </a:solidFill>
              </a:rPr>
              <a:t>les </a:t>
            </a:r>
            <a:r>
              <a:rPr lang="en" sz="2200">
                <a:solidFill>
                  <a:schemeClr val="dk1"/>
                </a:solidFill>
              </a:rPr>
              <a:t>types de méthodes : statiques ou non statiques.</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lang="en" sz="2200">
                <a:solidFill>
                  <a:schemeClr val="dk1"/>
                </a:solidFill>
              </a:rPr>
              <a:t>Nous ne pouvons pas accéder aux variables non statiques dans les méthodes statiques, car les variables non statiques ne sont accessibles qu'en créant une instance de la classe.</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t/>
            </a:r>
            <a:endParaRPr sz="2200">
              <a:solidFill>
                <a:schemeClr val="dk1"/>
              </a:solidFill>
            </a:endParaRPr>
          </a:p>
        </p:txBody>
      </p:sp>
      <p:sp>
        <p:nvSpPr>
          <p:cNvPr id="263" name="Google Shape;263;p29"/>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 mot clé static</a:t>
            </a:r>
            <a:endParaRPr b="1">
              <a:solidFill>
                <a:srgbClr val="E20B0B"/>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descr="D:\esprit 2014\ESPRIT 2014\charte essprit 2014\render\support final\triangle.png" id="268" name="Google Shape;268;p30"/>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69" name="Google Shape;269;p30"/>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270" name="Google Shape;27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271" name="Google Shape;271;p30"/>
          <p:cNvSpPr txBox="1"/>
          <p:nvPr/>
        </p:nvSpPr>
        <p:spPr>
          <a:xfrm>
            <a:off x="380700" y="815125"/>
            <a:ext cx="81582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Lorsqu'une variable est déclarée comme </a:t>
            </a:r>
            <a:r>
              <a:rPr lang="en" sz="2200">
                <a:solidFill>
                  <a:srgbClr val="E20B0B"/>
                </a:solidFill>
              </a:rPr>
              <a:t>final</a:t>
            </a:r>
            <a:r>
              <a:rPr lang="en" sz="2200">
                <a:solidFill>
                  <a:schemeClr val="dk1"/>
                </a:solidFill>
              </a:rPr>
              <a:t>, cela signifie qu'elle ne peut être affectée qu'une seule fois, et son contenu ne peut pas être modifié par la suite.</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lang="en" sz="2200">
                <a:solidFill>
                  <a:schemeClr val="dk1"/>
                </a:solidFill>
              </a:rPr>
              <a:t>Ex:</a:t>
            </a:r>
            <a:endParaRPr sz="2200">
              <a:solidFill>
                <a:schemeClr val="dk1"/>
              </a:solidFill>
            </a:endParaRPr>
          </a:p>
          <a:p>
            <a:pPr indent="0" lvl="0" marL="0" rtl="0" algn="l">
              <a:spcBef>
                <a:spcPts val="0"/>
              </a:spcBef>
              <a:spcAft>
                <a:spcPts val="0"/>
              </a:spcAft>
              <a:buNone/>
            </a:pPr>
            <a:r>
              <a:t/>
            </a:r>
            <a:endParaRPr sz="2200">
              <a:solidFill>
                <a:schemeClr val="dk1"/>
              </a:solidFill>
            </a:endParaRPr>
          </a:p>
        </p:txBody>
      </p:sp>
      <p:sp>
        <p:nvSpPr>
          <p:cNvPr id="272" name="Google Shape;272;p30"/>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 mot clé final</a:t>
            </a:r>
            <a:endParaRPr b="1">
              <a:solidFill>
                <a:srgbClr val="E20B0B"/>
              </a:solidFill>
            </a:endParaRPr>
          </a:p>
        </p:txBody>
      </p:sp>
      <p:sp>
        <p:nvSpPr>
          <p:cNvPr id="273" name="Google Shape;273;p30"/>
          <p:cNvSpPr txBox="1"/>
          <p:nvPr/>
        </p:nvSpPr>
        <p:spPr>
          <a:xfrm>
            <a:off x="438600" y="2699700"/>
            <a:ext cx="7197300" cy="14469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200">
                <a:solidFill>
                  <a:srgbClr val="E20B0B"/>
                </a:solidFill>
              </a:rPr>
              <a:t>final </a:t>
            </a:r>
            <a:r>
              <a:rPr lang="en" sz="2200">
                <a:solidFill>
                  <a:schemeClr val="dk1"/>
                </a:solidFill>
              </a:rPr>
              <a:t>int x = 10;</a:t>
            </a:r>
            <a:endParaRPr sz="2200">
              <a:solidFill>
                <a:schemeClr val="dk1"/>
              </a:solidFill>
            </a:endParaRPr>
          </a:p>
          <a:p>
            <a:pPr indent="0" lvl="0" marL="0" rtl="0" algn="l">
              <a:spcBef>
                <a:spcPts val="0"/>
              </a:spcBef>
              <a:spcAft>
                <a:spcPts val="0"/>
              </a:spcAft>
              <a:buNone/>
            </a:pPr>
            <a:r>
              <a:rPr lang="en" sz="2200">
                <a:solidFill>
                  <a:schemeClr val="dk1"/>
                </a:solidFill>
              </a:rPr>
              <a:t>x = 20; </a:t>
            </a:r>
            <a:r>
              <a:rPr lang="en" sz="1600">
                <a:solidFill>
                  <a:srgbClr val="E20B0B"/>
                </a:solidFill>
              </a:rPr>
              <a:t>// Cela générera une erreur, car x est une variable finale.</a:t>
            </a:r>
            <a:endParaRPr sz="1600">
              <a:solidFill>
                <a:srgbClr val="E20B0B"/>
              </a:solidFill>
            </a:endParaRPr>
          </a:p>
          <a:p>
            <a:pPr indent="0" lvl="0" marL="0" rtl="0" algn="l">
              <a:spcBef>
                <a:spcPts val="0"/>
              </a:spcBef>
              <a:spcAft>
                <a:spcPts val="0"/>
              </a:spcAft>
              <a:buNone/>
            </a:pPr>
            <a:r>
              <a:t/>
            </a:r>
            <a:endParaRPr sz="1600">
              <a:solidFill>
                <a:srgbClr val="E20B0B"/>
              </a:solidFill>
            </a:endParaRPr>
          </a:p>
          <a:p>
            <a:pPr indent="0" lvl="0" marL="0" rtl="0" algn="l">
              <a:spcBef>
                <a:spcPts val="0"/>
              </a:spcBef>
              <a:spcAft>
                <a:spcPts val="0"/>
              </a:spcAft>
              <a:buClr>
                <a:schemeClr val="dk1"/>
              </a:buClr>
              <a:buSzPts val="1100"/>
              <a:buFont typeface="Arial"/>
              <a:buNone/>
            </a:pPr>
            <a:r>
              <a:rPr lang="en" sz="2200">
                <a:solidFill>
                  <a:schemeClr val="dk1"/>
                </a:solidFill>
              </a:rPr>
              <a:t>public </a:t>
            </a:r>
            <a:r>
              <a:rPr lang="en" sz="2200">
                <a:solidFill>
                  <a:srgbClr val="E20B0B"/>
                </a:solidFill>
              </a:rPr>
              <a:t>final</a:t>
            </a:r>
            <a:r>
              <a:rPr lang="en" sz="2200">
                <a:solidFill>
                  <a:schemeClr val="dk1"/>
                </a:solidFill>
              </a:rPr>
              <a:t> float PI = 3.14;</a:t>
            </a:r>
            <a:endParaRPr sz="2200">
              <a:solidFill>
                <a:schemeClr val="dk1"/>
              </a:solidFill>
            </a:endParaRPr>
          </a:p>
        </p:txBody>
      </p:sp>
      <p:sp>
        <p:nvSpPr>
          <p:cNvPr id="274" name="Google Shape;274;p30"/>
          <p:cNvSpPr txBox="1"/>
          <p:nvPr/>
        </p:nvSpPr>
        <p:spPr>
          <a:xfrm>
            <a:off x="438600" y="4276225"/>
            <a:ext cx="8034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 </a:t>
            </a:r>
            <a:r>
              <a:rPr lang="en" sz="2000"/>
              <a:t>Une variable finale est une </a:t>
            </a:r>
            <a:r>
              <a:rPr lang="en" sz="2000">
                <a:solidFill>
                  <a:srgbClr val="E20B0B"/>
                </a:solidFill>
              </a:rPr>
              <a:t>constante</a:t>
            </a:r>
            <a:r>
              <a:rPr lang="en" sz="2000"/>
              <a:t>.</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D:\esprit 2014\ESPRIT 2014\charte essprit 2014\render\support final\triangle.png" id="279" name="Google Shape;279;p31"/>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80" name="Google Shape;280;p31"/>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281" name="Google Shape;28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282" name="Google Shape;282;p31"/>
          <p:cNvSpPr txBox="1"/>
          <p:nvPr/>
        </p:nvSpPr>
        <p:spPr>
          <a:xfrm>
            <a:off x="380700" y="815125"/>
            <a:ext cx="81582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Comme la valeur de la variable finale ne peut être modifiée, il est inutile de conserver une copie de la variable pour chaque instance de la classe dans laquelle elle est déclarée. </a:t>
            </a:r>
            <a:endParaRPr sz="2100">
              <a:solidFill>
                <a:schemeClr val="dk1"/>
              </a:solidFill>
            </a:endParaRPr>
          </a:p>
          <a:p>
            <a:pPr indent="0" lvl="0" marL="0" rtl="0" algn="l">
              <a:spcBef>
                <a:spcPts val="0"/>
              </a:spcBef>
              <a:spcAft>
                <a:spcPts val="0"/>
              </a:spcAft>
              <a:buNone/>
            </a:pPr>
            <a:r>
              <a:t/>
            </a:r>
            <a:endParaRPr sz="2100">
              <a:solidFill>
                <a:schemeClr val="dk1"/>
              </a:solidFill>
            </a:endParaRPr>
          </a:p>
          <a:p>
            <a:pPr indent="0" lvl="0" marL="0" rtl="0" algn="l">
              <a:spcBef>
                <a:spcPts val="0"/>
              </a:spcBef>
              <a:spcAft>
                <a:spcPts val="0"/>
              </a:spcAft>
              <a:buNone/>
            </a:pPr>
            <a:r>
              <a:rPr lang="en" sz="2000">
                <a:solidFill>
                  <a:schemeClr val="dk1"/>
                </a:solidFill>
                <a:highlight>
                  <a:schemeClr val="lt1"/>
                </a:highlight>
              </a:rPr>
              <a:t>⇒ </a:t>
            </a:r>
            <a:r>
              <a:rPr lang="en" sz="2100">
                <a:solidFill>
                  <a:schemeClr val="dk1"/>
                </a:solidFill>
              </a:rPr>
              <a:t>La variable est donc associée à la classe et partagée entre toutes les instances.</a:t>
            </a:r>
            <a:endParaRPr sz="2100">
              <a:solidFill>
                <a:schemeClr val="dk1"/>
              </a:solidFill>
            </a:endParaRPr>
          </a:p>
        </p:txBody>
      </p:sp>
      <p:sp>
        <p:nvSpPr>
          <p:cNvPr id="283" name="Google Shape;283;p31"/>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static final</a:t>
            </a:r>
            <a:endParaRPr b="1">
              <a:solidFill>
                <a:srgbClr val="E20B0B"/>
              </a:solidFill>
            </a:endParaRPr>
          </a:p>
        </p:txBody>
      </p:sp>
      <p:sp>
        <p:nvSpPr>
          <p:cNvPr id="284" name="Google Shape;284;p31"/>
          <p:cNvSpPr txBox="1"/>
          <p:nvPr/>
        </p:nvSpPr>
        <p:spPr>
          <a:xfrm>
            <a:off x="380700" y="29709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	String name;</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rgbClr val="E20B0B"/>
                </a:solidFill>
              </a:rPr>
              <a:t>final </a:t>
            </a:r>
            <a:r>
              <a:rPr lang="en" sz="1800">
                <a:solidFill>
                  <a:schemeClr val="dk1"/>
                </a:solidFill>
              </a:rPr>
              <a:t>int numberOfTasks = 4;</a:t>
            </a:r>
            <a:endParaRPr sz="18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285" name="Google Shape;285;p31"/>
          <p:cNvSpPr txBox="1"/>
          <p:nvPr/>
        </p:nvSpPr>
        <p:spPr>
          <a:xfrm>
            <a:off x="4780800" y="2970900"/>
            <a:ext cx="4133400" cy="12930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	String name;</a:t>
            </a:r>
            <a:endParaRPr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rgbClr val="E20B0B"/>
                </a:solidFill>
              </a:rPr>
              <a:t>static final </a:t>
            </a:r>
            <a:r>
              <a:rPr lang="en" sz="1800">
                <a:solidFill>
                  <a:schemeClr val="dk1"/>
                </a:solidFill>
              </a:rPr>
              <a:t>int numberOfTasks = 4;</a:t>
            </a:r>
            <a:endParaRPr sz="18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286" name="Google Shape;286;p31"/>
          <p:cNvSpPr txBox="1"/>
          <p:nvPr/>
        </p:nvSpPr>
        <p:spPr>
          <a:xfrm>
            <a:off x="1545950" y="4425750"/>
            <a:ext cx="186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Constante d’instance</a:t>
            </a:r>
            <a:endParaRPr/>
          </a:p>
        </p:txBody>
      </p:sp>
      <p:sp>
        <p:nvSpPr>
          <p:cNvPr id="287" name="Google Shape;287;p31"/>
          <p:cNvSpPr txBox="1"/>
          <p:nvPr/>
        </p:nvSpPr>
        <p:spPr>
          <a:xfrm>
            <a:off x="5915550" y="4425750"/>
            <a:ext cx="186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Constante de classe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descr="D:\esprit 2014\ESPRIT 2014\charte essprit 2014\render\support final\triangle.png" id="292" name="Google Shape;292;p32"/>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93" name="Google Shape;293;p32"/>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294" name="Google Shape;29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295" name="Google Shape;295;p32"/>
          <p:cNvSpPr txBox="1"/>
          <p:nvPr/>
        </p:nvSpPr>
        <p:spPr>
          <a:xfrm>
            <a:off x="380700" y="815125"/>
            <a:ext cx="81582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Lorsqu'une méthode est déclarée comme </a:t>
            </a:r>
            <a:r>
              <a:rPr lang="en" sz="2200">
                <a:solidFill>
                  <a:srgbClr val="E20B0B"/>
                </a:solidFill>
              </a:rPr>
              <a:t>final</a:t>
            </a:r>
            <a:r>
              <a:rPr lang="en" sz="2200">
                <a:solidFill>
                  <a:schemeClr val="dk1"/>
                </a:solidFill>
              </a:rPr>
              <a:t>, cela signifie que son </a:t>
            </a:r>
            <a:r>
              <a:rPr lang="en" sz="2200">
                <a:solidFill>
                  <a:schemeClr val="dk1"/>
                </a:solidFill>
              </a:rPr>
              <a:t>contenu ne sera pas modifié par d’autres objets (classes filles).</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lang="en" sz="2200">
                <a:solidFill>
                  <a:schemeClr val="dk1"/>
                </a:solidFill>
              </a:rPr>
              <a:t>⇒ Une méthode finale ne peut pas être </a:t>
            </a:r>
            <a:r>
              <a:rPr lang="en" sz="2200">
                <a:solidFill>
                  <a:srgbClr val="E20B0B"/>
                </a:solidFill>
              </a:rPr>
              <a:t>redéfinie</a:t>
            </a:r>
            <a:r>
              <a:rPr lang="en" sz="2200">
                <a:solidFill>
                  <a:schemeClr val="dk1"/>
                </a:solidFill>
              </a:rPr>
              <a:t>.</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lang="en" sz="2200">
                <a:solidFill>
                  <a:schemeClr val="dk1"/>
                </a:solidFill>
              </a:rPr>
              <a:t>Ex:</a:t>
            </a:r>
            <a:endParaRPr sz="2200">
              <a:solidFill>
                <a:schemeClr val="dk1"/>
              </a:solidFill>
            </a:endParaRPr>
          </a:p>
          <a:p>
            <a:pPr indent="0" lvl="0" marL="0" rtl="0" algn="l">
              <a:spcBef>
                <a:spcPts val="0"/>
              </a:spcBef>
              <a:spcAft>
                <a:spcPts val="0"/>
              </a:spcAft>
              <a:buNone/>
            </a:pPr>
            <a:r>
              <a:t/>
            </a:r>
            <a:endParaRPr sz="2200">
              <a:solidFill>
                <a:schemeClr val="dk1"/>
              </a:solidFill>
            </a:endParaRPr>
          </a:p>
        </p:txBody>
      </p:sp>
      <p:sp>
        <p:nvSpPr>
          <p:cNvPr id="296" name="Google Shape;296;p32"/>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 mot clé final</a:t>
            </a:r>
            <a:endParaRPr b="1">
              <a:solidFill>
                <a:srgbClr val="E20B0B"/>
              </a:solidFill>
            </a:endParaRPr>
          </a:p>
        </p:txBody>
      </p:sp>
      <p:sp>
        <p:nvSpPr>
          <p:cNvPr id="297" name="Google Shape;297;p32"/>
          <p:cNvSpPr txBox="1"/>
          <p:nvPr/>
        </p:nvSpPr>
        <p:spPr>
          <a:xfrm>
            <a:off x="1059875" y="2816125"/>
            <a:ext cx="4133400" cy="18471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public </a:t>
            </a:r>
            <a:r>
              <a:rPr b="1" lang="en" sz="1800">
                <a:solidFill>
                  <a:srgbClr val="FF0000"/>
                </a:solidFill>
              </a:rPr>
              <a:t>final </a:t>
            </a:r>
            <a:r>
              <a:rPr lang="en" sz="1800">
                <a:solidFill>
                  <a:schemeClr val="dk1"/>
                </a:solidFill>
              </a:rPr>
              <a:t>void printName(){</a:t>
            </a:r>
            <a:endParaRPr sz="1800">
              <a:solidFill>
                <a:schemeClr val="dk1"/>
              </a:solidFill>
            </a:endParaRPr>
          </a:p>
          <a:p>
            <a:pPr indent="457200" lvl="0" marL="457200" rtl="0" algn="l">
              <a:spcBef>
                <a:spcPts val="0"/>
              </a:spcBef>
              <a:spcAft>
                <a:spcPts val="0"/>
              </a:spcAft>
              <a:buNone/>
            </a:pPr>
            <a:r>
              <a:rPr lang="en" sz="1800">
                <a:solidFill>
                  <a:schemeClr val="dk1"/>
                </a:solidFill>
              </a:rPr>
              <a:t>  System.out.println(“Test”);</a:t>
            </a:r>
            <a:endParaRPr sz="1800">
              <a:solidFill>
                <a:schemeClr val="dk1"/>
              </a:solidFill>
            </a:endParaRPr>
          </a:p>
          <a:p>
            <a:pPr indent="457200" lvl="0" marL="0" rtl="0" algn="l">
              <a:spcBef>
                <a:spcPts val="0"/>
              </a:spcBef>
              <a:spcAft>
                <a:spcPts val="0"/>
              </a:spcAft>
              <a:buNone/>
            </a:pPr>
            <a:r>
              <a:rPr lang="en" sz="1800">
                <a:solidFill>
                  <a:schemeClr val="dk1"/>
                </a:solidFill>
              </a:rPr>
              <a:t>}</a:t>
            </a:r>
            <a:endParaRPr sz="18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D:\esprit 2014\ESPRIT 2014\charte essprit 2014\render\support final\triangle.png" id="302" name="Google Shape;302;p33"/>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303" name="Google Shape;303;p33"/>
          <p:cNvCxnSpPr/>
          <p:nvPr/>
        </p:nvCxnSpPr>
        <p:spPr>
          <a:xfrm>
            <a:off x="744650" y="2150"/>
            <a:ext cx="9000" cy="450000"/>
          </a:xfrm>
          <a:prstGeom prst="straightConnector1">
            <a:avLst/>
          </a:prstGeom>
          <a:noFill/>
          <a:ln cap="flat" cmpd="sng" w="28575">
            <a:solidFill>
              <a:srgbClr val="F5340B"/>
            </a:solidFill>
            <a:prstDash val="solid"/>
            <a:round/>
            <a:headEnd len="med" w="med" type="none"/>
            <a:tailEnd len="med" w="med" type="none"/>
          </a:ln>
        </p:spPr>
      </p:cxnSp>
      <p:sp>
        <p:nvSpPr>
          <p:cNvPr id="304" name="Google Shape;30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 sz="1100"/>
              <a:t>‹#›</a:t>
            </a:fld>
            <a:endParaRPr b="1" sz="1100"/>
          </a:p>
        </p:txBody>
      </p:sp>
      <p:sp>
        <p:nvSpPr>
          <p:cNvPr id="305" name="Google Shape;305;p33"/>
          <p:cNvSpPr txBox="1"/>
          <p:nvPr/>
        </p:nvSpPr>
        <p:spPr>
          <a:xfrm>
            <a:off x="380700" y="815125"/>
            <a:ext cx="81582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U</a:t>
            </a:r>
            <a:r>
              <a:rPr lang="en" sz="2200">
                <a:solidFill>
                  <a:schemeClr val="dk1"/>
                </a:solidFill>
              </a:rPr>
              <a:t>ne classe est déclarée comme </a:t>
            </a:r>
            <a:r>
              <a:rPr lang="en" sz="2200">
                <a:solidFill>
                  <a:srgbClr val="E20B0B"/>
                </a:solidFill>
              </a:rPr>
              <a:t>final</a:t>
            </a:r>
            <a:r>
              <a:rPr lang="en" sz="2200">
                <a:solidFill>
                  <a:schemeClr val="dk1"/>
                </a:solidFill>
              </a:rPr>
              <a:t>, ne peut pas </a:t>
            </a:r>
            <a:r>
              <a:rPr lang="en" sz="2200">
                <a:solidFill>
                  <a:schemeClr val="dk1"/>
                </a:solidFill>
              </a:rPr>
              <a:t>être </a:t>
            </a:r>
            <a:r>
              <a:rPr lang="en" sz="2200">
                <a:solidFill>
                  <a:srgbClr val="E20B0B"/>
                </a:solidFill>
              </a:rPr>
              <a:t>étendue/héritée</a:t>
            </a:r>
            <a:r>
              <a:rPr lang="en" sz="2200">
                <a:solidFill>
                  <a:schemeClr val="dk1"/>
                </a:solidFill>
              </a:rPr>
              <a:t>.</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lang="en" sz="2200">
                <a:solidFill>
                  <a:schemeClr val="dk1"/>
                </a:solidFill>
              </a:rPr>
              <a:t>Ex:</a:t>
            </a:r>
            <a:endParaRPr sz="2200">
              <a:solidFill>
                <a:schemeClr val="dk1"/>
              </a:solidFill>
            </a:endParaRPr>
          </a:p>
          <a:p>
            <a:pPr indent="0" lvl="0" marL="0" rtl="0" algn="l">
              <a:spcBef>
                <a:spcPts val="0"/>
              </a:spcBef>
              <a:spcAft>
                <a:spcPts val="0"/>
              </a:spcAft>
              <a:buNone/>
            </a:pPr>
            <a:r>
              <a:t/>
            </a:r>
            <a:endParaRPr sz="2200">
              <a:solidFill>
                <a:schemeClr val="dk1"/>
              </a:solidFill>
            </a:endParaRPr>
          </a:p>
        </p:txBody>
      </p:sp>
      <p:sp>
        <p:nvSpPr>
          <p:cNvPr id="306" name="Google Shape;306;p33"/>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20B0B"/>
                </a:solidFill>
              </a:rPr>
              <a:t>Le mot clé final</a:t>
            </a:r>
            <a:endParaRPr b="1">
              <a:solidFill>
                <a:srgbClr val="E20B0B"/>
              </a:solidFill>
            </a:endParaRPr>
          </a:p>
        </p:txBody>
      </p:sp>
      <p:sp>
        <p:nvSpPr>
          <p:cNvPr id="307" name="Google Shape;307;p33"/>
          <p:cNvSpPr txBox="1"/>
          <p:nvPr/>
        </p:nvSpPr>
        <p:spPr>
          <a:xfrm>
            <a:off x="438600" y="2619500"/>
            <a:ext cx="4133400" cy="1015800"/>
          </a:xfrm>
          <a:prstGeom prst="rect">
            <a:avLst/>
          </a:prstGeom>
          <a:solidFill>
            <a:srgbClr val="D9D9D9"/>
          </a:solidFill>
          <a:ln cap="flat" cmpd="sng" w="19050">
            <a:solidFill>
              <a:srgbClr val="E20B0B"/>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final </a:t>
            </a:r>
            <a:r>
              <a:rPr lang="en" sz="1800">
                <a:solidFill>
                  <a:schemeClr val="dk1"/>
                </a:solidFill>
              </a:rPr>
              <a:t>class </a:t>
            </a:r>
            <a:r>
              <a:rPr b="1" lang="en" sz="1800">
                <a:solidFill>
                  <a:schemeClr val="dk1"/>
                </a:solidFill>
              </a:rPr>
              <a:t>Project</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b="1" lang="en" sz="1100"/>
              <a:t>‹#›</a:t>
            </a:fld>
            <a:endParaRPr/>
          </a:p>
        </p:txBody>
      </p:sp>
      <p:sp>
        <p:nvSpPr>
          <p:cNvPr id="313" name="Google Shape;313;p34"/>
          <p:cNvSpPr txBox="1"/>
          <p:nvPr/>
        </p:nvSpPr>
        <p:spPr>
          <a:xfrm>
            <a:off x="377400" y="1771575"/>
            <a:ext cx="8389200" cy="974700"/>
          </a:xfrm>
          <a:prstGeom prst="rect">
            <a:avLst/>
          </a:prstGeom>
          <a:noFill/>
          <a:ln>
            <a:noFill/>
          </a:ln>
        </p:spPr>
        <p:txBody>
          <a:bodyPr anchorCtr="0" anchor="ctr" bIns="34275" lIns="68575" spcFirstLastPara="1" rIns="68575" wrap="square" tIns="68575">
            <a:noAutofit/>
          </a:bodyPr>
          <a:lstStyle/>
          <a:p>
            <a:pPr indent="0" lvl="0" marL="0" rtl="0" algn="ctr">
              <a:lnSpc>
                <a:spcPct val="90000"/>
              </a:lnSpc>
              <a:spcBef>
                <a:spcPts val="0"/>
              </a:spcBef>
              <a:spcAft>
                <a:spcPts val="0"/>
              </a:spcAft>
              <a:buNone/>
            </a:pPr>
            <a:r>
              <a:rPr lang="en" sz="6000">
                <a:solidFill>
                  <a:srgbClr val="434343"/>
                </a:solidFill>
                <a:latin typeface="Barlow Condensed Medium"/>
                <a:ea typeface="Barlow Condensed Medium"/>
                <a:cs typeface="Barlow Condensed Medium"/>
                <a:sym typeface="Barlow Condensed Medium"/>
              </a:rPr>
              <a:t>Merci pour votre attention </a:t>
            </a:r>
            <a:endParaRPr sz="6000">
              <a:solidFill>
                <a:srgbClr val="434343"/>
              </a:solidFill>
              <a:latin typeface="Barlow Condensed Medium"/>
              <a:ea typeface="Barlow Condensed Medium"/>
              <a:cs typeface="Barlow Condensed Medium"/>
              <a:sym typeface="Barlow Condensed Medium"/>
            </a:endParaRPr>
          </a:p>
        </p:txBody>
      </p:sp>
      <p:cxnSp>
        <p:nvCxnSpPr>
          <p:cNvPr id="314" name="Google Shape;314;p34"/>
          <p:cNvCxnSpPr/>
          <p:nvPr/>
        </p:nvCxnSpPr>
        <p:spPr>
          <a:xfrm>
            <a:off x="2069400" y="2767200"/>
            <a:ext cx="5005200" cy="15000"/>
          </a:xfrm>
          <a:prstGeom prst="straightConnector1">
            <a:avLst/>
          </a:prstGeom>
          <a:noFill/>
          <a:ln cap="flat" cmpd="sng" w="28575">
            <a:solidFill>
              <a:srgbClr val="F5340B"/>
            </a:solidFill>
            <a:prstDash val="solid"/>
            <a:round/>
            <a:headEnd len="med" w="med" type="none"/>
            <a:tailEnd len="med" w="med" type="none"/>
          </a:ln>
        </p:spPr>
      </p:cxnSp>
      <p:pic>
        <p:nvPicPr>
          <p:cNvPr id="315" name="Google Shape;315;p34"/>
          <p:cNvPicPr preferRelativeResize="0"/>
          <p:nvPr/>
        </p:nvPicPr>
        <p:blipFill>
          <a:blip r:embed="rId3">
            <a:alphaModFix/>
          </a:blip>
          <a:stretch>
            <a:fillRect/>
          </a:stretch>
        </p:blipFill>
        <p:spPr>
          <a:xfrm>
            <a:off x="7365200" y="76200"/>
            <a:ext cx="1702600" cy="859974"/>
          </a:xfrm>
          <a:prstGeom prst="rect">
            <a:avLst/>
          </a:prstGeom>
          <a:noFill/>
          <a:ln>
            <a:noFill/>
          </a:ln>
        </p:spPr>
      </p:pic>
      <p:pic>
        <p:nvPicPr>
          <p:cNvPr descr="D:\esprit 2014\ESPRIT 2014\charte essprit 2014\render\support final\triangle.png" id="316" name="Google Shape;316;p34"/>
          <p:cNvPicPr preferRelativeResize="0"/>
          <p:nvPr/>
        </p:nvPicPr>
        <p:blipFill rotWithShape="1">
          <a:blip r:embed="rId4">
            <a:alphaModFix/>
          </a:blip>
          <a:srcRect b="0" l="0" r="0" t="0"/>
          <a:stretch/>
        </p:blipFill>
        <p:spPr>
          <a:xfrm flipH="1" rot="10800000">
            <a:off x="4" y="0"/>
            <a:ext cx="2371432" cy="1631872"/>
          </a:xfrm>
          <a:prstGeom prst="rect">
            <a:avLst/>
          </a:prstGeom>
          <a:noFill/>
          <a:ln>
            <a:noFill/>
          </a:ln>
        </p:spPr>
      </p:pic>
      <p:pic>
        <p:nvPicPr>
          <p:cNvPr id="317" name="Google Shape;317;p34"/>
          <p:cNvPicPr preferRelativeResize="0"/>
          <p:nvPr/>
        </p:nvPicPr>
        <p:blipFill rotWithShape="1">
          <a:blip r:embed="rId5">
            <a:alphaModFix/>
          </a:blip>
          <a:srcRect b="0" l="34210" r="39545" t="32046"/>
          <a:stretch/>
        </p:blipFill>
        <p:spPr>
          <a:xfrm>
            <a:off x="3828087" y="3072575"/>
            <a:ext cx="1487813" cy="18847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